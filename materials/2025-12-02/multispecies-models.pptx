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3.xml" ContentType="application/vnd.openxmlformats-officedocument.theme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82" r:id="rId2"/>
    <p:sldMasterId id="2147483662" r:id="rId3"/>
    <p:sldMasterId id="2147483688" r:id="rId4"/>
  </p:sldMasterIdLst>
  <p:notesMasterIdLst>
    <p:notesMasterId r:id="rId31"/>
  </p:notesMasterIdLst>
  <p:handoutMasterIdLst>
    <p:handoutMasterId r:id="rId32"/>
  </p:handoutMasterIdLst>
  <p:sldIdLst>
    <p:sldId id="326" r:id="rId5"/>
    <p:sldId id="1127" r:id="rId6"/>
    <p:sldId id="679" r:id="rId7"/>
    <p:sldId id="764" r:id="rId8"/>
    <p:sldId id="765" r:id="rId9"/>
    <p:sldId id="638" r:id="rId10"/>
    <p:sldId id="686" r:id="rId11"/>
    <p:sldId id="687" r:id="rId12"/>
    <p:sldId id="688" r:id="rId13"/>
    <p:sldId id="779" r:id="rId14"/>
    <p:sldId id="1129" r:id="rId15"/>
    <p:sldId id="782" r:id="rId16"/>
    <p:sldId id="643" r:id="rId17"/>
    <p:sldId id="689" r:id="rId18"/>
    <p:sldId id="739" r:id="rId19"/>
    <p:sldId id="740" r:id="rId20"/>
    <p:sldId id="741" r:id="rId21"/>
    <p:sldId id="742" r:id="rId22"/>
    <p:sldId id="652" r:id="rId23"/>
    <p:sldId id="743" r:id="rId24"/>
    <p:sldId id="784" r:id="rId25"/>
    <p:sldId id="744" r:id="rId26"/>
    <p:sldId id="774" r:id="rId27"/>
    <p:sldId id="781" r:id="rId28"/>
    <p:sldId id="1131" r:id="rId29"/>
    <p:sldId id="1132" r:id="rId3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885">
          <p15:clr>
            <a:srgbClr val="A4A3A4"/>
          </p15:clr>
        </p15:guide>
        <p15:guide id="2" orient="horz" pos="758">
          <p15:clr>
            <a:srgbClr val="A4A3A4"/>
          </p15:clr>
        </p15:guide>
        <p15:guide id="3" pos="28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clrMru>
    <a:srgbClr val="E6AB02"/>
    <a:srgbClr val="66A61E"/>
    <a:srgbClr val="E7298A"/>
    <a:srgbClr val="7570B3"/>
    <a:srgbClr val="D95F02"/>
    <a:srgbClr val="1B9E77"/>
    <a:srgbClr val="1E5C9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8689" autoAdjust="0"/>
    <p:restoredTop sz="94813" autoAdjust="0"/>
  </p:normalViewPr>
  <p:slideViewPr>
    <p:cSldViewPr snapToGrid="0" snapToObjects="1">
      <p:cViewPr varScale="1">
        <p:scale>
          <a:sx n="110" d="100"/>
          <a:sy n="110" d="100"/>
        </p:scale>
        <p:origin x="920" y="168"/>
      </p:cViewPr>
      <p:guideLst>
        <p:guide orient="horz" pos="1885"/>
        <p:guide orient="horz" pos="758"/>
        <p:guide pos="286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" d="1"/>
        <a:sy n="1" d="1"/>
      </p:scale>
      <p:origin x="0" y="-1098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7.xml"/><Relationship Id="rId34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notesMaster" Target="notesMasters/notesMaster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theme" Target="theme/theme1.xml"/><Relationship Id="rId8" Type="http://schemas.openxmlformats.org/officeDocument/2006/relationships/slide" Target="slides/slide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775BF4A-9CB1-5747-B319-707DA98CEC20}" type="datetime1">
              <a:rPr lang="en-US" smtClean="0"/>
              <a:pPr/>
              <a:t>12/2/25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A22459-1A81-CA4B-89BB-FCE38A3AE18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203048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2BC7567-D5EA-874F-8815-73DC5E77631E}" type="datetime1">
              <a:rPr lang="en-US" smtClean="0"/>
              <a:pPr/>
              <a:t>12/2/25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8DCC0E-7DBF-7C4A-B104-25FE08E3BB8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032343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B8DCC0E-7DBF-7C4A-B104-25FE08E3BB8F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41164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NEFSC heavily involved in NOAA IEA</a:t>
            </a:r>
            <a:r>
              <a:rPr lang="en-US" baseline="0" dirty="0"/>
              <a:t> efforts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697DFE4-0BD7-4899-AE0C-A5434E54D0F9}" type="slidenum">
              <a:rPr lang="en-US">
                <a:solidFill>
                  <a:prstClr val="black"/>
                </a:solidFill>
                <a:latin typeface="Calibri"/>
              </a:rPr>
              <a:pPr>
                <a:defRPr/>
              </a:pPr>
              <a:t>2</a:t>
            </a:fld>
            <a:endParaRPr lang="en-US">
              <a:solidFill>
                <a:prstClr val="black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603404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036F496B-2319-B644-92D9-4258A6DAFCEE}" type="slidenum">
              <a:rPr lang="en-US"/>
              <a:pPr eaLnBrk="1" hangingPunct="1"/>
              <a:t>18</a:t>
            </a:fld>
            <a:endParaRPr lang="en-US"/>
          </a:p>
        </p:txBody>
      </p:sp>
      <p:sp>
        <p:nvSpPr>
          <p:cNvPr id="84995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4996" name="Rectangle 1027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2224487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7D0A76AC-97E4-F84F-8E00-D9BA88D6230C}" type="slidenum">
              <a:rPr lang="en-US"/>
              <a:pPr eaLnBrk="1" hangingPunct="1"/>
              <a:t>19</a:t>
            </a:fld>
            <a:endParaRPr lang="en-US"/>
          </a:p>
        </p:txBody>
      </p:sp>
      <p:sp>
        <p:nvSpPr>
          <p:cNvPr id="86019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6020" name="Rectangle 1027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170108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gif"/><Relationship Id="rId1" Type="http://schemas.openxmlformats.org/officeDocument/2006/relationships/slideMaster" Target="../slideMasters/slideMaster4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">
    <p:bg>
      <p:bgPr>
        <a:solidFill>
          <a:srgbClr val="1E5C9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/>
          <p:nvPr userDrawn="1"/>
        </p:nvSpPr>
        <p:spPr>
          <a:xfrm flipH="1" flipV="1">
            <a:off x="-1" y="-24487"/>
            <a:ext cx="9138586" cy="2515079"/>
          </a:xfrm>
          <a:custGeom>
            <a:avLst/>
            <a:gdLst>
              <a:gd name="connsiteX0" fmla="*/ 0 w 10289745"/>
              <a:gd name="connsiteY0" fmla="*/ 2348314 h 2694297"/>
              <a:gd name="connsiteX1" fmla="*/ 9145997 w 10289745"/>
              <a:gd name="connsiteY1" fmla="*/ 81 h 2694297"/>
              <a:gd name="connsiteX2" fmla="*/ 9145997 w 10289745"/>
              <a:gd name="connsiteY2" fmla="*/ 2436173 h 2694297"/>
              <a:gd name="connsiteX3" fmla="*/ 0 w 10289745"/>
              <a:gd name="connsiteY3" fmla="*/ 2348314 h 2694297"/>
              <a:gd name="connsiteX0" fmla="*/ 0 w 10289745"/>
              <a:gd name="connsiteY0" fmla="*/ 2348233 h 2694216"/>
              <a:gd name="connsiteX1" fmla="*/ 9145997 w 10289745"/>
              <a:gd name="connsiteY1" fmla="*/ 0 h 2694216"/>
              <a:gd name="connsiteX2" fmla="*/ 9145997 w 10289745"/>
              <a:gd name="connsiteY2" fmla="*/ 2436092 h 2694216"/>
              <a:gd name="connsiteX3" fmla="*/ 0 w 10289745"/>
              <a:gd name="connsiteY3" fmla="*/ 2348233 h 2694216"/>
              <a:gd name="connsiteX0" fmla="*/ 0 w 10289745"/>
              <a:gd name="connsiteY0" fmla="*/ 2348233 h 2694216"/>
              <a:gd name="connsiteX1" fmla="*/ 9145997 w 10289745"/>
              <a:gd name="connsiteY1" fmla="*/ 0 h 2694216"/>
              <a:gd name="connsiteX2" fmla="*/ 9145997 w 10289745"/>
              <a:gd name="connsiteY2" fmla="*/ 2436092 h 2694216"/>
              <a:gd name="connsiteX3" fmla="*/ 0 w 10289745"/>
              <a:gd name="connsiteY3" fmla="*/ 2348233 h 2694216"/>
              <a:gd name="connsiteX0" fmla="*/ 2 w 10271923"/>
              <a:gd name="connsiteY0" fmla="*/ 1961048 h 2259210"/>
              <a:gd name="connsiteX1" fmla="*/ 9115022 w 10271923"/>
              <a:gd name="connsiteY1" fmla="*/ 0 h 2259210"/>
              <a:gd name="connsiteX2" fmla="*/ 9145999 w 10271923"/>
              <a:gd name="connsiteY2" fmla="*/ 2048907 h 2259210"/>
              <a:gd name="connsiteX3" fmla="*/ 2 w 10271923"/>
              <a:gd name="connsiteY3" fmla="*/ 1961048 h 2259210"/>
              <a:gd name="connsiteX0" fmla="*/ 2 w 10302372"/>
              <a:gd name="connsiteY0" fmla="*/ 2355976 h 2702917"/>
              <a:gd name="connsiteX1" fmla="*/ 9169232 w 10302372"/>
              <a:gd name="connsiteY1" fmla="*/ 0 h 2702917"/>
              <a:gd name="connsiteX2" fmla="*/ 9145999 w 10302372"/>
              <a:gd name="connsiteY2" fmla="*/ 2443835 h 2702917"/>
              <a:gd name="connsiteX3" fmla="*/ 2 w 10302372"/>
              <a:gd name="connsiteY3" fmla="*/ 2355976 h 2702917"/>
              <a:gd name="connsiteX0" fmla="*/ 2 w 10302372"/>
              <a:gd name="connsiteY0" fmla="*/ 2355976 h 2702917"/>
              <a:gd name="connsiteX1" fmla="*/ 9169232 w 10302372"/>
              <a:gd name="connsiteY1" fmla="*/ 0 h 2702917"/>
              <a:gd name="connsiteX2" fmla="*/ 9145999 w 10302372"/>
              <a:gd name="connsiteY2" fmla="*/ 2443835 h 2702917"/>
              <a:gd name="connsiteX3" fmla="*/ 2 w 10302372"/>
              <a:gd name="connsiteY3" fmla="*/ 2355976 h 2702917"/>
              <a:gd name="connsiteX0" fmla="*/ 2 w 10302372"/>
              <a:gd name="connsiteY0" fmla="*/ 2355976 h 2702917"/>
              <a:gd name="connsiteX1" fmla="*/ 9169232 w 10302372"/>
              <a:gd name="connsiteY1" fmla="*/ 0 h 2702917"/>
              <a:gd name="connsiteX2" fmla="*/ 9145999 w 10302372"/>
              <a:gd name="connsiteY2" fmla="*/ 2443835 h 2702917"/>
              <a:gd name="connsiteX3" fmla="*/ 2 w 10302372"/>
              <a:gd name="connsiteY3" fmla="*/ 2355976 h 2702917"/>
              <a:gd name="connsiteX0" fmla="*/ 1 w 10359948"/>
              <a:gd name="connsiteY0" fmla="*/ 2534080 h 2803153"/>
              <a:gd name="connsiteX1" fmla="*/ 9223441 w 10359948"/>
              <a:gd name="connsiteY1" fmla="*/ 0 h 2803153"/>
              <a:gd name="connsiteX2" fmla="*/ 9200208 w 10359948"/>
              <a:gd name="connsiteY2" fmla="*/ 2443835 h 2803153"/>
              <a:gd name="connsiteX3" fmla="*/ 1 w 10359948"/>
              <a:gd name="connsiteY3" fmla="*/ 2534080 h 2803153"/>
              <a:gd name="connsiteX0" fmla="*/ 2 w 10302373"/>
              <a:gd name="connsiteY0" fmla="*/ 2371463 h 2710654"/>
              <a:gd name="connsiteX1" fmla="*/ 9169233 w 10302373"/>
              <a:gd name="connsiteY1" fmla="*/ 0 h 2710654"/>
              <a:gd name="connsiteX2" fmla="*/ 9146000 w 10302373"/>
              <a:gd name="connsiteY2" fmla="*/ 2443835 h 2710654"/>
              <a:gd name="connsiteX3" fmla="*/ 2 w 10302373"/>
              <a:gd name="connsiteY3" fmla="*/ 2371463 h 2710654"/>
              <a:gd name="connsiteX0" fmla="*/ 22101 w 10324472"/>
              <a:gd name="connsiteY0" fmla="*/ 2371463 h 2601940"/>
              <a:gd name="connsiteX1" fmla="*/ 9191332 w 10324472"/>
              <a:gd name="connsiteY1" fmla="*/ 0 h 2601940"/>
              <a:gd name="connsiteX2" fmla="*/ 9168099 w 10324472"/>
              <a:gd name="connsiteY2" fmla="*/ 2443835 h 2601940"/>
              <a:gd name="connsiteX3" fmla="*/ 22101 w 10324472"/>
              <a:gd name="connsiteY3" fmla="*/ 2371463 h 2601940"/>
              <a:gd name="connsiteX0" fmla="*/ 454248 w 10756619"/>
              <a:gd name="connsiteY0" fmla="*/ 2371463 h 2635640"/>
              <a:gd name="connsiteX1" fmla="*/ 9623479 w 10756619"/>
              <a:gd name="connsiteY1" fmla="*/ 0 h 2635640"/>
              <a:gd name="connsiteX2" fmla="*/ 9600246 w 10756619"/>
              <a:gd name="connsiteY2" fmla="*/ 2443835 h 2635640"/>
              <a:gd name="connsiteX3" fmla="*/ 2243166 w 10756619"/>
              <a:gd name="connsiteY3" fmla="*/ 2466974 h 2635640"/>
              <a:gd name="connsiteX4" fmla="*/ 454248 w 10756619"/>
              <a:gd name="connsiteY4" fmla="*/ 2371463 h 2635640"/>
              <a:gd name="connsiteX0" fmla="*/ 1153431 w 11456764"/>
              <a:gd name="connsiteY0" fmla="*/ 2371463 h 2641277"/>
              <a:gd name="connsiteX1" fmla="*/ 10322662 w 11456764"/>
              <a:gd name="connsiteY1" fmla="*/ 0 h 2641277"/>
              <a:gd name="connsiteX2" fmla="*/ 10299429 w 11456764"/>
              <a:gd name="connsiteY2" fmla="*/ 2443835 h 2641277"/>
              <a:gd name="connsiteX3" fmla="*/ 1137944 w 11456764"/>
              <a:gd name="connsiteY3" fmla="*/ 2482461 h 2641277"/>
              <a:gd name="connsiteX4" fmla="*/ 1153431 w 11456764"/>
              <a:gd name="connsiteY4" fmla="*/ 2371463 h 2641277"/>
              <a:gd name="connsiteX0" fmla="*/ 15487 w 10318820"/>
              <a:gd name="connsiteY0" fmla="*/ 2371463 h 2641277"/>
              <a:gd name="connsiteX1" fmla="*/ 9184718 w 10318820"/>
              <a:gd name="connsiteY1" fmla="*/ 0 h 2641277"/>
              <a:gd name="connsiteX2" fmla="*/ 9161485 w 10318820"/>
              <a:gd name="connsiteY2" fmla="*/ 2443835 h 2641277"/>
              <a:gd name="connsiteX3" fmla="*/ 0 w 10318820"/>
              <a:gd name="connsiteY3" fmla="*/ 2482461 h 2641277"/>
              <a:gd name="connsiteX4" fmla="*/ 15487 w 10318820"/>
              <a:gd name="connsiteY4" fmla="*/ 2371463 h 2641277"/>
              <a:gd name="connsiteX0" fmla="*/ 15487 w 10318820"/>
              <a:gd name="connsiteY0" fmla="*/ 2371463 h 2641277"/>
              <a:gd name="connsiteX1" fmla="*/ 9184718 w 10318820"/>
              <a:gd name="connsiteY1" fmla="*/ 0 h 2641277"/>
              <a:gd name="connsiteX2" fmla="*/ 9161485 w 10318820"/>
              <a:gd name="connsiteY2" fmla="*/ 2443835 h 2641277"/>
              <a:gd name="connsiteX3" fmla="*/ 0 w 10318820"/>
              <a:gd name="connsiteY3" fmla="*/ 2482461 h 2641277"/>
              <a:gd name="connsiteX4" fmla="*/ 15487 w 10318820"/>
              <a:gd name="connsiteY4" fmla="*/ 2371463 h 2641277"/>
              <a:gd name="connsiteX0" fmla="*/ 15487 w 10318820"/>
              <a:gd name="connsiteY0" fmla="*/ 2371463 h 2641277"/>
              <a:gd name="connsiteX1" fmla="*/ 9184718 w 10318820"/>
              <a:gd name="connsiteY1" fmla="*/ 0 h 2641277"/>
              <a:gd name="connsiteX2" fmla="*/ 9161485 w 10318820"/>
              <a:gd name="connsiteY2" fmla="*/ 2443835 h 2641277"/>
              <a:gd name="connsiteX3" fmla="*/ 0 w 10318820"/>
              <a:gd name="connsiteY3" fmla="*/ 2482461 h 2641277"/>
              <a:gd name="connsiteX4" fmla="*/ 15487 w 10318820"/>
              <a:gd name="connsiteY4" fmla="*/ 2371463 h 2641277"/>
              <a:gd name="connsiteX0" fmla="*/ 15487 w 10318820"/>
              <a:gd name="connsiteY0" fmla="*/ 2371463 h 2641277"/>
              <a:gd name="connsiteX1" fmla="*/ 9184718 w 10318820"/>
              <a:gd name="connsiteY1" fmla="*/ 0 h 2641277"/>
              <a:gd name="connsiteX2" fmla="*/ 9161485 w 10318820"/>
              <a:gd name="connsiteY2" fmla="*/ 2443835 h 2641277"/>
              <a:gd name="connsiteX3" fmla="*/ 0 w 10318820"/>
              <a:gd name="connsiteY3" fmla="*/ 2482461 h 2641277"/>
              <a:gd name="connsiteX4" fmla="*/ 15487 w 10318820"/>
              <a:gd name="connsiteY4" fmla="*/ 2371463 h 2641277"/>
              <a:gd name="connsiteX0" fmla="*/ 15487 w 10318820"/>
              <a:gd name="connsiteY0" fmla="*/ 2371463 h 2482461"/>
              <a:gd name="connsiteX1" fmla="*/ 9184718 w 10318820"/>
              <a:gd name="connsiteY1" fmla="*/ 0 h 2482461"/>
              <a:gd name="connsiteX2" fmla="*/ 9161485 w 10318820"/>
              <a:gd name="connsiteY2" fmla="*/ 2443835 h 2482461"/>
              <a:gd name="connsiteX3" fmla="*/ 0 w 10318820"/>
              <a:gd name="connsiteY3" fmla="*/ 2482461 h 2482461"/>
              <a:gd name="connsiteX4" fmla="*/ 15487 w 10318820"/>
              <a:gd name="connsiteY4" fmla="*/ 2371463 h 2482461"/>
              <a:gd name="connsiteX0" fmla="*/ 15487 w 10252186"/>
              <a:gd name="connsiteY0" fmla="*/ 2371463 h 2482461"/>
              <a:gd name="connsiteX1" fmla="*/ 9184718 w 10252186"/>
              <a:gd name="connsiteY1" fmla="*/ 0 h 2482461"/>
              <a:gd name="connsiteX2" fmla="*/ 9022088 w 10252186"/>
              <a:gd name="connsiteY2" fmla="*/ 2242499 h 2482461"/>
              <a:gd name="connsiteX3" fmla="*/ 0 w 10252186"/>
              <a:gd name="connsiteY3" fmla="*/ 2482461 h 2482461"/>
              <a:gd name="connsiteX4" fmla="*/ 15487 w 10252186"/>
              <a:gd name="connsiteY4" fmla="*/ 2371463 h 2482461"/>
              <a:gd name="connsiteX0" fmla="*/ 15487 w 10311181"/>
              <a:gd name="connsiteY0" fmla="*/ 2371463 h 2482461"/>
              <a:gd name="connsiteX1" fmla="*/ 9184718 w 10311181"/>
              <a:gd name="connsiteY1" fmla="*/ 0 h 2482461"/>
              <a:gd name="connsiteX2" fmla="*/ 9145996 w 10311181"/>
              <a:gd name="connsiteY2" fmla="*/ 2443835 h 2482461"/>
              <a:gd name="connsiteX3" fmla="*/ 0 w 10311181"/>
              <a:gd name="connsiteY3" fmla="*/ 2482461 h 2482461"/>
              <a:gd name="connsiteX4" fmla="*/ 15487 w 10311181"/>
              <a:gd name="connsiteY4" fmla="*/ 2371463 h 2482461"/>
              <a:gd name="connsiteX0" fmla="*/ 15487 w 9184718"/>
              <a:gd name="connsiteY0" fmla="*/ 2371463 h 2482461"/>
              <a:gd name="connsiteX1" fmla="*/ 9184718 w 9184718"/>
              <a:gd name="connsiteY1" fmla="*/ 0 h 2482461"/>
              <a:gd name="connsiteX2" fmla="*/ 9145996 w 9184718"/>
              <a:gd name="connsiteY2" fmla="*/ 2443835 h 2482461"/>
              <a:gd name="connsiteX3" fmla="*/ 0 w 9184718"/>
              <a:gd name="connsiteY3" fmla="*/ 2482461 h 2482461"/>
              <a:gd name="connsiteX4" fmla="*/ 15487 w 9184718"/>
              <a:gd name="connsiteY4" fmla="*/ 2371463 h 2482461"/>
              <a:gd name="connsiteX0" fmla="*/ 15487 w 9184718"/>
              <a:gd name="connsiteY0" fmla="*/ 2371463 h 2482461"/>
              <a:gd name="connsiteX1" fmla="*/ 9184718 w 9184718"/>
              <a:gd name="connsiteY1" fmla="*/ 0 h 2482461"/>
              <a:gd name="connsiteX2" fmla="*/ 9176973 w 9184718"/>
              <a:gd name="connsiteY2" fmla="*/ 2459323 h 2482461"/>
              <a:gd name="connsiteX3" fmla="*/ 0 w 9184718"/>
              <a:gd name="connsiteY3" fmla="*/ 2482461 h 2482461"/>
              <a:gd name="connsiteX4" fmla="*/ 15487 w 9184718"/>
              <a:gd name="connsiteY4" fmla="*/ 2371463 h 2482461"/>
              <a:gd name="connsiteX0" fmla="*/ 15487 w 9184718"/>
              <a:gd name="connsiteY0" fmla="*/ 2371463 h 2482461"/>
              <a:gd name="connsiteX1" fmla="*/ 9184718 w 9184718"/>
              <a:gd name="connsiteY1" fmla="*/ 0 h 2482461"/>
              <a:gd name="connsiteX2" fmla="*/ 9176973 w 9184718"/>
              <a:gd name="connsiteY2" fmla="*/ 2459323 h 2482461"/>
              <a:gd name="connsiteX3" fmla="*/ 0 w 9184718"/>
              <a:gd name="connsiteY3" fmla="*/ 2482461 h 2482461"/>
              <a:gd name="connsiteX4" fmla="*/ 15487 w 9184718"/>
              <a:gd name="connsiteY4" fmla="*/ 2371463 h 2482461"/>
              <a:gd name="connsiteX0" fmla="*/ 15487 w 9184718"/>
              <a:gd name="connsiteY0" fmla="*/ 2371463 h 2482461"/>
              <a:gd name="connsiteX1" fmla="*/ 9184718 w 9184718"/>
              <a:gd name="connsiteY1" fmla="*/ 0 h 2482461"/>
              <a:gd name="connsiteX2" fmla="*/ 9176973 w 9184718"/>
              <a:gd name="connsiteY2" fmla="*/ 2459323 h 2482461"/>
              <a:gd name="connsiteX3" fmla="*/ 0 w 9184718"/>
              <a:gd name="connsiteY3" fmla="*/ 2482461 h 2482461"/>
              <a:gd name="connsiteX4" fmla="*/ 15487 w 9184718"/>
              <a:gd name="connsiteY4" fmla="*/ 2371463 h 2482461"/>
              <a:gd name="connsiteX0" fmla="*/ 15487 w 9184718"/>
              <a:gd name="connsiteY0" fmla="*/ 2371463 h 2482461"/>
              <a:gd name="connsiteX1" fmla="*/ 9184718 w 9184718"/>
              <a:gd name="connsiteY1" fmla="*/ 0 h 2482461"/>
              <a:gd name="connsiteX2" fmla="*/ 9176973 w 9184718"/>
              <a:gd name="connsiteY2" fmla="*/ 2459323 h 2482461"/>
              <a:gd name="connsiteX3" fmla="*/ 0 w 9184718"/>
              <a:gd name="connsiteY3" fmla="*/ 2482461 h 2482461"/>
              <a:gd name="connsiteX4" fmla="*/ 15487 w 9184718"/>
              <a:gd name="connsiteY4" fmla="*/ 2371463 h 2482461"/>
              <a:gd name="connsiteX0" fmla="*/ 15487 w 9184718"/>
              <a:gd name="connsiteY0" fmla="*/ 2371463 h 2482461"/>
              <a:gd name="connsiteX1" fmla="*/ 9184718 w 9184718"/>
              <a:gd name="connsiteY1" fmla="*/ 0 h 2482461"/>
              <a:gd name="connsiteX2" fmla="*/ 9176973 w 9184718"/>
              <a:gd name="connsiteY2" fmla="*/ 2459323 h 2482461"/>
              <a:gd name="connsiteX3" fmla="*/ 0 w 9184718"/>
              <a:gd name="connsiteY3" fmla="*/ 2482461 h 2482461"/>
              <a:gd name="connsiteX4" fmla="*/ 15487 w 9184718"/>
              <a:gd name="connsiteY4" fmla="*/ 2371463 h 2482461"/>
              <a:gd name="connsiteX0" fmla="*/ 15487 w 9184718"/>
              <a:gd name="connsiteY0" fmla="*/ 2371463 h 2482461"/>
              <a:gd name="connsiteX1" fmla="*/ 9184718 w 9184718"/>
              <a:gd name="connsiteY1" fmla="*/ 0 h 2482461"/>
              <a:gd name="connsiteX2" fmla="*/ 9176973 w 9184718"/>
              <a:gd name="connsiteY2" fmla="*/ 2459323 h 2482461"/>
              <a:gd name="connsiteX3" fmla="*/ 0 w 9184718"/>
              <a:gd name="connsiteY3" fmla="*/ 2482461 h 2482461"/>
              <a:gd name="connsiteX4" fmla="*/ 15487 w 9184718"/>
              <a:gd name="connsiteY4" fmla="*/ 2371463 h 2482461"/>
              <a:gd name="connsiteX0" fmla="*/ 0 w 9215696"/>
              <a:gd name="connsiteY0" fmla="*/ 2371463 h 2482461"/>
              <a:gd name="connsiteX1" fmla="*/ 9215696 w 9215696"/>
              <a:gd name="connsiteY1" fmla="*/ 0 h 2482461"/>
              <a:gd name="connsiteX2" fmla="*/ 9207951 w 9215696"/>
              <a:gd name="connsiteY2" fmla="*/ 2459323 h 2482461"/>
              <a:gd name="connsiteX3" fmla="*/ 30978 w 9215696"/>
              <a:gd name="connsiteY3" fmla="*/ 2482461 h 2482461"/>
              <a:gd name="connsiteX4" fmla="*/ 0 w 9215696"/>
              <a:gd name="connsiteY4" fmla="*/ 2371463 h 2482461"/>
              <a:gd name="connsiteX0" fmla="*/ 0 w 9215696"/>
              <a:gd name="connsiteY0" fmla="*/ 2371463 h 2497949"/>
              <a:gd name="connsiteX1" fmla="*/ 9215696 w 9215696"/>
              <a:gd name="connsiteY1" fmla="*/ 0 h 2497949"/>
              <a:gd name="connsiteX2" fmla="*/ 9207951 w 9215696"/>
              <a:gd name="connsiteY2" fmla="*/ 2459323 h 2497949"/>
              <a:gd name="connsiteX3" fmla="*/ 2 w 9215696"/>
              <a:gd name="connsiteY3" fmla="*/ 2497949 h 2497949"/>
              <a:gd name="connsiteX4" fmla="*/ 0 w 9215696"/>
              <a:gd name="connsiteY4" fmla="*/ 2371463 h 2497949"/>
              <a:gd name="connsiteX0" fmla="*/ 0 w 9215696"/>
              <a:gd name="connsiteY0" fmla="*/ 2371463 h 2474718"/>
              <a:gd name="connsiteX1" fmla="*/ 9215696 w 9215696"/>
              <a:gd name="connsiteY1" fmla="*/ 0 h 2474718"/>
              <a:gd name="connsiteX2" fmla="*/ 9207951 w 9215696"/>
              <a:gd name="connsiteY2" fmla="*/ 2459323 h 2474718"/>
              <a:gd name="connsiteX3" fmla="*/ 30979 w 9215696"/>
              <a:gd name="connsiteY3" fmla="*/ 2474718 h 2474718"/>
              <a:gd name="connsiteX4" fmla="*/ 0 w 9215696"/>
              <a:gd name="connsiteY4" fmla="*/ 2371463 h 2474718"/>
              <a:gd name="connsiteX0" fmla="*/ 0 w 9208117"/>
              <a:gd name="connsiteY0" fmla="*/ 2371463 h 2474718"/>
              <a:gd name="connsiteX1" fmla="*/ 9184719 w 9208117"/>
              <a:gd name="connsiteY1" fmla="*/ 0 h 2474718"/>
              <a:gd name="connsiteX2" fmla="*/ 9207951 w 9208117"/>
              <a:gd name="connsiteY2" fmla="*/ 2459323 h 2474718"/>
              <a:gd name="connsiteX3" fmla="*/ 30979 w 9208117"/>
              <a:gd name="connsiteY3" fmla="*/ 2474718 h 2474718"/>
              <a:gd name="connsiteX4" fmla="*/ 0 w 9208117"/>
              <a:gd name="connsiteY4" fmla="*/ 2371463 h 2474718"/>
              <a:gd name="connsiteX0" fmla="*/ 0 w 9184719"/>
              <a:gd name="connsiteY0" fmla="*/ 2371463 h 2474718"/>
              <a:gd name="connsiteX1" fmla="*/ 9184719 w 9184719"/>
              <a:gd name="connsiteY1" fmla="*/ 0 h 2474718"/>
              <a:gd name="connsiteX2" fmla="*/ 9115020 w 9184719"/>
              <a:gd name="connsiteY2" fmla="*/ 2381886 h 2474718"/>
              <a:gd name="connsiteX3" fmla="*/ 30979 w 9184719"/>
              <a:gd name="connsiteY3" fmla="*/ 2474718 h 2474718"/>
              <a:gd name="connsiteX4" fmla="*/ 0 w 9184719"/>
              <a:gd name="connsiteY4" fmla="*/ 2371463 h 2474718"/>
              <a:gd name="connsiteX0" fmla="*/ 0 w 9184719"/>
              <a:gd name="connsiteY0" fmla="*/ 2371463 h 2474718"/>
              <a:gd name="connsiteX1" fmla="*/ 9184719 w 9184719"/>
              <a:gd name="connsiteY1" fmla="*/ 0 h 2474718"/>
              <a:gd name="connsiteX2" fmla="*/ 9169230 w 9184719"/>
              <a:gd name="connsiteY2" fmla="*/ 2451580 h 2474718"/>
              <a:gd name="connsiteX3" fmla="*/ 30979 w 9184719"/>
              <a:gd name="connsiteY3" fmla="*/ 2474718 h 2474718"/>
              <a:gd name="connsiteX4" fmla="*/ 0 w 9184719"/>
              <a:gd name="connsiteY4" fmla="*/ 2371463 h 2474718"/>
              <a:gd name="connsiteX0" fmla="*/ 0 w 9167786"/>
              <a:gd name="connsiteY0" fmla="*/ 2375696 h 2474718"/>
              <a:gd name="connsiteX1" fmla="*/ 9167786 w 9167786"/>
              <a:gd name="connsiteY1" fmla="*/ 0 h 2474718"/>
              <a:gd name="connsiteX2" fmla="*/ 9152297 w 9167786"/>
              <a:gd name="connsiteY2" fmla="*/ 2451580 h 2474718"/>
              <a:gd name="connsiteX3" fmla="*/ 14046 w 9167786"/>
              <a:gd name="connsiteY3" fmla="*/ 2474718 h 2474718"/>
              <a:gd name="connsiteX4" fmla="*/ 0 w 9167786"/>
              <a:gd name="connsiteY4" fmla="*/ 2375696 h 2474718"/>
              <a:gd name="connsiteX0" fmla="*/ 2887 w 9170673"/>
              <a:gd name="connsiteY0" fmla="*/ 2375696 h 2474718"/>
              <a:gd name="connsiteX1" fmla="*/ 9170673 w 9170673"/>
              <a:gd name="connsiteY1" fmla="*/ 0 h 2474718"/>
              <a:gd name="connsiteX2" fmla="*/ 9155184 w 9170673"/>
              <a:gd name="connsiteY2" fmla="*/ 2451580 h 2474718"/>
              <a:gd name="connsiteX3" fmla="*/ 0 w 9170673"/>
              <a:gd name="connsiteY3" fmla="*/ 2474718 h 2474718"/>
              <a:gd name="connsiteX4" fmla="*/ 2887 w 9170673"/>
              <a:gd name="connsiteY4" fmla="*/ 2375696 h 2474718"/>
              <a:gd name="connsiteX0" fmla="*/ 2887 w 9170673"/>
              <a:gd name="connsiteY0" fmla="*/ 2375696 h 2457785"/>
              <a:gd name="connsiteX1" fmla="*/ 9170673 w 9170673"/>
              <a:gd name="connsiteY1" fmla="*/ 0 h 2457785"/>
              <a:gd name="connsiteX2" fmla="*/ 9155184 w 9170673"/>
              <a:gd name="connsiteY2" fmla="*/ 2451580 h 2457785"/>
              <a:gd name="connsiteX3" fmla="*/ 0 w 9170673"/>
              <a:gd name="connsiteY3" fmla="*/ 2457785 h 2457785"/>
              <a:gd name="connsiteX4" fmla="*/ 2887 w 9170673"/>
              <a:gd name="connsiteY4" fmla="*/ 2375696 h 2457785"/>
              <a:gd name="connsiteX0" fmla="*/ 2887 w 9170673"/>
              <a:gd name="connsiteY0" fmla="*/ 2375696 h 2508024"/>
              <a:gd name="connsiteX1" fmla="*/ 9170673 w 9170673"/>
              <a:gd name="connsiteY1" fmla="*/ 0 h 2508024"/>
              <a:gd name="connsiteX2" fmla="*/ 9169295 w 9170673"/>
              <a:gd name="connsiteY2" fmla="*/ 2508024 h 2508024"/>
              <a:gd name="connsiteX3" fmla="*/ 0 w 9170673"/>
              <a:gd name="connsiteY3" fmla="*/ 2457785 h 2508024"/>
              <a:gd name="connsiteX4" fmla="*/ 2887 w 9170673"/>
              <a:gd name="connsiteY4" fmla="*/ 2375696 h 2508024"/>
              <a:gd name="connsiteX0" fmla="*/ 0 w 9167786"/>
              <a:gd name="connsiteY0" fmla="*/ 2375696 h 2508024"/>
              <a:gd name="connsiteX1" fmla="*/ 9167786 w 9167786"/>
              <a:gd name="connsiteY1" fmla="*/ 0 h 2508024"/>
              <a:gd name="connsiteX2" fmla="*/ 9166408 w 9167786"/>
              <a:gd name="connsiteY2" fmla="*/ 2508024 h 2508024"/>
              <a:gd name="connsiteX3" fmla="*/ 4169 w 9167786"/>
              <a:gd name="connsiteY3" fmla="*/ 2500118 h 2508024"/>
              <a:gd name="connsiteX4" fmla="*/ 0 w 9167786"/>
              <a:gd name="connsiteY4" fmla="*/ 2375696 h 2508024"/>
              <a:gd name="connsiteX0" fmla="*/ 0 w 9166452"/>
              <a:gd name="connsiteY0" fmla="*/ 2375696 h 2508024"/>
              <a:gd name="connsiteX1" fmla="*/ 9061952 w 9166452"/>
              <a:gd name="connsiteY1" fmla="*/ 0 h 2508024"/>
              <a:gd name="connsiteX2" fmla="*/ 9166408 w 9166452"/>
              <a:gd name="connsiteY2" fmla="*/ 2508024 h 2508024"/>
              <a:gd name="connsiteX3" fmla="*/ 4169 w 9166452"/>
              <a:gd name="connsiteY3" fmla="*/ 2500118 h 2508024"/>
              <a:gd name="connsiteX4" fmla="*/ 0 w 9166452"/>
              <a:gd name="connsiteY4" fmla="*/ 2375696 h 2508024"/>
              <a:gd name="connsiteX0" fmla="*/ 0 w 9166808"/>
              <a:gd name="connsiteY0" fmla="*/ 2382751 h 2515079"/>
              <a:gd name="connsiteX1" fmla="*/ 9160729 w 9166808"/>
              <a:gd name="connsiteY1" fmla="*/ 0 h 2515079"/>
              <a:gd name="connsiteX2" fmla="*/ 9166408 w 9166808"/>
              <a:gd name="connsiteY2" fmla="*/ 2515079 h 2515079"/>
              <a:gd name="connsiteX3" fmla="*/ 4169 w 9166808"/>
              <a:gd name="connsiteY3" fmla="*/ 2507173 h 2515079"/>
              <a:gd name="connsiteX4" fmla="*/ 0 w 9166808"/>
              <a:gd name="connsiteY4" fmla="*/ 2382751 h 2515079"/>
              <a:gd name="connsiteX0" fmla="*/ 9943 w 9162640"/>
              <a:gd name="connsiteY0" fmla="*/ 2382751 h 2515079"/>
              <a:gd name="connsiteX1" fmla="*/ 9156561 w 9162640"/>
              <a:gd name="connsiteY1" fmla="*/ 0 h 2515079"/>
              <a:gd name="connsiteX2" fmla="*/ 9162240 w 9162640"/>
              <a:gd name="connsiteY2" fmla="*/ 2515079 h 2515079"/>
              <a:gd name="connsiteX3" fmla="*/ 1 w 9162640"/>
              <a:gd name="connsiteY3" fmla="*/ 2507173 h 2515079"/>
              <a:gd name="connsiteX4" fmla="*/ 9943 w 9162640"/>
              <a:gd name="connsiteY4" fmla="*/ 2382751 h 2515079"/>
              <a:gd name="connsiteX0" fmla="*/ 0 w 9152697"/>
              <a:gd name="connsiteY0" fmla="*/ 2382751 h 2515079"/>
              <a:gd name="connsiteX1" fmla="*/ 9146618 w 9152697"/>
              <a:gd name="connsiteY1" fmla="*/ 0 h 2515079"/>
              <a:gd name="connsiteX2" fmla="*/ 9152297 w 9152697"/>
              <a:gd name="connsiteY2" fmla="*/ 2515079 h 2515079"/>
              <a:gd name="connsiteX3" fmla="*/ 187614 w 9152697"/>
              <a:gd name="connsiteY3" fmla="*/ 2507173 h 2515079"/>
              <a:gd name="connsiteX4" fmla="*/ 0 w 9152697"/>
              <a:gd name="connsiteY4" fmla="*/ 2382751 h 2515079"/>
              <a:gd name="connsiteX0" fmla="*/ 0 w 9068030"/>
              <a:gd name="connsiteY0" fmla="*/ 2382751 h 2515079"/>
              <a:gd name="connsiteX1" fmla="*/ 9061951 w 9068030"/>
              <a:gd name="connsiteY1" fmla="*/ 0 h 2515079"/>
              <a:gd name="connsiteX2" fmla="*/ 9067630 w 9068030"/>
              <a:gd name="connsiteY2" fmla="*/ 2515079 h 2515079"/>
              <a:gd name="connsiteX3" fmla="*/ 102947 w 9068030"/>
              <a:gd name="connsiteY3" fmla="*/ 2507173 h 2515079"/>
              <a:gd name="connsiteX4" fmla="*/ 0 w 9068030"/>
              <a:gd name="connsiteY4" fmla="*/ 2382751 h 2515079"/>
              <a:gd name="connsiteX0" fmla="*/ 0 w 9138586"/>
              <a:gd name="connsiteY0" fmla="*/ 2382751 h 2515079"/>
              <a:gd name="connsiteX1" fmla="*/ 9132507 w 9138586"/>
              <a:gd name="connsiteY1" fmla="*/ 0 h 2515079"/>
              <a:gd name="connsiteX2" fmla="*/ 9138186 w 9138586"/>
              <a:gd name="connsiteY2" fmla="*/ 2515079 h 2515079"/>
              <a:gd name="connsiteX3" fmla="*/ 173503 w 9138586"/>
              <a:gd name="connsiteY3" fmla="*/ 2507173 h 2515079"/>
              <a:gd name="connsiteX4" fmla="*/ 0 w 9138586"/>
              <a:gd name="connsiteY4" fmla="*/ 2382751 h 2515079"/>
              <a:gd name="connsiteX0" fmla="*/ 0 w 9138586"/>
              <a:gd name="connsiteY0" fmla="*/ 2382751 h 2515079"/>
              <a:gd name="connsiteX1" fmla="*/ 9132507 w 9138586"/>
              <a:gd name="connsiteY1" fmla="*/ 0 h 2515079"/>
              <a:gd name="connsiteX2" fmla="*/ 9138186 w 9138586"/>
              <a:gd name="connsiteY2" fmla="*/ 2515079 h 2515079"/>
              <a:gd name="connsiteX3" fmla="*/ 4170 w 9138586"/>
              <a:gd name="connsiteY3" fmla="*/ 2507173 h 2515079"/>
              <a:gd name="connsiteX4" fmla="*/ 0 w 9138586"/>
              <a:gd name="connsiteY4" fmla="*/ 2382751 h 25150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38586" h="2515079">
                <a:moveTo>
                  <a:pt x="0" y="2382751"/>
                </a:moveTo>
                <a:cubicBezTo>
                  <a:pt x="20661" y="2379422"/>
                  <a:pt x="7306149" y="2502055"/>
                  <a:pt x="9132507" y="0"/>
                </a:cubicBezTo>
                <a:cubicBezTo>
                  <a:pt x="9129925" y="819774"/>
                  <a:pt x="9140768" y="1695305"/>
                  <a:pt x="9138186" y="2515079"/>
                </a:cubicBezTo>
                <a:lnTo>
                  <a:pt x="4170" y="2507173"/>
                </a:lnTo>
                <a:cubicBezTo>
                  <a:pt x="4169" y="2465011"/>
                  <a:pt x="1" y="2424913"/>
                  <a:pt x="0" y="2382751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199" y="457169"/>
            <a:ext cx="8229600" cy="772250"/>
          </a:xfrm>
        </p:spPr>
        <p:txBody>
          <a:bodyPr anchor="t"/>
          <a:lstStyle>
            <a:lvl1pPr algn="l">
              <a:defRPr sz="4000" b="1" cap="none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415622"/>
            <a:ext cx="8229600" cy="1500187"/>
          </a:xfrm>
        </p:spPr>
        <p:txBody>
          <a:bodyPr anchor="t" anchorCtr="0"/>
          <a:lstStyle>
            <a:lvl1pPr marL="0" indent="0" algn="r">
              <a:buNone/>
              <a:defRPr sz="2000">
                <a:solidFill>
                  <a:srgbClr val="FFFF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2285999" y="6355080"/>
            <a:ext cx="6400801" cy="502919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U.S. Department of Commerce | National Oceanic and Atmospheric Administration | NOAA Fisheries | Page </a:t>
            </a:r>
            <a:fld id="{632D3AEB-7CBE-3049-91AC-335C6B4F5BF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60483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/>
          <p:nvPr userDrawn="1"/>
        </p:nvSpPr>
        <p:spPr>
          <a:xfrm flipH="1" flipV="1">
            <a:off x="-19068" y="-30696"/>
            <a:ext cx="9170673" cy="2457785"/>
          </a:xfrm>
          <a:custGeom>
            <a:avLst/>
            <a:gdLst>
              <a:gd name="connsiteX0" fmla="*/ 0 w 10289745"/>
              <a:gd name="connsiteY0" fmla="*/ 2348314 h 2694297"/>
              <a:gd name="connsiteX1" fmla="*/ 9145997 w 10289745"/>
              <a:gd name="connsiteY1" fmla="*/ 81 h 2694297"/>
              <a:gd name="connsiteX2" fmla="*/ 9145997 w 10289745"/>
              <a:gd name="connsiteY2" fmla="*/ 2436173 h 2694297"/>
              <a:gd name="connsiteX3" fmla="*/ 0 w 10289745"/>
              <a:gd name="connsiteY3" fmla="*/ 2348314 h 2694297"/>
              <a:gd name="connsiteX0" fmla="*/ 0 w 10289745"/>
              <a:gd name="connsiteY0" fmla="*/ 2348233 h 2694216"/>
              <a:gd name="connsiteX1" fmla="*/ 9145997 w 10289745"/>
              <a:gd name="connsiteY1" fmla="*/ 0 h 2694216"/>
              <a:gd name="connsiteX2" fmla="*/ 9145997 w 10289745"/>
              <a:gd name="connsiteY2" fmla="*/ 2436092 h 2694216"/>
              <a:gd name="connsiteX3" fmla="*/ 0 w 10289745"/>
              <a:gd name="connsiteY3" fmla="*/ 2348233 h 2694216"/>
              <a:gd name="connsiteX0" fmla="*/ 0 w 10289745"/>
              <a:gd name="connsiteY0" fmla="*/ 2348233 h 2694216"/>
              <a:gd name="connsiteX1" fmla="*/ 9145997 w 10289745"/>
              <a:gd name="connsiteY1" fmla="*/ 0 h 2694216"/>
              <a:gd name="connsiteX2" fmla="*/ 9145997 w 10289745"/>
              <a:gd name="connsiteY2" fmla="*/ 2436092 h 2694216"/>
              <a:gd name="connsiteX3" fmla="*/ 0 w 10289745"/>
              <a:gd name="connsiteY3" fmla="*/ 2348233 h 2694216"/>
              <a:gd name="connsiteX0" fmla="*/ 2 w 10271923"/>
              <a:gd name="connsiteY0" fmla="*/ 1961048 h 2259210"/>
              <a:gd name="connsiteX1" fmla="*/ 9115022 w 10271923"/>
              <a:gd name="connsiteY1" fmla="*/ 0 h 2259210"/>
              <a:gd name="connsiteX2" fmla="*/ 9145999 w 10271923"/>
              <a:gd name="connsiteY2" fmla="*/ 2048907 h 2259210"/>
              <a:gd name="connsiteX3" fmla="*/ 2 w 10271923"/>
              <a:gd name="connsiteY3" fmla="*/ 1961048 h 2259210"/>
              <a:gd name="connsiteX0" fmla="*/ 2 w 10302372"/>
              <a:gd name="connsiteY0" fmla="*/ 2355976 h 2702917"/>
              <a:gd name="connsiteX1" fmla="*/ 9169232 w 10302372"/>
              <a:gd name="connsiteY1" fmla="*/ 0 h 2702917"/>
              <a:gd name="connsiteX2" fmla="*/ 9145999 w 10302372"/>
              <a:gd name="connsiteY2" fmla="*/ 2443835 h 2702917"/>
              <a:gd name="connsiteX3" fmla="*/ 2 w 10302372"/>
              <a:gd name="connsiteY3" fmla="*/ 2355976 h 2702917"/>
              <a:gd name="connsiteX0" fmla="*/ 2 w 10302372"/>
              <a:gd name="connsiteY0" fmla="*/ 2355976 h 2702917"/>
              <a:gd name="connsiteX1" fmla="*/ 9169232 w 10302372"/>
              <a:gd name="connsiteY1" fmla="*/ 0 h 2702917"/>
              <a:gd name="connsiteX2" fmla="*/ 9145999 w 10302372"/>
              <a:gd name="connsiteY2" fmla="*/ 2443835 h 2702917"/>
              <a:gd name="connsiteX3" fmla="*/ 2 w 10302372"/>
              <a:gd name="connsiteY3" fmla="*/ 2355976 h 2702917"/>
              <a:gd name="connsiteX0" fmla="*/ 2 w 10302372"/>
              <a:gd name="connsiteY0" fmla="*/ 2355976 h 2702917"/>
              <a:gd name="connsiteX1" fmla="*/ 9169232 w 10302372"/>
              <a:gd name="connsiteY1" fmla="*/ 0 h 2702917"/>
              <a:gd name="connsiteX2" fmla="*/ 9145999 w 10302372"/>
              <a:gd name="connsiteY2" fmla="*/ 2443835 h 2702917"/>
              <a:gd name="connsiteX3" fmla="*/ 2 w 10302372"/>
              <a:gd name="connsiteY3" fmla="*/ 2355976 h 2702917"/>
              <a:gd name="connsiteX0" fmla="*/ 1 w 10359948"/>
              <a:gd name="connsiteY0" fmla="*/ 2534080 h 2803153"/>
              <a:gd name="connsiteX1" fmla="*/ 9223441 w 10359948"/>
              <a:gd name="connsiteY1" fmla="*/ 0 h 2803153"/>
              <a:gd name="connsiteX2" fmla="*/ 9200208 w 10359948"/>
              <a:gd name="connsiteY2" fmla="*/ 2443835 h 2803153"/>
              <a:gd name="connsiteX3" fmla="*/ 1 w 10359948"/>
              <a:gd name="connsiteY3" fmla="*/ 2534080 h 2803153"/>
              <a:gd name="connsiteX0" fmla="*/ 2 w 10302373"/>
              <a:gd name="connsiteY0" fmla="*/ 2371463 h 2710654"/>
              <a:gd name="connsiteX1" fmla="*/ 9169233 w 10302373"/>
              <a:gd name="connsiteY1" fmla="*/ 0 h 2710654"/>
              <a:gd name="connsiteX2" fmla="*/ 9146000 w 10302373"/>
              <a:gd name="connsiteY2" fmla="*/ 2443835 h 2710654"/>
              <a:gd name="connsiteX3" fmla="*/ 2 w 10302373"/>
              <a:gd name="connsiteY3" fmla="*/ 2371463 h 2710654"/>
              <a:gd name="connsiteX0" fmla="*/ 22101 w 10324472"/>
              <a:gd name="connsiteY0" fmla="*/ 2371463 h 2601940"/>
              <a:gd name="connsiteX1" fmla="*/ 9191332 w 10324472"/>
              <a:gd name="connsiteY1" fmla="*/ 0 h 2601940"/>
              <a:gd name="connsiteX2" fmla="*/ 9168099 w 10324472"/>
              <a:gd name="connsiteY2" fmla="*/ 2443835 h 2601940"/>
              <a:gd name="connsiteX3" fmla="*/ 22101 w 10324472"/>
              <a:gd name="connsiteY3" fmla="*/ 2371463 h 2601940"/>
              <a:gd name="connsiteX0" fmla="*/ 454248 w 10756619"/>
              <a:gd name="connsiteY0" fmla="*/ 2371463 h 2635640"/>
              <a:gd name="connsiteX1" fmla="*/ 9623479 w 10756619"/>
              <a:gd name="connsiteY1" fmla="*/ 0 h 2635640"/>
              <a:gd name="connsiteX2" fmla="*/ 9600246 w 10756619"/>
              <a:gd name="connsiteY2" fmla="*/ 2443835 h 2635640"/>
              <a:gd name="connsiteX3" fmla="*/ 2243166 w 10756619"/>
              <a:gd name="connsiteY3" fmla="*/ 2466974 h 2635640"/>
              <a:gd name="connsiteX4" fmla="*/ 454248 w 10756619"/>
              <a:gd name="connsiteY4" fmla="*/ 2371463 h 2635640"/>
              <a:gd name="connsiteX0" fmla="*/ 1153431 w 11456764"/>
              <a:gd name="connsiteY0" fmla="*/ 2371463 h 2641277"/>
              <a:gd name="connsiteX1" fmla="*/ 10322662 w 11456764"/>
              <a:gd name="connsiteY1" fmla="*/ 0 h 2641277"/>
              <a:gd name="connsiteX2" fmla="*/ 10299429 w 11456764"/>
              <a:gd name="connsiteY2" fmla="*/ 2443835 h 2641277"/>
              <a:gd name="connsiteX3" fmla="*/ 1137944 w 11456764"/>
              <a:gd name="connsiteY3" fmla="*/ 2482461 h 2641277"/>
              <a:gd name="connsiteX4" fmla="*/ 1153431 w 11456764"/>
              <a:gd name="connsiteY4" fmla="*/ 2371463 h 2641277"/>
              <a:gd name="connsiteX0" fmla="*/ 15487 w 10318820"/>
              <a:gd name="connsiteY0" fmla="*/ 2371463 h 2641277"/>
              <a:gd name="connsiteX1" fmla="*/ 9184718 w 10318820"/>
              <a:gd name="connsiteY1" fmla="*/ 0 h 2641277"/>
              <a:gd name="connsiteX2" fmla="*/ 9161485 w 10318820"/>
              <a:gd name="connsiteY2" fmla="*/ 2443835 h 2641277"/>
              <a:gd name="connsiteX3" fmla="*/ 0 w 10318820"/>
              <a:gd name="connsiteY3" fmla="*/ 2482461 h 2641277"/>
              <a:gd name="connsiteX4" fmla="*/ 15487 w 10318820"/>
              <a:gd name="connsiteY4" fmla="*/ 2371463 h 2641277"/>
              <a:gd name="connsiteX0" fmla="*/ 15487 w 10318820"/>
              <a:gd name="connsiteY0" fmla="*/ 2371463 h 2641277"/>
              <a:gd name="connsiteX1" fmla="*/ 9184718 w 10318820"/>
              <a:gd name="connsiteY1" fmla="*/ 0 h 2641277"/>
              <a:gd name="connsiteX2" fmla="*/ 9161485 w 10318820"/>
              <a:gd name="connsiteY2" fmla="*/ 2443835 h 2641277"/>
              <a:gd name="connsiteX3" fmla="*/ 0 w 10318820"/>
              <a:gd name="connsiteY3" fmla="*/ 2482461 h 2641277"/>
              <a:gd name="connsiteX4" fmla="*/ 15487 w 10318820"/>
              <a:gd name="connsiteY4" fmla="*/ 2371463 h 2641277"/>
              <a:gd name="connsiteX0" fmla="*/ 15487 w 10318820"/>
              <a:gd name="connsiteY0" fmla="*/ 2371463 h 2641277"/>
              <a:gd name="connsiteX1" fmla="*/ 9184718 w 10318820"/>
              <a:gd name="connsiteY1" fmla="*/ 0 h 2641277"/>
              <a:gd name="connsiteX2" fmla="*/ 9161485 w 10318820"/>
              <a:gd name="connsiteY2" fmla="*/ 2443835 h 2641277"/>
              <a:gd name="connsiteX3" fmla="*/ 0 w 10318820"/>
              <a:gd name="connsiteY3" fmla="*/ 2482461 h 2641277"/>
              <a:gd name="connsiteX4" fmla="*/ 15487 w 10318820"/>
              <a:gd name="connsiteY4" fmla="*/ 2371463 h 2641277"/>
              <a:gd name="connsiteX0" fmla="*/ 15487 w 10318820"/>
              <a:gd name="connsiteY0" fmla="*/ 2371463 h 2641277"/>
              <a:gd name="connsiteX1" fmla="*/ 9184718 w 10318820"/>
              <a:gd name="connsiteY1" fmla="*/ 0 h 2641277"/>
              <a:gd name="connsiteX2" fmla="*/ 9161485 w 10318820"/>
              <a:gd name="connsiteY2" fmla="*/ 2443835 h 2641277"/>
              <a:gd name="connsiteX3" fmla="*/ 0 w 10318820"/>
              <a:gd name="connsiteY3" fmla="*/ 2482461 h 2641277"/>
              <a:gd name="connsiteX4" fmla="*/ 15487 w 10318820"/>
              <a:gd name="connsiteY4" fmla="*/ 2371463 h 2641277"/>
              <a:gd name="connsiteX0" fmla="*/ 15487 w 10318820"/>
              <a:gd name="connsiteY0" fmla="*/ 2371463 h 2482461"/>
              <a:gd name="connsiteX1" fmla="*/ 9184718 w 10318820"/>
              <a:gd name="connsiteY1" fmla="*/ 0 h 2482461"/>
              <a:gd name="connsiteX2" fmla="*/ 9161485 w 10318820"/>
              <a:gd name="connsiteY2" fmla="*/ 2443835 h 2482461"/>
              <a:gd name="connsiteX3" fmla="*/ 0 w 10318820"/>
              <a:gd name="connsiteY3" fmla="*/ 2482461 h 2482461"/>
              <a:gd name="connsiteX4" fmla="*/ 15487 w 10318820"/>
              <a:gd name="connsiteY4" fmla="*/ 2371463 h 2482461"/>
              <a:gd name="connsiteX0" fmla="*/ 15487 w 10252186"/>
              <a:gd name="connsiteY0" fmla="*/ 2371463 h 2482461"/>
              <a:gd name="connsiteX1" fmla="*/ 9184718 w 10252186"/>
              <a:gd name="connsiteY1" fmla="*/ 0 h 2482461"/>
              <a:gd name="connsiteX2" fmla="*/ 9022088 w 10252186"/>
              <a:gd name="connsiteY2" fmla="*/ 2242499 h 2482461"/>
              <a:gd name="connsiteX3" fmla="*/ 0 w 10252186"/>
              <a:gd name="connsiteY3" fmla="*/ 2482461 h 2482461"/>
              <a:gd name="connsiteX4" fmla="*/ 15487 w 10252186"/>
              <a:gd name="connsiteY4" fmla="*/ 2371463 h 2482461"/>
              <a:gd name="connsiteX0" fmla="*/ 15487 w 10311181"/>
              <a:gd name="connsiteY0" fmla="*/ 2371463 h 2482461"/>
              <a:gd name="connsiteX1" fmla="*/ 9184718 w 10311181"/>
              <a:gd name="connsiteY1" fmla="*/ 0 h 2482461"/>
              <a:gd name="connsiteX2" fmla="*/ 9145996 w 10311181"/>
              <a:gd name="connsiteY2" fmla="*/ 2443835 h 2482461"/>
              <a:gd name="connsiteX3" fmla="*/ 0 w 10311181"/>
              <a:gd name="connsiteY3" fmla="*/ 2482461 h 2482461"/>
              <a:gd name="connsiteX4" fmla="*/ 15487 w 10311181"/>
              <a:gd name="connsiteY4" fmla="*/ 2371463 h 2482461"/>
              <a:gd name="connsiteX0" fmla="*/ 15487 w 9184718"/>
              <a:gd name="connsiteY0" fmla="*/ 2371463 h 2482461"/>
              <a:gd name="connsiteX1" fmla="*/ 9184718 w 9184718"/>
              <a:gd name="connsiteY1" fmla="*/ 0 h 2482461"/>
              <a:gd name="connsiteX2" fmla="*/ 9145996 w 9184718"/>
              <a:gd name="connsiteY2" fmla="*/ 2443835 h 2482461"/>
              <a:gd name="connsiteX3" fmla="*/ 0 w 9184718"/>
              <a:gd name="connsiteY3" fmla="*/ 2482461 h 2482461"/>
              <a:gd name="connsiteX4" fmla="*/ 15487 w 9184718"/>
              <a:gd name="connsiteY4" fmla="*/ 2371463 h 2482461"/>
              <a:gd name="connsiteX0" fmla="*/ 15487 w 9184718"/>
              <a:gd name="connsiteY0" fmla="*/ 2371463 h 2482461"/>
              <a:gd name="connsiteX1" fmla="*/ 9184718 w 9184718"/>
              <a:gd name="connsiteY1" fmla="*/ 0 h 2482461"/>
              <a:gd name="connsiteX2" fmla="*/ 9176973 w 9184718"/>
              <a:gd name="connsiteY2" fmla="*/ 2459323 h 2482461"/>
              <a:gd name="connsiteX3" fmla="*/ 0 w 9184718"/>
              <a:gd name="connsiteY3" fmla="*/ 2482461 h 2482461"/>
              <a:gd name="connsiteX4" fmla="*/ 15487 w 9184718"/>
              <a:gd name="connsiteY4" fmla="*/ 2371463 h 2482461"/>
              <a:gd name="connsiteX0" fmla="*/ 15487 w 9184718"/>
              <a:gd name="connsiteY0" fmla="*/ 2371463 h 2482461"/>
              <a:gd name="connsiteX1" fmla="*/ 9184718 w 9184718"/>
              <a:gd name="connsiteY1" fmla="*/ 0 h 2482461"/>
              <a:gd name="connsiteX2" fmla="*/ 9176973 w 9184718"/>
              <a:gd name="connsiteY2" fmla="*/ 2459323 h 2482461"/>
              <a:gd name="connsiteX3" fmla="*/ 0 w 9184718"/>
              <a:gd name="connsiteY3" fmla="*/ 2482461 h 2482461"/>
              <a:gd name="connsiteX4" fmla="*/ 15487 w 9184718"/>
              <a:gd name="connsiteY4" fmla="*/ 2371463 h 2482461"/>
              <a:gd name="connsiteX0" fmla="*/ 15487 w 9184718"/>
              <a:gd name="connsiteY0" fmla="*/ 2371463 h 2482461"/>
              <a:gd name="connsiteX1" fmla="*/ 9184718 w 9184718"/>
              <a:gd name="connsiteY1" fmla="*/ 0 h 2482461"/>
              <a:gd name="connsiteX2" fmla="*/ 9176973 w 9184718"/>
              <a:gd name="connsiteY2" fmla="*/ 2459323 h 2482461"/>
              <a:gd name="connsiteX3" fmla="*/ 0 w 9184718"/>
              <a:gd name="connsiteY3" fmla="*/ 2482461 h 2482461"/>
              <a:gd name="connsiteX4" fmla="*/ 15487 w 9184718"/>
              <a:gd name="connsiteY4" fmla="*/ 2371463 h 2482461"/>
              <a:gd name="connsiteX0" fmla="*/ 15487 w 9184718"/>
              <a:gd name="connsiteY0" fmla="*/ 2371463 h 2482461"/>
              <a:gd name="connsiteX1" fmla="*/ 9184718 w 9184718"/>
              <a:gd name="connsiteY1" fmla="*/ 0 h 2482461"/>
              <a:gd name="connsiteX2" fmla="*/ 9176973 w 9184718"/>
              <a:gd name="connsiteY2" fmla="*/ 2459323 h 2482461"/>
              <a:gd name="connsiteX3" fmla="*/ 0 w 9184718"/>
              <a:gd name="connsiteY3" fmla="*/ 2482461 h 2482461"/>
              <a:gd name="connsiteX4" fmla="*/ 15487 w 9184718"/>
              <a:gd name="connsiteY4" fmla="*/ 2371463 h 2482461"/>
              <a:gd name="connsiteX0" fmla="*/ 15487 w 9184718"/>
              <a:gd name="connsiteY0" fmla="*/ 2371463 h 2482461"/>
              <a:gd name="connsiteX1" fmla="*/ 9184718 w 9184718"/>
              <a:gd name="connsiteY1" fmla="*/ 0 h 2482461"/>
              <a:gd name="connsiteX2" fmla="*/ 9176973 w 9184718"/>
              <a:gd name="connsiteY2" fmla="*/ 2459323 h 2482461"/>
              <a:gd name="connsiteX3" fmla="*/ 0 w 9184718"/>
              <a:gd name="connsiteY3" fmla="*/ 2482461 h 2482461"/>
              <a:gd name="connsiteX4" fmla="*/ 15487 w 9184718"/>
              <a:gd name="connsiteY4" fmla="*/ 2371463 h 2482461"/>
              <a:gd name="connsiteX0" fmla="*/ 15487 w 9184718"/>
              <a:gd name="connsiteY0" fmla="*/ 2371463 h 2482461"/>
              <a:gd name="connsiteX1" fmla="*/ 9184718 w 9184718"/>
              <a:gd name="connsiteY1" fmla="*/ 0 h 2482461"/>
              <a:gd name="connsiteX2" fmla="*/ 9176973 w 9184718"/>
              <a:gd name="connsiteY2" fmla="*/ 2459323 h 2482461"/>
              <a:gd name="connsiteX3" fmla="*/ 0 w 9184718"/>
              <a:gd name="connsiteY3" fmla="*/ 2482461 h 2482461"/>
              <a:gd name="connsiteX4" fmla="*/ 15487 w 9184718"/>
              <a:gd name="connsiteY4" fmla="*/ 2371463 h 2482461"/>
              <a:gd name="connsiteX0" fmla="*/ 0 w 9215696"/>
              <a:gd name="connsiteY0" fmla="*/ 2371463 h 2482461"/>
              <a:gd name="connsiteX1" fmla="*/ 9215696 w 9215696"/>
              <a:gd name="connsiteY1" fmla="*/ 0 h 2482461"/>
              <a:gd name="connsiteX2" fmla="*/ 9207951 w 9215696"/>
              <a:gd name="connsiteY2" fmla="*/ 2459323 h 2482461"/>
              <a:gd name="connsiteX3" fmla="*/ 30978 w 9215696"/>
              <a:gd name="connsiteY3" fmla="*/ 2482461 h 2482461"/>
              <a:gd name="connsiteX4" fmla="*/ 0 w 9215696"/>
              <a:gd name="connsiteY4" fmla="*/ 2371463 h 2482461"/>
              <a:gd name="connsiteX0" fmla="*/ 0 w 9215696"/>
              <a:gd name="connsiteY0" fmla="*/ 2371463 h 2497949"/>
              <a:gd name="connsiteX1" fmla="*/ 9215696 w 9215696"/>
              <a:gd name="connsiteY1" fmla="*/ 0 h 2497949"/>
              <a:gd name="connsiteX2" fmla="*/ 9207951 w 9215696"/>
              <a:gd name="connsiteY2" fmla="*/ 2459323 h 2497949"/>
              <a:gd name="connsiteX3" fmla="*/ 2 w 9215696"/>
              <a:gd name="connsiteY3" fmla="*/ 2497949 h 2497949"/>
              <a:gd name="connsiteX4" fmla="*/ 0 w 9215696"/>
              <a:gd name="connsiteY4" fmla="*/ 2371463 h 2497949"/>
              <a:gd name="connsiteX0" fmla="*/ 0 w 9215696"/>
              <a:gd name="connsiteY0" fmla="*/ 2371463 h 2474718"/>
              <a:gd name="connsiteX1" fmla="*/ 9215696 w 9215696"/>
              <a:gd name="connsiteY1" fmla="*/ 0 h 2474718"/>
              <a:gd name="connsiteX2" fmla="*/ 9207951 w 9215696"/>
              <a:gd name="connsiteY2" fmla="*/ 2459323 h 2474718"/>
              <a:gd name="connsiteX3" fmla="*/ 30979 w 9215696"/>
              <a:gd name="connsiteY3" fmla="*/ 2474718 h 2474718"/>
              <a:gd name="connsiteX4" fmla="*/ 0 w 9215696"/>
              <a:gd name="connsiteY4" fmla="*/ 2371463 h 2474718"/>
              <a:gd name="connsiteX0" fmla="*/ 0 w 9208117"/>
              <a:gd name="connsiteY0" fmla="*/ 2371463 h 2474718"/>
              <a:gd name="connsiteX1" fmla="*/ 9184719 w 9208117"/>
              <a:gd name="connsiteY1" fmla="*/ 0 h 2474718"/>
              <a:gd name="connsiteX2" fmla="*/ 9207951 w 9208117"/>
              <a:gd name="connsiteY2" fmla="*/ 2459323 h 2474718"/>
              <a:gd name="connsiteX3" fmla="*/ 30979 w 9208117"/>
              <a:gd name="connsiteY3" fmla="*/ 2474718 h 2474718"/>
              <a:gd name="connsiteX4" fmla="*/ 0 w 9208117"/>
              <a:gd name="connsiteY4" fmla="*/ 2371463 h 2474718"/>
              <a:gd name="connsiteX0" fmla="*/ 0 w 9184719"/>
              <a:gd name="connsiteY0" fmla="*/ 2371463 h 2474718"/>
              <a:gd name="connsiteX1" fmla="*/ 9184719 w 9184719"/>
              <a:gd name="connsiteY1" fmla="*/ 0 h 2474718"/>
              <a:gd name="connsiteX2" fmla="*/ 9115020 w 9184719"/>
              <a:gd name="connsiteY2" fmla="*/ 2381886 h 2474718"/>
              <a:gd name="connsiteX3" fmla="*/ 30979 w 9184719"/>
              <a:gd name="connsiteY3" fmla="*/ 2474718 h 2474718"/>
              <a:gd name="connsiteX4" fmla="*/ 0 w 9184719"/>
              <a:gd name="connsiteY4" fmla="*/ 2371463 h 2474718"/>
              <a:gd name="connsiteX0" fmla="*/ 0 w 9184719"/>
              <a:gd name="connsiteY0" fmla="*/ 2371463 h 2474718"/>
              <a:gd name="connsiteX1" fmla="*/ 9184719 w 9184719"/>
              <a:gd name="connsiteY1" fmla="*/ 0 h 2474718"/>
              <a:gd name="connsiteX2" fmla="*/ 9169230 w 9184719"/>
              <a:gd name="connsiteY2" fmla="*/ 2451580 h 2474718"/>
              <a:gd name="connsiteX3" fmla="*/ 30979 w 9184719"/>
              <a:gd name="connsiteY3" fmla="*/ 2474718 h 2474718"/>
              <a:gd name="connsiteX4" fmla="*/ 0 w 9184719"/>
              <a:gd name="connsiteY4" fmla="*/ 2371463 h 2474718"/>
              <a:gd name="connsiteX0" fmla="*/ 0 w 9167786"/>
              <a:gd name="connsiteY0" fmla="*/ 2375696 h 2474718"/>
              <a:gd name="connsiteX1" fmla="*/ 9167786 w 9167786"/>
              <a:gd name="connsiteY1" fmla="*/ 0 h 2474718"/>
              <a:gd name="connsiteX2" fmla="*/ 9152297 w 9167786"/>
              <a:gd name="connsiteY2" fmla="*/ 2451580 h 2474718"/>
              <a:gd name="connsiteX3" fmla="*/ 14046 w 9167786"/>
              <a:gd name="connsiteY3" fmla="*/ 2474718 h 2474718"/>
              <a:gd name="connsiteX4" fmla="*/ 0 w 9167786"/>
              <a:gd name="connsiteY4" fmla="*/ 2375696 h 2474718"/>
              <a:gd name="connsiteX0" fmla="*/ 2887 w 9170673"/>
              <a:gd name="connsiteY0" fmla="*/ 2375696 h 2474718"/>
              <a:gd name="connsiteX1" fmla="*/ 9170673 w 9170673"/>
              <a:gd name="connsiteY1" fmla="*/ 0 h 2474718"/>
              <a:gd name="connsiteX2" fmla="*/ 9155184 w 9170673"/>
              <a:gd name="connsiteY2" fmla="*/ 2451580 h 2474718"/>
              <a:gd name="connsiteX3" fmla="*/ 0 w 9170673"/>
              <a:gd name="connsiteY3" fmla="*/ 2474718 h 2474718"/>
              <a:gd name="connsiteX4" fmla="*/ 2887 w 9170673"/>
              <a:gd name="connsiteY4" fmla="*/ 2375696 h 2474718"/>
              <a:gd name="connsiteX0" fmla="*/ 2887 w 9170673"/>
              <a:gd name="connsiteY0" fmla="*/ 2375696 h 2457785"/>
              <a:gd name="connsiteX1" fmla="*/ 9170673 w 9170673"/>
              <a:gd name="connsiteY1" fmla="*/ 0 h 2457785"/>
              <a:gd name="connsiteX2" fmla="*/ 9155184 w 9170673"/>
              <a:gd name="connsiteY2" fmla="*/ 2451580 h 2457785"/>
              <a:gd name="connsiteX3" fmla="*/ 0 w 9170673"/>
              <a:gd name="connsiteY3" fmla="*/ 2457785 h 2457785"/>
              <a:gd name="connsiteX4" fmla="*/ 2887 w 9170673"/>
              <a:gd name="connsiteY4" fmla="*/ 2375696 h 24577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70673" h="2457785">
                <a:moveTo>
                  <a:pt x="2887" y="2375696"/>
                </a:moveTo>
                <a:cubicBezTo>
                  <a:pt x="23548" y="2372367"/>
                  <a:pt x="7344315" y="2502055"/>
                  <a:pt x="9170673" y="0"/>
                </a:cubicBezTo>
                <a:cubicBezTo>
                  <a:pt x="9168091" y="819774"/>
                  <a:pt x="9157766" y="1631806"/>
                  <a:pt x="9155184" y="2451580"/>
                </a:cubicBezTo>
                <a:lnTo>
                  <a:pt x="0" y="2457785"/>
                </a:lnTo>
                <a:cubicBezTo>
                  <a:pt x="-1" y="2415623"/>
                  <a:pt x="2888" y="2417858"/>
                  <a:pt x="2887" y="2375696"/>
                </a:cubicBezTo>
                <a:close/>
              </a:path>
            </a:pathLst>
          </a:custGeom>
          <a:solidFill>
            <a:schemeClr val="bg1">
              <a:alpha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199" y="457200"/>
            <a:ext cx="8229600" cy="77225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algn="l">
              <a:defRPr sz="4000" b="1" cap="none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415653"/>
            <a:ext cx="8229600" cy="1500187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t" anchorCtr="0"/>
          <a:lstStyle>
            <a:lvl1pPr marL="0" indent="0" algn="r">
              <a:buNone/>
              <a:defRPr sz="2000">
                <a:solidFill>
                  <a:srgbClr val="FFFF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4"/>
          </p:nvPr>
        </p:nvSpPr>
        <p:spPr>
          <a:xfrm>
            <a:off x="2285999" y="6355080"/>
            <a:ext cx="6400801" cy="502919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U.S. Department of Commerce | National Oceanic and Atmospheric Administration | NOAA Fisheries | Page </a:t>
            </a:r>
            <a:fld id="{632D3AEB-7CBE-3049-91AC-335C6B4F5BF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91362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12/2/25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2285999" y="6355080"/>
            <a:ext cx="6400801" cy="502919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- No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3201988" y="2707457"/>
            <a:ext cx="5484812" cy="122443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2" hasCustomPrompt="1"/>
          </p:nvPr>
        </p:nvSpPr>
        <p:spPr>
          <a:xfrm>
            <a:off x="3201988" y="4282303"/>
            <a:ext cx="5484812" cy="577850"/>
          </a:xfrm>
        </p:spPr>
        <p:txBody>
          <a:bodyPr>
            <a:normAutofit/>
          </a:bodyPr>
          <a:lstStyle>
            <a:lvl1pPr>
              <a:defRPr sz="1800"/>
            </a:lvl1pPr>
          </a:lstStyle>
          <a:p>
            <a:pPr lvl="0"/>
            <a:r>
              <a:rPr lang="en-US" dirty="0"/>
              <a:t>July 19, 2012</a:t>
            </a:r>
          </a:p>
        </p:txBody>
      </p:sp>
    </p:spTree>
    <p:extLst>
      <p:ext uri="{BB962C8B-B14F-4D97-AF65-F5344CB8AC3E}">
        <p14:creationId xmlns:p14="http://schemas.microsoft.com/office/powerpoint/2010/main" val="21861079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- Boats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3201988" y="2707457"/>
            <a:ext cx="5484812" cy="122443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1" hasCustomPrompt="1"/>
          </p:nvPr>
        </p:nvSpPr>
        <p:spPr>
          <a:xfrm>
            <a:off x="463550" y="3118590"/>
            <a:ext cx="1293813" cy="752475"/>
          </a:xfrm>
        </p:spPr>
        <p:txBody>
          <a:bodyPr lIns="0" tIns="0" rIns="0" bIns="0">
            <a:normAutofit/>
          </a:bodyPr>
          <a:lstStyle>
            <a:lvl1pPr algn="l"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Regional Unit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2" hasCustomPrompt="1"/>
          </p:nvPr>
        </p:nvSpPr>
        <p:spPr>
          <a:xfrm>
            <a:off x="3201988" y="4282303"/>
            <a:ext cx="5484812" cy="577850"/>
          </a:xfrm>
        </p:spPr>
        <p:txBody>
          <a:bodyPr>
            <a:normAutofit/>
          </a:bodyPr>
          <a:lstStyle>
            <a:lvl1pPr>
              <a:defRPr sz="1800"/>
            </a:lvl1pPr>
          </a:lstStyle>
          <a:p>
            <a:pPr lvl="0"/>
            <a:r>
              <a:rPr lang="en-US" dirty="0"/>
              <a:t>July 19, 2012</a:t>
            </a:r>
          </a:p>
        </p:txBody>
      </p:sp>
    </p:spTree>
    <p:extLst>
      <p:ext uri="{BB962C8B-B14F-4D97-AF65-F5344CB8AC3E}">
        <p14:creationId xmlns:p14="http://schemas.microsoft.com/office/powerpoint/2010/main" val="41553295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- Turtle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3201988" y="2707457"/>
            <a:ext cx="5484812" cy="122443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1" hasCustomPrompt="1"/>
          </p:nvPr>
        </p:nvSpPr>
        <p:spPr>
          <a:xfrm>
            <a:off x="463550" y="3118590"/>
            <a:ext cx="1293813" cy="752475"/>
          </a:xfrm>
        </p:spPr>
        <p:txBody>
          <a:bodyPr lIns="0" tIns="0" rIns="0" bIns="0">
            <a:normAutofit/>
          </a:bodyPr>
          <a:lstStyle>
            <a:lvl1pPr algn="l"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Regional Unit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2" hasCustomPrompt="1"/>
          </p:nvPr>
        </p:nvSpPr>
        <p:spPr>
          <a:xfrm>
            <a:off x="3201988" y="4282303"/>
            <a:ext cx="5484812" cy="577850"/>
          </a:xfrm>
        </p:spPr>
        <p:txBody>
          <a:bodyPr>
            <a:normAutofit/>
          </a:bodyPr>
          <a:lstStyle>
            <a:lvl1pPr>
              <a:defRPr sz="1800"/>
            </a:lvl1pPr>
          </a:lstStyle>
          <a:p>
            <a:pPr lvl="0"/>
            <a:r>
              <a:rPr lang="en-US" dirty="0"/>
              <a:t>July 19, 2012</a:t>
            </a:r>
          </a:p>
        </p:txBody>
      </p:sp>
    </p:spTree>
    <p:extLst>
      <p:ext uri="{BB962C8B-B14F-4D97-AF65-F5344CB8AC3E}">
        <p14:creationId xmlns:p14="http://schemas.microsoft.com/office/powerpoint/2010/main" val="20445555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- Seafood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3201988" y="2707457"/>
            <a:ext cx="5484812" cy="122443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1" hasCustomPrompt="1"/>
          </p:nvPr>
        </p:nvSpPr>
        <p:spPr>
          <a:xfrm>
            <a:off x="463550" y="3118590"/>
            <a:ext cx="1293813" cy="752475"/>
          </a:xfrm>
        </p:spPr>
        <p:txBody>
          <a:bodyPr lIns="0" tIns="0" rIns="0" bIns="0">
            <a:normAutofit/>
          </a:bodyPr>
          <a:lstStyle>
            <a:lvl1pPr algn="l"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Regional Unit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2" hasCustomPrompt="1"/>
          </p:nvPr>
        </p:nvSpPr>
        <p:spPr>
          <a:xfrm>
            <a:off x="3201988" y="4282303"/>
            <a:ext cx="5484812" cy="577850"/>
          </a:xfrm>
        </p:spPr>
        <p:txBody>
          <a:bodyPr>
            <a:normAutofit/>
          </a:bodyPr>
          <a:lstStyle>
            <a:lvl1pPr>
              <a:defRPr sz="1800"/>
            </a:lvl1pPr>
          </a:lstStyle>
          <a:p>
            <a:pPr lvl="0"/>
            <a:r>
              <a:rPr lang="en-US" dirty="0"/>
              <a:t>July 19, 2012</a:t>
            </a:r>
          </a:p>
        </p:txBody>
      </p:sp>
    </p:spTree>
    <p:extLst>
      <p:ext uri="{BB962C8B-B14F-4D97-AF65-F5344CB8AC3E}">
        <p14:creationId xmlns:p14="http://schemas.microsoft.com/office/powerpoint/2010/main" val="28176384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- Fish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3201988" y="2707457"/>
            <a:ext cx="5484812" cy="122443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1" hasCustomPrompt="1"/>
          </p:nvPr>
        </p:nvSpPr>
        <p:spPr>
          <a:xfrm>
            <a:off x="463550" y="3118590"/>
            <a:ext cx="1293813" cy="752475"/>
          </a:xfrm>
        </p:spPr>
        <p:txBody>
          <a:bodyPr lIns="0" tIns="0" rIns="0" bIns="0">
            <a:normAutofit/>
          </a:bodyPr>
          <a:lstStyle>
            <a:lvl1pPr algn="l"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Regional Unit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2" hasCustomPrompt="1"/>
          </p:nvPr>
        </p:nvSpPr>
        <p:spPr>
          <a:xfrm>
            <a:off x="3201988" y="4282303"/>
            <a:ext cx="5484812" cy="577850"/>
          </a:xfrm>
        </p:spPr>
        <p:txBody>
          <a:bodyPr>
            <a:normAutofit/>
          </a:bodyPr>
          <a:lstStyle>
            <a:lvl1pPr>
              <a:defRPr sz="1800"/>
            </a:lvl1pPr>
          </a:lstStyle>
          <a:p>
            <a:pPr lvl="0"/>
            <a:r>
              <a:rPr lang="en-US" dirty="0"/>
              <a:t>July 19, 2012</a:t>
            </a:r>
          </a:p>
        </p:txBody>
      </p:sp>
    </p:spTree>
    <p:extLst>
      <p:ext uri="{BB962C8B-B14F-4D97-AF65-F5344CB8AC3E}">
        <p14:creationId xmlns:p14="http://schemas.microsoft.com/office/powerpoint/2010/main" val="4105196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- Dark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3201988" y="2707457"/>
            <a:ext cx="5484812" cy="1224439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1" hasCustomPrompt="1"/>
          </p:nvPr>
        </p:nvSpPr>
        <p:spPr>
          <a:xfrm>
            <a:off x="463550" y="3118590"/>
            <a:ext cx="1293813" cy="752475"/>
          </a:xfrm>
        </p:spPr>
        <p:txBody>
          <a:bodyPr lIns="0" tIns="0" rIns="0" bIns="0">
            <a:normAutofit/>
          </a:bodyPr>
          <a:lstStyle>
            <a:lvl1pPr algn="l"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Regional Unit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2" hasCustomPrompt="1"/>
          </p:nvPr>
        </p:nvSpPr>
        <p:spPr>
          <a:xfrm>
            <a:off x="3201988" y="4282303"/>
            <a:ext cx="5484812" cy="577850"/>
          </a:xfrm>
        </p:spPr>
        <p:txBody>
          <a:bodyPr>
            <a:normAutofit/>
          </a:bodyPr>
          <a:lstStyle>
            <a:lvl1pPr>
              <a:defRPr sz="18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 dirty="0"/>
              <a:t>July 19, 2012</a:t>
            </a:r>
          </a:p>
        </p:txBody>
      </p:sp>
      <p:sp>
        <p:nvSpPr>
          <p:cNvPr id="7" name="Freeform 6"/>
          <p:cNvSpPr/>
          <p:nvPr userDrawn="1"/>
        </p:nvSpPr>
        <p:spPr>
          <a:xfrm>
            <a:off x="-9190" y="4417160"/>
            <a:ext cx="9170673" cy="2457785"/>
          </a:xfrm>
          <a:custGeom>
            <a:avLst/>
            <a:gdLst>
              <a:gd name="connsiteX0" fmla="*/ 0 w 10289745"/>
              <a:gd name="connsiteY0" fmla="*/ 2348314 h 2694297"/>
              <a:gd name="connsiteX1" fmla="*/ 9145997 w 10289745"/>
              <a:gd name="connsiteY1" fmla="*/ 81 h 2694297"/>
              <a:gd name="connsiteX2" fmla="*/ 9145997 w 10289745"/>
              <a:gd name="connsiteY2" fmla="*/ 2436173 h 2694297"/>
              <a:gd name="connsiteX3" fmla="*/ 0 w 10289745"/>
              <a:gd name="connsiteY3" fmla="*/ 2348314 h 2694297"/>
              <a:gd name="connsiteX0" fmla="*/ 0 w 10289745"/>
              <a:gd name="connsiteY0" fmla="*/ 2348233 h 2694216"/>
              <a:gd name="connsiteX1" fmla="*/ 9145997 w 10289745"/>
              <a:gd name="connsiteY1" fmla="*/ 0 h 2694216"/>
              <a:gd name="connsiteX2" fmla="*/ 9145997 w 10289745"/>
              <a:gd name="connsiteY2" fmla="*/ 2436092 h 2694216"/>
              <a:gd name="connsiteX3" fmla="*/ 0 w 10289745"/>
              <a:gd name="connsiteY3" fmla="*/ 2348233 h 2694216"/>
              <a:gd name="connsiteX0" fmla="*/ 0 w 10289745"/>
              <a:gd name="connsiteY0" fmla="*/ 2348233 h 2694216"/>
              <a:gd name="connsiteX1" fmla="*/ 9145997 w 10289745"/>
              <a:gd name="connsiteY1" fmla="*/ 0 h 2694216"/>
              <a:gd name="connsiteX2" fmla="*/ 9145997 w 10289745"/>
              <a:gd name="connsiteY2" fmla="*/ 2436092 h 2694216"/>
              <a:gd name="connsiteX3" fmla="*/ 0 w 10289745"/>
              <a:gd name="connsiteY3" fmla="*/ 2348233 h 2694216"/>
              <a:gd name="connsiteX0" fmla="*/ 2 w 10271923"/>
              <a:gd name="connsiteY0" fmla="*/ 1961048 h 2259210"/>
              <a:gd name="connsiteX1" fmla="*/ 9115022 w 10271923"/>
              <a:gd name="connsiteY1" fmla="*/ 0 h 2259210"/>
              <a:gd name="connsiteX2" fmla="*/ 9145999 w 10271923"/>
              <a:gd name="connsiteY2" fmla="*/ 2048907 h 2259210"/>
              <a:gd name="connsiteX3" fmla="*/ 2 w 10271923"/>
              <a:gd name="connsiteY3" fmla="*/ 1961048 h 2259210"/>
              <a:gd name="connsiteX0" fmla="*/ 2 w 10302372"/>
              <a:gd name="connsiteY0" fmla="*/ 2355976 h 2702917"/>
              <a:gd name="connsiteX1" fmla="*/ 9169232 w 10302372"/>
              <a:gd name="connsiteY1" fmla="*/ 0 h 2702917"/>
              <a:gd name="connsiteX2" fmla="*/ 9145999 w 10302372"/>
              <a:gd name="connsiteY2" fmla="*/ 2443835 h 2702917"/>
              <a:gd name="connsiteX3" fmla="*/ 2 w 10302372"/>
              <a:gd name="connsiteY3" fmla="*/ 2355976 h 2702917"/>
              <a:gd name="connsiteX0" fmla="*/ 2 w 10302372"/>
              <a:gd name="connsiteY0" fmla="*/ 2355976 h 2702917"/>
              <a:gd name="connsiteX1" fmla="*/ 9169232 w 10302372"/>
              <a:gd name="connsiteY1" fmla="*/ 0 h 2702917"/>
              <a:gd name="connsiteX2" fmla="*/ 9145999 w 10302372"/>
              <a:gd name="connsiteY2" fmla="*/ 2443835 h 2702917"/>
              <a:gd name="connsiteX3" fmla="*/ 2 w 10302372"/>
              <a:gd name="connsiteY3" fmla="*/ 2355976 h 2702917"/>
              <a:gd name="connsiteX0" fmla="*/ 2 w 10302372"/>
              <a:gd name="connsiteY0" fmla="*/ 2355976 h 2702917"/>
              <a:gd name="connsiteX1" fmla="*/ 9169232 w 10302372"/>
              <a:gd name="connsiteY1" fmla="*/ 0 h 2702917"/>
              <a:gd name="connsiteX2" fmla="*/ 9145999 w 10302372"/>
              <a:gd name="connsiteY2" fmla="*/ 2443835 h 2702917"/>
              <a:gd name="connsiteX3" fmla="*/ 2 w 10302372"/>
              <a:gd name="connsiteY3" fmla="*/ 2355976 h 2702917"/>
              <a:gd name="connsiteX0" fmla="*/ 1 w 10359948"/>
              <a:gd name="connsiteY0" fmla="*/ 2534080 h 2803153"/>
              <a:gd name="connsiteX1" fmla="*/ 9223441 w 10359948"/>
              <a:gd name="connsiteY1" fmla="*/ 0 h 2803153"/>
              <a:gd name="connsiteX2" fmla="*/ 9200208 w 10359948"/>
              <a:gd name="connsiteY2" fmla="*/ 2443835 h 2803153"/>
              <a:gd name="connsiteX3" fmla="*/ 1 w 10359948"/>
              <a:gd name="connsiteY3" fmla="*/ 2534080 h 2803153"/>
              <a:gd name="connsiteX0" fmla="*/ 2 w 10302373"/>
              <a:gd name="connsiteY0" fmla="*/ 2371463 h 2710654"/>
              <a:gd name="connsiteX1" fmla="*/ 9169233 w 10302373"/>
              <a:gd name="connsiteY1" fmla="*/ 0 h 2710654"/>
              <a:gd name="connsiteX2" fmla="*/ 9146000 w 10302373"/>
              <a:gd name="connsiteY2" fmla="*/ 2443835 h 2710654"/>
              <a:gd name="connsiteX3" fmla="*/ 2 w 10302373"/>
              <a:gd name="connsiteY3" fmla="*/ 2371463 h 2710654"/>
              <a:gd name="connsiteX0" fmla="*/ 22101 w 10324472"/>
              <a:gd name="connsiteY0" fmla="*/ 2371463 h 2601940"/>
              <a:gd name="connsiteX1" fmla="*/ 9191332 w 10324472"/>
              <a:gd name="connsiteY1" fmla="*/ 0 h 2601940"/>
              <a:gd name="connsiteX2" fmla="*/ 9168099 w 10324472"/>
              <a:gd name="connsiteY2" fmla="*/ 2443835 h 2601940"/>
              <a:gd name="connsiteX3" fmla="*/ 22101 w 10324472"/>
              <a:gd name="connsiteY3" fmla="*/ 2371463 h 2601940"/>
              <a:gd name="connsiteX0" fmla="*/ 454248 w 10756619"/>
              <a:gd name="connsiteY0" fmla="*/ 2371463 h 2635640"/>
              <a:gd name="connsiteX1" fmla="*/ 9623479 w 10756619"/>
              <a:gd name="connsiteY1" fmla="*/ 0 h 2635640"/>
              <a:gd name="connsiteX2" fmla="*/ 9600246 w 10756619"/>
              <a:gd name="connsiteY2" fmla="*/ 2443835 h 2635640"/>
              <a:gd name="connsiteX3" fmla="*/ 2243166 w 10756619"/>
              <a:gd name="connsiteY3" fmla="*/ 2466974 h 2635640"/>
              <a:gd name="connsiteX4" fmla="*/ 454248 w 10756619"/>
              <a:gd name="connsiteY4" fmla="*/ 2371463 h 2635640"/>
              <a:gd name="connsiteX0" fmla="*/ 1153431 w 11456764"/>
              <a:gd name="connsiteY0" fmla="*/ 2371463 h 2641277"/>
              <a:gd name="connsiteX1" fmla="*/ 10322662 w 11456764"/>
              <a:gd name="connsiteY1" fmla="*/ 0 h 2641277"/>
              <a:gd name="connsiteX2" fmla="*/ 10299429 w 11456764"/>
              <a:gd name="connsiteY2" fmla="*/ 2443835 h 2641277"/>
              <a:gd name="connsiteX3" fmla="*/ 1137944 w 11456764"/>
              <a:gd name="connsiteY3" fmla="*/ 2482461 h 2641277"/>
              <a:gd name="connsiteX4" fmla="*/ 1153431 w 11456764"/>
              <a:gd name="connsiteY4" fmla="*/ 2371463 h 2641277"/>
              <a:gd name="connsiteX0" fmla="*/ 15487 w 10318820"/>
              <a:gd name="connsiteY0" fmla="*/ 2371463 h 2641277"/>
              <a:gd name="connsiteX1" fmla="*/ 9184718 w 10318820"/>
              <a:gd name="connsiteY1" fmla="*/ 0 h 2641277"/>
              <a:gd name="connsiteX2" fmla="*/ 9161485 w 10318820"/>
              <a:gd name="connsiteY2" fmla="*/ 2443835 h 2641277"/>
              <a:gd name="connsiteX3" fmla="*/ 0 w 10318820"/>
              <a:gd name="connsiteY3" fmla="*/ 2482461 h 2641277"/>
              <a:gd name="connsiteX4" fmla="*/ 15487 w 10318820"/>
              <a:gd name="connsiteY4" fmla="*/ 2371463 h 2641277"/>
              <a:gd name="connsiteX0" fmla="*/ 15487 w 10318820"/>
              <a:gd name="connsiteY0" fmla="*/ 2371463 h 2641277"/>
              <a:gd name="connsiteX1" fmla="*/ 9184718 w 10318820"/>
              <a:gd name="connsiteY1" fmla="*/ 0 h 2641277"/>
              <a:gd name="connsiteX2" fmla="*/ 9161485 w 10318820"/>
              <a:gd name="connsiteY2" fmla="*/ 2443835 h 2641277"/>
              <a:gd name="connsiteX3" fmla="*/ 0 w 10318820"/>
              <a:gd name="connsiteY3" fmla="*/ 2482461 h 2641277"/>
              <a:gd name="connsiteX4" fmla="*/ 15487 w 10318820"/>
              <a:gd name="connsiteY4" fmla="*/ 2371463 h 2641277"/>
              <a:gd name="connsiteX0" fmla="*/ 15487 w 10318820"/>
              <a:gd name="connsiteY0" fmla="*/ 2371463 h 2641277"/>
              <a:gd name="connsiteX1" fmla="*/ 9184718 w 10318820"/>
              <a:gd name="connsiteY1" fmla="*/ 0 h 2641277"/>
              <a:gd name="connsiteX2" fmla="*/ 9161485 w 10318820"/>
              <a:gd name="connsiteY2" fmla="*/ 2443835 h 2641277"/>
              <a:gd name="connsiteX3" fmla="*/ 0 w 10318820"/>
              <a:gd name="connsiteY3" fmla="*/ 2482461 h 2641277"/>
              <a:gd name="connsiteX4" fmla="*/ 15487 w 10318820"/>
              <a:gd name="connsiteY4" fmla="*/ 2371463 h 2641277"/>
              <a:gd name="connsiteX0" fmla="*/ 15487 w 10318820"/>
              <a:gd name="connsiteY0" fmla="*/ 2371463 h 2641277"/>
              <a:gd name="connsiteX1" fmla="*/ 9184718 w 10318820"/>
              <a:gd name="connsiteY1" fmla="*/ 0 h 2641277"/>
              <a:gd name="connsiteX2" fmla="*/ 9161485 w 10318820"/>
              <a:gd name="connsiteY2" fmla="*/ 2443835 h 2641277"/>
              <a:gd name="connsiteX3" fmla="*/ 0 w 10318820"/>
              <a:gd name="connsiteY3" fmla="*/ 2482461 h 2641277"/>
              <a:gd name="connsiteX4" fmla="*/ 15487 w 10318820"/>
              <a:gd name="connsiteY4" fmla="*/ 2371463 h 2641277"/>
              <a:gd name="connsiteX0" fmla="*/ 15487 w 10318820"/>
              <a:gd name="connsiteY0" fmla="*/ 2371463 h 2482461"/>
              <a:gd name="connsiteX1" fmla="*/ 9184718 w 10318820"/>
              <a:gd name="connsiteY1" fmla="*/ 0 h 2482461"/>
              <a:gd name="connsiteX2" fmla="*/ 9161485 w 10318820"/>
              <a:gd name="connsiteY2" fmla="*/ 2443835 h 2482461"/>
              <a:gd name="connsiteX3" fmla="*/ 0 w 10318820"/>
              <a:gd name="connsiteY3" fmla="*/ 2482461 h 2482461"/>
              <a:gd name="connsiteX4" fmla="*/ 15487 w 10318820"/>
              <a:gd name="connsiteY4" fmla="*/ 2371463 h 2482461"/>
              <a:gd name="connsiteX0" fmla="*/ 15487 w 10252186"/>
              <a:gd name="connsiteY0" fmla="*/ 2371463 h 2482461"/>
              <a:gd name="connsiteX1" fmla="*/ 9184718 w 10252186"/>
              <a:gd name="connsiteY1" fmla="*/ 0 h 2482461"/>
              <a:gd name="connsiteX2" fmla="*/ 9022088 w 10252186"/>
              <a:gd name="connsiteY2" fmla="*/ 2242499 h 2482461"/>
              <a:gd name="connsiteX3" fmla="*/ 0 w 10252186"/>
              <a:gd name="connsiteY3" fmla="*/ 2482461 h 2482461"/>
              <a:gd name="connsiteX4" fmla="*/ 15487 w 10252186"/>
              <a:gd name="connsiteY4" fmla="*/ 2371463 h 2482461"/>
              <a:gd name="connsiteX0" fmla="*/ 15487 w 10311181"/>
              <a:gd name="connsiteY0" fmla="*/ 2371463 h 2482461"/>
              <a:gd name="connsiteX1" fmla="*/ 9184718 w 10311181"/>
              <a:gd name="connsiteY1" fmla="*/ 0 h 2482461"/>
              <a:gd name="connsiteX2" fmla="*/ 9145996 w 10311181"/>
              <a:gd name="connsiteY2" fmla="*/ 2443835 h 2482461"/>
              <a:gd name="connsiteX3" fmla="*/ 0 w 10311181"/>
              <a:gd name="connsiteY3" fmla="*/ 2482461 h 2482461"/>
              <a:gd name="connsiteX4" fmla="*/ 15487 w 10311181"/>
              <a:gd name="connsiteY4" fmla="*/ 2371463 h 2482461"/>
              <a:gd name="connsiteX0" fmla="*/ 15487 w 9184718"/>
              <a:gd name="connsiteY0" fmla="*/ 2371463 h 2482461"/>
              <a:gd name="connsiteX1" fmla="*/ 9184718 w 9184718"/>
              <a:gd name="connsiteY1" fmla="*/ 0 h 2482461"/>
              <a:gd name="connsiteX2" fmla="*/ 9145996 w 9184718"/>
              <a:gd name="connsiteY2" fmla="*/ 2443835 h 2482461"/>
              <a:gd name="connsiteX3" fmla="*/ 0 w 9184718"/>
              <a:gd name="connsiteY3" fmla="*/ 2482461 h 2482461"/>
              <a:gd name="connsiteX4" fmla="*/ 15487 w 9184718"/>
              <a:gd name="connsiteY4" fmla="*/ 2371463 h 2482461"/>
              <a:gd name="connsiteX0" fmla="*/ 15487 w 9184718"/>
              <a:gd name="connsiteY0" fmla="*/ 2371463 h 2482461"/>
              <a:gd name="connsiteX1" fmla="*/ 9184718 w 9184718"/>
              <a:gd name="connsiteY1" fmla="*/ 0 h 2482461"/>
              <a:gd name="connsiteX2" fmla="*/ 9176973 w 9184718"/>
              <a:gd name="connsiteY2" fmla="*/ 2459323 h 2482461"/>
              <a:gd name="connsiteX3" fmla="*/ 0 w 9184718"/>
              <a:gd name="connsiteY3" fmla="*/ 2482461 h 2482461"/>
              <a:gd name="connsiteX4" fmla="*/ 15487 w 9184718"/>
              <a:gd name="connsiteY4" fmla="*/ 2371463 h 2482461"/>
              <a:gd name="connsiteX0" fmla="*/ 15487 w 9184718"/>
              <a:gd name="connsiteY0" fmla="*/ 2371463 h 2482461"/>
              <a:gd name="connsiteX1" fmla="*/ 9184718 w 9184718"/>
              <a:gd name="connsiteY1" fmla="*/ 0 h 2482461"/>
              <a:gd name="connsiteX2" fmla="*/ 9176973 w 9184718"/>
              <a:gd name="connsiteY2" fmla="*/ 2459323 h 2482461"/>
              <a:gd name="connsiteX3" fmla="*/ 0 w 9184718"/>
              <a:gd name="connsiteY3" fmla="*/ 2482461 h 2482461"/>
              <a:gd name="connsiteX4" fmla="*/ 15487 w 9184718"/>
              <a:gd name="connsiteY4" fmla="*/ 2371463 h 2482461"/>
              <a:gd name="connsiteX0" fmla="*/ 15487 w 9184718"/>
              <a:gd name="connsiteY0" fmla="*/ 2371463 h 2482461"/>
              <a:gd name="connsiteX1" fmla="*/ 9184718 w 9184718"/>
              <a:gd name="connsiteY1" fmla="*/ 0 h 2482461"/>
              <a:gd name="connsiteX2" fmla="*/ 9176973 w 9184718"/>
              <a:gd name="connsiteY2" fmla="*/ 2459323 h 2482461"/>
              <a:gd name="connsiteX3" fmla="*/ 0 w 9184718"/>
              <a:gd name="connsiteY3" fmla="*/ 2482461 h 2482461"/>
              <a:gd name="connsiteX4" fmla="*/ 15487 w 9184718"/>
              <a:gd name="connsiteY4" fmla="*/ 2371463 h 2482461"/>
              <a:gd name="connsiteX0" fmla="*/ 15487 w 9184718"/>
              <a:gd name="connsiteY0" fmla="*/ 2371463 h 2482461"/>
              <a:gd name="connsiteX1" fmla="*/ 9184718 w 9184718"/>
              <a:gd name="connsiteY1" fmla="*/ 0 h 2482461"/>
              <a:gd name="connsiteX2" fmla="*/ 9176973 w 9184718"/>
              <a:gd name="connsiteY2" fmla="*/ 2459323 h 2482461"/>
              <a:gd name="connsiteX3" fmla="*/ 0 w 9184718"/>
              <a:gd name="connsiteY3" fmla="*/ 2482461 h 2482461"/>
              <a:gd name="connsiteX4" fmla="*/ 15487 w 9184718"/>
              <a:gd name="connsiteY4" fmla="*/ 2371463 h 2482461"/>
              <a:gd name="connsiteX0" fmla="*/ 15487 w 9184718"/>
              <a:gd name="connsiteY0" fmla="*/ 2371463 h 2482461"/>
              <a:gd name="connsiteX1" fmla="*/ 9184718 w 9184718"/>
              <a:gd name="connsiteY1" fmla="*/ 0 h 2482461"/>
              <a:gd name="connsiteX2" fmla="*/ 9176973 w 9184718"/>
              <a:gd name="connsiteY2" fmla="*/ 2459323 h 2482461"/>
              <a:gd name="connsiteX3" fmla="*/ 0 w 9184718"/>
              <a:gd name="connsiteY3" fmla="*/ 2482461 h 2482461"/>
              <a:gd name="connsiteX4" fmla="*/ 15487 w 9184718"/>
              <a:gd name="connsiteY4" fmla="*/ 2371463 h 2482461"/>
              <a:gd name="connsiteX0" fmla="*/ 15487 w 9184718"/>
              <a:gd name="connsiteY0" fmla="*/ 2371463 h 2482461"/>
              <a:gd name="connsiteX1" fmla="*/ 9184718 w 9184718"/>
              <a:gd name="connsiteY1" fmla="*/ 0 h 2482461"/>
              <a:gd name="connsiteX2" fmla="*/ 9176973 w 9184718"/>
              <a:gd name="connsiteY2" fmla="*/ 2459323 h 2482461"/>
              <a:gd name="connsiteX3" fmla="*/ 0 w 9184718"/>
              <a:gd name="connsiteY3" fmla="*/ 2482461 h 2482461"/>
              <a:gd name="connsiteX4" fmla="*/ 15487 w 9184718"/>
              <a:gd name="connsiteY4" fmla="*/ 2371463 h 2482461"/>
              <a:gd name="connsiteX0" fmla="*/ 0 w 9215696"/>
              <a:gd name="connsiteY0" fmla="*/ 2371463 h 2482461"/>
              <a:gd name="connsiteX1" fmla="*/ 9215696 w 9215696"/>
              <a:gd name="connsiteY1" fmla="*/ 0 h 2482461"/>
              <a:gd name="connsiteX2" fmla="*/ 9207951 w 9215696"/>
              <a:gd name="connsiteY2" fmla="*/ 2459323 h 2482461"/>
              <a:gd name="connsiteX3" fmla="*/ 30978 w 9215696"/>
              <a:gd name="connsiteY3" fmla="*/ 2482461 h 2482461"/>
              <a:gd name="connsiteX4" fmla="*/ 0 w 9215696"/>
              <a:gd name="connsiteY4" fmla="*/ 2371463 h 2482461"/>
              <a:gd name="connsiteX0" fmla="*/ 0 w 9215696"/>
              <a:gd name="connsiteY0" fmla="*/ 2371463 h 2497949"/>
              <a:gd name="connsiteX1" fmla="*/ 9215696 w 9215696"/>
              <a:gd name="connsiteY1" fmla="*/ 0 h 2497949"/>
              <a:gd name="connsiteX2" fmla="*/ 9207951 w 9215696"/>
              <a:gd name="connsiteY2" fmla="*/ 2459323 h 2497949"/>
              <a:gd name="connsiteX3" fmla="*/ 2 w 9215696"/>
              <a:gd name="connsiteY3" fmla="*/ 2497949 h 2497949"/>
              <a:gd name="connsiteX4" fmla="*/ 0 w 9215696"/>
              <a:gd name="connsiteY4" fmla="*/ 2371463 h 2497949"/>
              <a:gd name="connsiteX0" fmla="*/ 0 w 9215696"/>
              <a:gd name="connsiteY0" fmla="*/ 2371463 h 2474718"/>
              <a:gd name="connsiteX1" fmla="*/ 9215696 w 9215696"/>
              <a:gd name="connsiteY1" fmla="*/ 0 h 2474718"/>
              <a:gd name="connsiteX2" fmla="*/ 9207951 w 9215696"/>
              <a:gd name="connsiteY2" fmla="*/ 2459323 h 2474718"/>
              <a:gd name="connsiteX3" fmla="*/ 30979 w 9215696"/>
              <a:gd name="connsiteY3" fmla="*/ 2474718 h 2474718"/>
              <a:gd name="connsiteX4" fmla="*/ 0 w 9215696"/>
              <a:gd name="connsiteY4" fmla="*/ 2371463 h 2474718"/>
              <a:gd name="connsiteX0" fmla="*/ 0 w 9208117"/>
              <a:gd name="connsiteY0" fmla="*/ 2371463 h 2474718"/>
              <a:gd name="connsiteX1" fmla="*/ 9184719 w 9208117"/>
              <a:gd name="connsiteY1" fmla="*/ 0 h 2474718"/>
              <a:gd name="connsiteX2" fmla="*/ 9207951 w 9208117"/>
              <a:gd name="connsiteY2" fmla="*/ 2459323 h 2474718"/>
              <a:gd name="connsiteX3" fmla="*/ 30979 w 9208117"/>
              <a:gd name="connsiteY3" fmla="*/ 2474718 h 2474718"/>
              <a:gd name="connsiteX4" fmla="*/ 0 w 9208117"/>
              <a:gd name="connsiteY4" fmla="*/ 2371463 h 2474718"/>
              <a:gd name="connsiteX0" fmla="*/ 0 w 9184719"/>
              <a:gd name="connsiteY0" fmla="*/ 2371463 h 2474718"/>
              <a:gd name="connsiteX1" fmla="*/ 9184719 w 9184719"/>
              <a:gd name="connsiteY1" fmla="*/ 0 h 2474718"/>
              <a:gd name="connsiteX2" fmla="*/ 9115020 w 9184719"/>
              <a:gd name="connsiteY2" fmla="*/ 2381886 h 2474718"/>
              <a:gd name="connsiteX3" fmla="*/ 30979 w 9184719"/>
              <a:gd name="connsiteY3" fmla="*/ 2474718 h 2474718"/>
              <a:gd name="connsiteX4" fmla="*/ 0 w 9184719"/>
              <a:gd name="connsiteY4" fmla="*/ 2371463 h 2474718"/>
              <a:gd name="connsiteX0" fmla="*/ 0 w 9184719"/>
              <a:gd name="connsiteY0" fmla="*/ 2371463 h 2474718"/>
              <a:gd name="connsiteX1" fmla="*/ 9184719 w 9184719"/>
              <a:gd name="connsiteY1" fmla="*/ 0 h 2474718"/>
              <a:gd name="connsiteX2" fmla="*/ 9169230 w 9184719"/>
              <a:gd name="connsiteY2" fmla="*/ 2451580 h 2474718"/>
              <a:gd name="connsiteX3" fmla="*/ 30979 w 9184719"/>
              <a:gd name="connsiteY3" fmla="*/ 2474718 h 2474718"/>
              <a:gd name="connsiteX4" fmla="*/ 0 w 9184719"/>
              <a:gd name="connsiteY4" fmla="*/ 2371463 h 2474718"/>
              <a:gd name="connsiteX0" fmla="*/ 0 w 9167786"/>
              <a:gd name="connsiteY0" fmla="*/ 2375696 h 2474718"/>
              <a:gd name="connsiteX1" fmla="*/ 9167786 w 9167786"/>
              <a:gd name="connsiteY1" fmla="*/ 0 h 2474718"/>
              <a:gd name="connsiteX2" fmla="*/ 9152297 w 9167786"/>
              <a:gd name="connsiteY2" fmla="*/ 2451580 h 2474718"/>
              <a:gd name="connsiteX3" fmla="*/ 14046 w 9167786"/>
              <a:gd name="connsiteY3" fmla="*/ 2474718 h 2474718"/>
              <a:gd name="connsiteX4" fmla="*/ 0 w 9167786"/>
              <a:gd name="connsiteY4" fmla="*/ 2375696 h 2474718"/>
              <a:gd name="connsiteX0" fmla="*/ 2887 w 9170673"/>
              <a:gd name="connsiteY0" fmla="*/ 2375696 h 2474718"/>
              <a:gd name="connsiteX1" fmla="*/ 9170673 w 9170673"/>
              <a:gd name="connsiteY1" fmla="*/ 0 h 2474718"/>
              <a:gd name="connsiteX2" fmla="*/ 9155184 w 9170673"/>
              <a:gd name="connsiteY2" fmla="*/ 2451580 h 2474718"/>
              <a:gd name="connsiteX3" fmla="*/ 0 w 9170673"/>
              <a:gd name="connsiteY3" fmla="*/ 2474718 h 2474718"/>
              <a:gd name="connsiteX4" fmla="*/ 2887 w 9170673"/>
              <a:gd name="connsiteY4" fmla="*/ 2375696 h 2474718"/>
              <a:gd name="connsiteX0" fmla="*/ 2887 w 9170673"/>
              <a:gd name="connsiteY0" fmla="*/ 2375696 h 2457785"/>
              <a:gd name="connsiteX1" fmla="*/ 9170673 w 9170673"/>
              <a:gd name="connsiteY1" fmla="*/ 0 h 2457785"/>
              <a:gd name="connsiteX2" fmla="*/ 9155184 w 9170673"/>
              <a:gd name="connsiteY2" fmla="*/ 2451580 h 2457785"/>
              <a:gd name="connsiteX3" fmla="*/ 0 w 9170673"/>
              <a:gd name="connsiteY3" fmla="*/ 2457785 h 2457785"/>
              <a:gd name="connsiteX4" fmla="*/ 2887 w 9170673"/>
              <a:gd name="connsiteY4" fmla="*/ 2375696 h 24577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70673" h="2457785">
                <a:moveTo>
                  <a:pt x="2887" y="2375696"/>
                </a:moveTo>
                <a:cubicBezTo>
                  <a:pt x="23548" y="2372367"/>
                  <a:pt x="7344315" y="2502055"/>
                  <a:pt x="9170673" y="0"/>
                </a:cubicBezTo>
                <a:cubicBezTo>
                  <a:pt x="9168091" y="819774"/>
                  <a:pt x="9157766" y="1631806"/>
                  <a:pt x="9155184" y="2451580"/>
                </a:cubicBezTo>
                <a:lnTo>
                  <a:pt x="0" y="2457785"/>
                </a:lnTo>
                <a:cubicBezTo>
                  <a:pt x="-1" y="2415623"/>
                  <a:pt x="2888" y="2417858"/>
                  <a:pt x="2887" y="2375696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61079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3201988" y="3360605"/>
            <a:ext cx="5484812" cy="1224439"/>
          </a:xfrm>
        </p:spPr>
        <p:txBody>
          <a:bodyPr/>
          <a:lstStyle>
            <a:lvl1pPr marL="0" indent="0" algn="r">
              <a:buNone/>
              <a:defRPr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10" name="Picture 9" descr="umasslogo.gif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6285" y="5658757"/>
            <a:ext cx="4953000" cy="1270000"/>
          </a:xfrm>
          <a:prstGeom prst="rect">
            <a:avLst/>
          </a:prstGeom>
        </p:spPr>
      </p:pic>
      <p:pic>
        <p:nvPicPr>
          <p:cNvPr id="12" name="Picture 11" descr="smast-logo.jp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857500" cy="2857500"/>
          </a:xfrm>
          <a:prstGeom prst="rect">
            <a:avLst/>
          </a:prstGeom>
        </p:spPr>
      </p:pic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3201682" y="1613384"/>
            <a:ext cx="5485118" cy="1398472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34618833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83923"/>
            <a:ext cx="8229600" cy="688359"/>
          </a:xfrm>
        </p:spPr>
        <p:txBody>
          <a:bodyPr>
            <a:normAutofit/>
          </a:bodyPr>
          <a:lstStyle>
            <a:lvl1pPr algn="l"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51870"/>
            <a:ext cx="8229600" cy="5588417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7192419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5F1CB0-951D-8740-94E3-4A6F7DDA25E2}" type="datetimeFigureOut">
              <a:rPr lang="en-US" smtClean="0"/>
              <a:t>12/2/25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672BB5-8B8B-B44E-AC1F-0F53DFE288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96362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5F1CB0-951D-8740-94E3-4A6F7DDA25E2}" type="datetimeFigureOut">
              <a:rPr lang="en-US" smtClean="0"/>
              <a:t>12/2/25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672BB5-8B8B-B44E-AC1F-0F53DFE288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571433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5F1CB0-951D-8740-94E3-4A6F7DDA25E2}" type="datetimeFigureOut">
              <a:rPr lang="en-US" smtClean="0"/>
              <a:t>12/2/25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672BB5-8B8B-B44E-AC1F-0F53DFE288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43910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5F1CB0-951D-8740-94E3-4A6F7DDA25E2}" type="datetimeFigureOut">
              <a:rPr lang="en-US" smtClean="0"/>
              <a:t>12/2/25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672BB5-8B8B-B44E-AC1F-0F53DFE288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1592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5F1CB0-951D-8740-94E3-4A6F7DDA25E2}" type="datetimeFigureOut">
              <a:rPr lang="en-US" smtClean="0"/>
              <a:t>12/2/25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672BB5-8B8B-B44E-AC1F-0F53DFE288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222072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5F1CB0-951D-8740-94E3-4A6F7DDA25E2}" type="datetimeFigureOut">
              <a:rPr lang="en-US" smtClean="0"/>
              <a:t>12/2/25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672BB5-8B8B-B44E-AC1F-0F53DFE288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112581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5F1CB0-951D-8740-94E3-4A6F7DDA25E2}" type="datetimeFigureOut">
              <a:rPr lang="en-US" smtClean="0"/>
              <a:t>12/2/25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672BB5-8B8B-B44E-AC1F-0F53DFE288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848996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5F1CB0-951D-8740-94E3-4A6F7DDA25E2}" type="datetimeFigureOut">
              <a:rPr lang="en-US" smtClean="0"/>
              <a:t>12/2/25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672BB5-8B8B-B44E-AC1F-0F53DFE288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352584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5F1CB0-951D-8740-94E3-4A6F7DDA25E2}" type="datetimeFigureOut">
              <a:rPr lang="en-US" smtClean="0"/>
              <a:t>12/2/25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672BB5-8B8B-B44E-AC1F-0F53DFE288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38021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8.xml"/><Relationship Id="rId7" Type="http://schemas.openxmlformats.org/officeDocument/2006/relationships/theme" Target="../theme/theme3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5" Type="http://schemas.openxmlformats.org/officeDocument/2006/relationships/slideLayout" Target="../slideLayouts/slideLayout10.xml"/><Relationship Id="rId4" Type="http://schemas.openxmlformats.org/officeDocument/2006/relationships/slideLayout" Target="../slideLayouts/slideLayout9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676014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7293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86" r:id="rId2"/>
  </p:sldLayoutIdLst>
  <p:hf hdr="0"/>
  <p:txStyles>
    <p:titleStyle>
      <a:lvl1pPr algn="l" defTabSz="457200" rtl="0" eaLnBrk="1" latinLnBrk="0" hangingPunct="1">
        <a:spcBef>
          <a:spcPct val="0"/>
        </a:spcBef>
        <a:buNone/>
        <a:defRPr sz="3600" b="1" i="0" kern="1200">
          <a:solidFill>
            <a:schemeClr val="accent1"/>
          </a:solidFill>
          <a:latin typeface="+mj-lt"/>
          <a:ea typeface="+mj-ea"/>
          <a:cs typeface="Arial Narrow Bold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2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8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•"/>
        <a:defRPr sz="28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•"/>
        <a:defRPr sz="28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676014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7293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335868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85" r:id="rId2"/>
    <p:sldLayoutId id="2147483687" r:id="rId3"/>
  </p:sldLayoutIdLst>
  <p:hf hdr="0"/>
  <p:txStyles>
    <p:titleStyle>
      <a:lvl1pPr algn="l" defTabSz="457200" rtl="0" eaLnBrk="1" latinLnBrk="0" hangingPunct="1">
        <a:spcBef>
          <a:spcPct val="0"/>
        </a:spcBef>
        <a:buNone/>
        <a:defRPr sz="3600" b="1" i="0" kern="1200">
          <a:solidFill>
            <a:srgbClr val="FFFFFF"/>
          </a:solidFill>
          <a:latin typeface="+mj-lt"/>
          <a:ea typeface="+mj-ea"/>
          <a:cs typeface="Arial Narrow Bold"/>
        </a:defRPr>
      </a:lvl1pPr>
    </p:titleStyle>
    <p:bodyStyle>
      <a:lvl1pPr marL="0" indent="0" algn="r" defTabSz="457200" rtl="0" eaLnBrk="1" latinLnBrk="0" hangingPunct="1">
        <a:spcBef>
          <a:spcPct val="20000"/>
        </a:spcBef>
        <a:buFont typeface="Arial"/>
        <a:buNone/>
        <a:defRPr sz="2000" kern="1200">
          <a:solidFill>
            <a:srgbClr val="FFFFFF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8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•"/>
        <a:defRPr sz="28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•"/>
        <a:defRPr sz="28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rotWithShape="1">
          <a:blip r:embed="rId8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201682" y="1141666"/>
            <a:ext cx="5485118" cy="1398472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01682" y="2631403"/>
            <a:ext cx="5485117" cy="12776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104623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  <p:sldLayoutId id="2147483675" r:id="rId4"/>
    <p:sldLayoutId id="2147483676" r:id="rId5"/>
    <p:sldLayoutId id="2147483678" r:id="rId6"/>
  </p:sldLayoutIdLst>
  <p:hf hdr="0"/>
  <p:txStyles>
    <p:titleStyle>
      <a:lvl1pPr algn="r" defTabSz="457200" rtl="0" eaLnBrk="1" latinLnBrk="0" hangingPunct="1">
        <a:lnSpc>
          <a:spcPct val="80000"/>
        </a:lnSpc>
        <a:spcBef>
          <a:spcPct val="0"/>
        </a:spcBef>
        <a:buNone/>
        <a:defRPr sz="4400" b="1" i="0" kern="1200">
          <a:solidFill>
            <a:schemeClr val="accent1"/>
          </a:solidFill>
          <a:latin typeface="+mj-lt"/>
          <a:ea typeface="+mj-ea"/>
          <a:cs typeface="Arial Narrow Bold"/>
        </a:defRPr>
      </a:lvl1pPr>
    </p:titleStyle>
    <p:bodyStyle>
      <a:lvl1pPr marL="0" indent="0" algn="r" defTabSz="457200" rtl="0" eaLnBrk="1" latinLnBrk="0" hangingPunct="1">
        <a:spcBef>
          <a:spcPct val="20000"/>
        </a:spcBef>
        <a:buFont typeface="Arial"/>
        <a:buNone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8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•"/>
        <a:defRPr sz="28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•"/>
        <a:defRPr sz="28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5F1CB0-951D-8740-94E3-4A6F7DDA25E2}" type="datetimeFigureOut">
              <a:rPr lang="en-US" smtClean="0"/>
              <a:t>12/2/25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672BB5-8B8B-B44E-AC1F-0F53DFE288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33748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1" r:id="rId3"/>
    <p:sldLayoutId id="2147483692" r:id="rId4"/>
    <p:sldLayoutId id="2147483693" r:id="rId5"/>
    <p:sldLayoutId id="2147483694" r:id="rId6"/>
    <p:sldLayoutId id="2147483695" r:id="rId7"/>
    <p:sldLayoutId id="2147483696" r:id="rId8"/>
    <p:sldLayoutId id="2147483697" r:id="rId9"/>
    <p:sldLayoutId id="2147483698" r:id="rId10"/>
    <p:sldLayoutId id="214748369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7.emf"/><Relationship Id="rId4" Type="http://schemas.openxmlformats.org/officeDocument/2006/relationships/oleObject" Target="../embeddings/oleObject2.bin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9.emf"/><Relationship Id="rId4" Type="http://schemas.openxmlformats.org/officeDocument/2006/relationships/oleObject" Target="../embeddings/oleObject4.bin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wmf"/><Relationship Id="rId2" Type="http://schemas.openxmlformats.org/officeDocument/2006/relationships/oleObject" Target="../embeddings/oleObject5.bin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22.emf"/><Relationship Id="rId4" Type="http://schemas.openxmlformats.org/officeDocument/2006/relationships/oleObject" Target="../embeddings/oleObject6.bin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image" Target="../media/image23.emf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4.e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emf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emf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39.png"/><Relationship Id="rId5" Type="http://schemas.openxmlformats.org/officeDocument/2006/relationships/image" Target="../media/image38.jpeg"/><Relationship Id="rId4" Type="http://schemas.openxmlformats.org/officeDocument/2006/relationships/image" Target="../media/image37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atsa-es.github.io/marssTMB/" TargetMode="External"/><Relationship Id="rId2" Type="http://schemas.openxmlformats.org/officeDocument/2006/relationships/image" Target="../media/image42.wmf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jpe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atsa-es.github.io/marssTMB/" TargetMode="External"/><Relationship Id="rId2" Type="http://schemas.openxmlformats.org/officeDocument/2006/relationships/hyperlink" Target="https://cran.r-project.org/web/packages/MARSS/vignettes/UserGuide.pdf" TargetMode="Externa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1090481" y="3487606"/>
            <a:ext cx="7596319" cy="2517681"/>
          </a:xfrm>
        </p:spPr>
        <p:txBody>
          <a:bodyPr>
            <a:normAutofit/>
          </a:bodyPr>
          <a:lstStyle/>
          <a:p>
            <a:r>
              <a:rPr lang="en-US" sz="2800" b="1" dirty="0"/>
              <a:t>multispecies models primer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201988" y="1431963"/>
            <a:ext cx="5485118" cy="1398472"/>
          </a:xfrm>
        </p:spPr>
        <p:txBody>
          <a:bodyPr>
            <a:noAutofit/>
          </a:bodyPr>
          <a:lstStyle/>
          <a:p>
            <a:pPr algn="r"/>
            <a:r>
              <a:rPr lang="en-US" sz="3200" dirty="0"/>
              <a:t>MAR 580: Advanced Population Modeling</a:t>
            </a:r>
          </a:p>
        </p:txBody>
      </p:sp>
    </p:spTree>
    <p:extLst>
      <p:ext uri="{BB962C8B-B14F-4D97-AF65-F5344CB8AC3E}">
        <p14:creationId xmlns:p14="http://schemas.microsoft.com/office/powerpoint/2010/main" val="8903314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3" name="Line 3"/>
          <p:cNvSpPr>
            <a:spLocks noChangeShapeType="1"/>
          </p:cNvSpPr>
          <p:nvPr/>
        </p:nvSpPr>
        <p:spPr bwMode="auto">
          <a:xfrm>
            <a:off x="228600" y="1103313"/>
            <a:ext cx="8686800" cy="0"/>
          </a:xfrm>
          <a:prstGeom prst="line">
            <a:avLst/>
          </a:prstGeom>
          <a:noFill/>
          <a:ln w="127000">
            <a:solidFill>
              <a:schemeClr val="accent1"/>
            </a:solidFill>
            <a:round/>
            <a:headEnd type="triangle" w="med" len="med"/>
            <a:tailEnd type="triangle" w="med" len="med"/>
          </a:ln>
          <a:effectLst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black"/>
              </a:solidFill>
              <a:latin typeface="Arial" charset="0"/>
              <a:cs typeface="Arial" charset="0"/>
            </a:endParaRPr>
          </a:p>
        </p:txBody>
      </p:sp>
      <p:pic>
        <p:nvPicPr>
          <p:cNvPr id="153602" name="Picture 2" descr="028"/>
          <p:cNvPicPr>
            <a:picLocks noChangeAspect="1" noChangeArrowheads="1"/>
          </p:cNvPicPr>
          <p:nvPr/>
        </p:nvPicPr>
        <p:blipFill>
          <a:blip r:embed="rId3" cstate="email"/>
          <a:srcRect/>
          <a:stretch>
            <a:fillRect/>
          </a:stretch>
        </p:blipFill>
        <p:spPr bwMode="auto">
          <a:xfrm>
            <a:off x="3491264" y="1962944"/>
            <a:ext cx="1119188" cy="1231900"/>
          </a:xfrm>
          <a:prstGeom prst="rect">
            <a:avLst/>
          </a:prstGeom>
          <a:noFill/>
        </p:spPr>
      </p:pic>
      <p:sp>
        <p:nvSpPr>
          <p:cNvPr id="153604" name="Text Box 4"/>
          <p:cNvSpPr txBox="1">
            <a:spLocks noChangeArrowheads="1"/>
          </p:cNvSpPr>
          <p:nvPr/>
        </p:nvSpPr>
        <p:spPr bwMode="auto">
          <a:xfrm>
            <a:off x="304800" y="1327150"/>
            <a:ext cx="22860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US" sz="2400" dirty="0">
                <a:solidFill>
                  <a:srgbClr val="00467F"/>
                </a:solidFill>
                <a:latin typeface="Arial" charset="0"/>
                <a:cs typeface="Arial" charset="0"/>
              </a:rPr>
              <a:t>Stock/Single Species</a:t>
            </a:r>
          </a:p>
        </p:txBody>
      </p:sp>
      <p:sp>
        <p:nvSpPr>
          <p:cNvPr id="153605" name="Text Box 5"/>
          <p:cNvSpPr txBox="1">
            <a:spLocks noChangeArrowheads="1"/>
          </p:cNvSpPr>
          <p:nvPr/>
        </p:nvSpPr>
        <p:spPr bwMode="auto">
          <a:xfrm>
            <a:off x="7315200" y="1327150"/>
            <a:ext cx="1676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US" sz="2400" dirty="0">
                <a:solidFill>
                  <a:srgbClr val="00467F"/>
                </a:solidFill>
                <a:latin typeface="Arial" charset="0"/>
                <a:cs typeface="Arial" charset="0"/>
              </a:rPr>
              <a:t>Ecosystem</a:t>
            </a:r>
          </a:p>
        </p:txBody>
      </p:sp>
      <p:sp>
        <p:nvSpPr>
          <p:cNvPr id="153607" name="Text Box 7"/>
          <p:cNvSpPr txBox="1">
            <a:spLocks noChangeArrowheads="1"/>
          </p:cNvSpPr>
          <p:nvPr/>
        </p:nvSpPr>
        <p:spPr bwMode="auto">
          <a:xfrm>
            <a:off x="5053908" y="1327150"/>
            <a:ext cx="17526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US" sz="2400" dirty="0">
                <a:solidFill>
                  <a:srgbClr val="00467F"/>
                </a:solidFill>
                <a:latin typeface="Arial" charset="0"/>
                <a:cs typeface="Arial" charset="0"/>
              </a:rPr>
              <a:t>Aggregate</a:t>
            </a:r>
            <a:r>
              <a:rPr lang="en-US" sz="2400" dirty="0">
                <a:solidFill>
                  <a:srgbClr val="FFFFFF"/>
                </a:solidFill>
                <a:latin typeface="Arial" charset="0"/>
                <a:cs typeface="Arial" charset="0"/>
              </a:rPr>
              <a:t> </a:t>
            </a:r>
            <a:r>
              <a:rPr lang="en-US" sz="2400" dirty="0">
                <a:solidFill>
                  <a:srgbClr val="00467F"/>
                </a:solidFill>
                <a:latin typeface="Arial" charset="0"/>
                <a:cs typeface="Arial" charset="0"/>
              </a:rPr>
              <a:t>Biomass</a:t>
            </a:r>
          </a:p>
        </p:txBody>
      </p:sp>
      <p:sp>
        <p:nvSpPr>
          <p:cNvPr id="153608" name="Text Box 8"/>
          <p:cNvSpPr txBox="1">
            <a:spLocks noChangeArrowheads="1"/>
          </p:cNvSpPr>
          <p:nvPr/>
        </p:nvSpPr>
        <p:spPr bwMode="auto">
          <a:xfrm>
            <a:off x="-38100" y="3419856"/>
            <a:ext cx="247650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US" sz="2000" dirty="0">
                <a:solidFill>
                  <a:srgbClr val="008998"/>
                </a:solidFill>
                <a:latin typeface="Arial" charset="0"/>
                <a:cs typeface="Arial" charset="0"/>
              </a:rPr>
              <a:t>Single stock models</a:t>
            </a:r>
          </a:p>
        </p:txBody>
      </p:sp>
      <p:pic>
        <p:nvPicPr>
          <p:cNvPr id="153609" name="Picture 9" descr="073"/>
          <p:cNvPicPr>
            <a:picLocks noChangeAspect="1" noChangeArrowheads="1"/>
          </p:cNvPicPr>
          <p:nvPr/>
        </p:nvPicPr>
        <p:blipFill>
          <a:blip r:embed="rId4" cstate="email"/>
          <a:srcRect/>
          <a:stretch>
            <a:fillRect/>
          </a:stretch>
        </p:blipFill>
        <p:spPr bwMode="auto">
          <a:xfrm>
            <a:off x="228600" y="2393950"/>
            <a:ext cx="1752600" cy="674688"/>
          </a:xfrm>
          <a:prstGeom prst="rect">
            <a:avLst/>
          </a:prstGeom>
          <a:noFill/>
        </p:spPr>
      </p:pic>
      <p:grpSp>
        <p:nvGrpSpPr>
          <p:cNvPr id="2" name="Group 35"/>
          <p:cNvGrpSpPr/>
          <p:nvPr/>
        </p:nvGrpSpPr>
        <p:grpSpPr>
          <a:xfrm>
            <a:off x="5012788" y="2241550"/>
            <a:ext cx="1828800" cy="950913"/>
            <a:chOff x="4700340" y="2241550"/>
            <a:chExt cx="1828800" cy="950913"/>
          </a:xfrm>
        </p:grpSpPr>
        <p:sp>
          <p:nvSpPr>
            <p:cNvPr id="153618" name="Line 18"/>
            <p:cNvSpPr>
              <a:spLocks noChangeShapeType="1"/>
            </p:cNvSpPr>
            <p:nvPr/>
          </p:nvSpPr>
          <p:spPr bwMode="auto">
            <a:xfrm flipH="1" flipV="1">
              <a:off x="5438785" y="2517775"/>
              <a:ext cx="304800" cy="290513"/>
            </a:xfrm>
            <a:prstGeom prst="line">
              <a:avLst/>
            </a:prstGeom>
            <a:noFill/>
            <a:ln w="12700">
              <a:solidFill>
                <a:schemeClr val="accent1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prstClr val="black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153613" name="Oval 13"/>
            <p:cNvSpPr>
              <a:spLocks noChangeArrowheads="1"/>
            </p:cNvSpPr>
            <p:nvPr/>
          </p:nvSpPr>
          <p:spPr bwMode="auto">
            <a:xfrm>
              <a:off x="4852740" y="2263775"/>
              <a:ext cx="838200" cy="254000"/>
            </a:xfrm>
            <a:prstGeom prst="ellipse">
              <a:avLst/>
            </a:prstGeom>
            <a:solidFill>
              <a:srgbClr val="FF0000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prstClr val="black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153614" name="Oval 14"/>
            <p:cNvSpPr>
              <a:spLocks noChangeArrowheads="1"/>
            </p:cNvSpPr>
            <p:nvPr/>
          </p:nvSpPr>
          <p:spPr bwMode="auto">
            <a:xfrm>
              <a:off x="4700340" y="2808288"/>
              <a:ext cx="762000" cy="384175"/>
            </a:xfrm>
            <a:prstGeom prst="ellipse">
              <a:avLst/>
            </a:prstGeom>
            <a:solidFill>
              <a:srgbClr val="339933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prstClr val="black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153615" name="Oval 15"/>
            <p:cNvSpPr>
              <a:spLocks noChangeArrowheads="1"/>
            </p:cNvSpPr>
            <p:nvPr/>
          </p:nvSpPr>
          <p:spPr bwMode="auto">
            <a:xfrm>
              <a:off x="5614740" y="2517775"/>
              <a:ext cx="914400" cy="674688"/>
            </a:xfrm>
            <a:prstGeom prst="ellipse">
              <a:avLst/>
            </a:prstGeom>
            <a:solidFill>
              <a:srgbClr val="FFFF00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prstClr val="black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153616" name="Line 16"/>
            <p:cNvSpPr>
              <a:spLocks noChangeShapeType="1"/>
            </p:cNvSpPr>
            <p:nvPr/>
          </p:nvSpPr>
          <p:spPr bwMode="auto">
            <a:xfrm flipV="1">
              <a:off x="5126230" y="2546350"/>
              <a:ext cx="304800" cy="290513"/>
            </a:xfrm>
            <a:prstGeom prst="line">
              <a:avLst/>
            </a:prstGeom>
            <a:noFill/>
            <a:ln w="12700">
              <a:solidFill>
                <a:schemeClr val="accent1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prstClr val="black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153617" name="Line 17"/>
            <p:cNvSpPr>
              <a:spLocks noChangeShapeType="1"/>
            </p:cNvSpPr>
            <p:nvPr/>
          </p:nvSpPr>
          <p:spPr bwMode="auto">
            <a:xfrm flipV="1">
              <a:off x="5681985" y="2808288"/>
              <a:ext cx="228600" cy="130175"/>
            </a:xfrm>
            <a:prstGeom prst="line">
              <a:avLst/>
            </a:prstGeom>
            <a:noFill/>
            <a:ln w="12700">
              <a:solidFill>
                <a:srgbClr val="FFFF00"/>
              </a:solidFill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prstClr val="black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153619" name="Text Box 19"/>
            <p:cNvSpPr txBox="1">
              <a:spLocks noChangeArrowheads="1"/>
            </p:cNvSpPr>
            <p:nvPr/>
          </p:nvSpPr>
          <p:spPr bwMode="auto">
            <a:xfrm>
              <a:off x="4856116" y="2241550"/>
              <a:ext cx="887469" cy="304800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wrap="square"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en-US" sz="1400" i="1" dirty="0" err="1">
                  <a:solidFill>
                    <a:srgbClr val="FFFF00"/>
                  </a:solidFill>
                  <a:latin typeface="Arial" charset="0"/>
                  <a:cs typeface="Arial" charset="0"/>
                </a:rPr>
                <a:t>Gadids</a:t>
              </a:r>
              <a:endParaRPr lang="en-US" sz="1400" i="1" dirty="0">
                <a:solidFill>
                  <a:srgbClr val="FFFF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153620" name="Text Box 20"/>
            <p:cNvSpPr txBox="1">
              <a:spLocks noChangeArrowheads="1"/>
            </p:cNvSpPr>
            <p:nvPr/>
          </p:nvSpPr>
          <p:spPr bwMode="auto">
            <a:xfrm>
              <a:off x="4700340" y="2808288"/>
              <a:ext cx="762000" cy="304800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en-US" sz="1400" i="1" dirty="0">
                  <a:solidFill>
                    <a:srgbClr val="FFFF00"/>
                  </a:solidFill>
                  <a:latin typeface="Arial" charset="0"/>
                  <a:cs typeface="Arial" charset="0"/>
                </a:rPr>
                <a:t>Flatfish</a:t>
              </a:r>
            </a:p>
          </p:txBody>
        </p:sp>
        <p:sp>
          <p:nvSpPr>
            <p:cNvPr id="153621" name="Text Box 21"/>
            <p:cNvSpPr txBox="1">
              <a:spLocks noChangeArrowheads="1"/>
            </p:cNvSpPr>
            <p:nvPr/>
          </p:nvSpPr>
          <p:spPr bwMode="auto">
            <a:xfrm>
              <a:off x="5614740" y="2670527"/>
              <a:ext cx="914400" cy="304800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wrap="square"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en-US" sz="1400" i="1" dirty="0" err="1">
                  <a:solidFill>
                    <a:srgbClr val="000000"/>
                  </a:solidFill>
                  <a:latin typeface="Arial" charset="0"/>
                  <a:cs typeface="Arial" charset="0"/>
                </a:rPr>
                <a:t>Pelagics</a:t>
              </a:r>
              <a:endParaRPr lang="en-US" sz="1400" i="1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</p:grpSp>
      <p:sp>
        <p:nvSpPr>
          <p:cNvPr id="153623" name="Text Box 23"/>
          <p:cNvSpPr txBox="1">
            <a:spLocks noChangeArrowheads="1"/>
          </p:cNvSpPr>
          <p:nvPr/>
        </p:nvSpPr>
        <p:spPr bwMode="auto">
          <a:xfrm>
            <a:off x="42863" y="5300673"/>
            <a:ext cx="1828800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US" sz="2000" dirty="0">
                <a:solidFill>
                  <a:srgbClr val="008998"/>
                </a:solidFill>
                <a:latin typeface="Arial" charset="0"/>
                <a:cs typeface="Arial" charset="0"/>
              </a:rPr>
              <a:t>Multiple stock assessments integrated</a:t>
            </a:r>
          </a:p>
        </p:txBody>
      </p:sp>
      <p:sp>
        <p:nvSpPr>
          <p:cNvPr id="153624" name="Text Box 24"/>
          <p:cNvSpPr txBox="1">
            <a:spLocks noChangeArrowheads="1"/>
          </p:cNvSpPr>
          <p:nvPr/>
        </p:nvSpPr>
        <p:spPr bwMode="auto">
          <a:xfrm>
            <a:off x="220857" y="4139398"/>
            <a:ext cx="4009767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US" sz="2000" dirty="0">
                <a:solidFill>
                  <a:srgbClr val="008998"/>
                </a:solidFill>
                <a:latin typeface="Arial" charset="0"/>
                <a:cs typeface="Arial" charset="0"/>
              </a:rPr>
              <a:t>Stock assessments with add-ons: explicit M2 or habitat or climate considerations</a:t>
            </a:r>
          </a:p>
        </p:txBody>
      </p:sp>
      <p:sp>
        <p:nvSpPr>
          <p:cNvPr id="153625" name="Text Box 25"/>
          <p:cNvSpPr txBox="1">
            <a:spLocks noChangeArrowheads="1"/>
          </p:cNvSpPr>
          <p:nvPr/>
        </p:nvSpPr>
        <p:spPr bwMode="auto">
          <a:xfrm>
            <a:off x="2488405" y="3424904"/>
            <a:ext cx="1938337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US" sz="2000" dirty="0">
                <a:solidFill>
                  <a:srgbClr val="008998"/>
                </a:solidFill>
                <a:latin typeface="Arial" charset="0"/>
                <a:cs typeface="Arial" charset="0"/>
              </a:rPr>
              <a:t>Multi-species assessments</a:t>
            </a:r>
          </a:p>
        </p:txBody>
      </p:sp>
      <p:sp>
        <p:nvSpPr>
          <p:cNvPr id="153626" name="Text Box 26"/>
          <p:cNvSpPr txBox="1">
            <a:spLocks noChangeArrowheads="1"/>
          </p:cNvSpPr>
          <p:nvPr/>
        </p:nvSpPr>
        <p:spPr bwMode="auto">
          <a:xfrm>
            <a:off x="4967418" y="3424864"/>
            <a:ext cx="1938338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US" sz="2000" dirty="0">
                <a:solidFill>
                  <a:srgbClr val="008998"/>
                </a:solidFill>
                <a:latin typeface="Arial" charset="0"/>
                <a:cs typeface="Arial" charset="0"/>
              </a:rPr>
              <a:t>Functional group models</a:t>
            </a:r>
          </a:p>
        </p:txBody>
      </p:sp>
      <p:sp>
        <p:nvSpPr>
          <p:cNvPr id="153627" name="Text Box 27"/>
          <p:cNvSpPr txBox="1">
            <a:spLocks noChangeArrowheads="1"/>
          </p:cNvSpPr>
          <p:nvPr/>
        </p:nvSpPr>
        <p:spPr bwMode="auto">
          <a:xfrm>
            <a:off x="7084191" y="3409851"/>
            <a:ext cx="1938338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US" sz="2000" dirty="0">
                <a:solidFill>
                  <a:srgbClr val="008998"/>
                </a:solidFill>
                <a:latin typeface="Arial" charset="0"/>
                <a:cs typeface="Arial" charset="0"/>
              </a:rPr>
              <a:t>Whole system models</a:t>
            </a:r>
          </a:p>
        </p:txBody>
      </p:sp>
      <p:sp>
        <p:nvSpPr>
          <p:cNvPr id="28" name="Title 27"/>
          <p:cNvSpPr>
            <a:spLocks noGrp="1"/>
          </p:cNvSpPr>
          <p:nvPr>
            <p:ph type="title"/>
          </p:nvPr>
        </p:nvSpPr>
        <p:spPr>
          <a:xfrm>
            <a:off x="457200" y="261713"/>
            <a:ext cx="8229600" cy="676275"/>
          </a:xfrm>
        </p:spPr>
        <p:txBody>
          <a:bodyPr>
            <a:normAutofit/>
          </a:bodyPr>
          <a:lstStyle/>
          <a:p>
            <a:pPr algn="ctr"/>
            <a:r>
              <a:rPr lang="en-US" sz="3600" dirty="0"/>
              <a:t> A spectrum of tools, a spectrum of uses</a:t>
            </a:r>
          </a:p>
        </p:txBody>
      </p:sp>
      <p:pic>
        <p:nvPicPr>
          <p:cNvPr id="49" name="Picture 48" descr="AtlantisMap.png"/>
          <p:cNvPicPr>
            <a:picLocks noChangeAspect="1"/>
          </p:cNvPicPr>
          <p:nvPr/>
        </p:nvPicPr>
        <p:blipFill>
          <a:blip r:embed="rId5" cstate="email"/>
          <a:stretch>
            <a:fillRect/>
          </a:stretch>
        </p:blipFill>
        <p:spPr>
          <a:xfrm>
            <a:off x="7272673" y="2158147"/>
            <a:ext cx="1743490" cy="1086904"/>
          </a:xfrm>
          <a:prstGeom prst="rect">
            <a:avLst/>
          </a:prstGeom>
        </p:spPr>
      </p:pic>
      <p:pic>
        <p:nvPicPr>
          <p:cNvPr id="31" name="Picture 30" descr="IEAloop.png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7477448" y="4023022"/>
            <a:ext cx="1538715" cy="1535503"/>
          </a:xfrm>
          <a:prstGeom prst="rect">
            <a:avLst/>
          </a:prstGeom>
        </p:spPr>
      </p:pic>
      <p:sp>
        <p:nvSpPr>
          <p:cNvPr id="32" name="Text Box 27"/>
          <p:cNvSpPr txBox="1">
            <a:spLocks noChangeArrowheads="1"/>
          </p:cNvSpPr>
          <p:nvPr/>
        </p:nvSpPr>
        <p:spPr bwMode="auto">
          <a:xfrm>
            <a:off x="7315200" y="5454818"/>
            <a:ext cx="1828800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US" sz="2000" dirty="0">
                <a:solidFill>
                  <a:srgbClr val="008998"/>
                </a:solidFill>
                <a:latin typeface="Arial" charset="0"/>
                <a:cs typeface="Arial" charset="0"/>
              </a:rPr>
              <a:t>Integrated ecosystem assessments</a:t>
            </a:r>
          </a:p>
        </p:txBody>
      </p:sp>
      <p:sp>
        <p:nvSpPr>
          <p:cNvPr id="33" name="Text Box 6"/>
          <p:cNvSpPr txBox="1">
            <a:spLocks noChangeArrowheads="1"/>
          </p:cNvSpPr>
          <p:nvPr/>
        </p:nvSpPr>
        <p:spPr bwMode="auto">
          <a:xfrm>
            <a:off x="2517120" y="1308894"/>
            <a:ext cx="2057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US" sz="2400" dirty="0">
                <a:solidFill>
                  <a:srgbClr val="00467F"/>
                </a:solidFill>
                <a:latin typeface="Arial" charset="0"/>
                <a:cs typeface="Arial" charset="0"/>
              </a:rPr>
              <a:t>Multi-species</a:t>
            </a:r>
          </a:p>
        </p:txBody>
      </p:sp>
      <p:pic>
        <p:nvPicPr>
          <p:cNvPr id="34" name="Picture 10" descr="073"/>
          <p:cNvPicPr>
            <a:picLocks noChangeAspect="1" noChangeArrowheads="1"/>
          </p:cNvPicPr>
          <p:nvPr/>
        </p:nvPicPr>
        <p:blipFill>
          <a:blip r:embed="rId4" cstate="email"/>
          <a:srcRect/>
          <a:stretch>
            <a:fillRect/>
          </a:stretch>
        </p:blipFill>
        <p:spPr bwMode="auto">
          <a:xfrm>
            <a:off x="2146642" y="1820803"/>
            <a:ext cx="1752600" cy="674688"/>
          </a:xfrm>
          <a:prstGeom prst="rect">
            <a:avLst/>
          </a:prstGeom>
          <a:noFill/>
        </p:spPr>
      </p:pic>
      <p:pic>
        <p:nvPicPr>
          <p:cNvPr id="35" name="Picture 11" descr="101"/>
          <p:cNvPicPr>
            <a:picLocks noChangeAspect="1" noChangeArrowheads="1"/>
          </p:cNvPicPr>
          <p:nvPr/>
        </p:nvPicPr>
        <p:blipFill>
          <a:blip r:embed="rId7" cstate="email"/>
          <a:srcRect/>
          <a:stretch>
            <a:fillRect/>
          </a:stretch>
        </p:blipFill>
        <p:spPr bwMode="auto">
          <a:xfrm>
            <a:off x="2395879" y="2601119"/>
            <a:ext cx="1503363" cy="804862"/>
          </a:xfrm>
          <a:prstGeom prst="rect">
            <a:avLst/>
          </a:prstGeom>
          <a:noFill/>
        </p:spPr>
      </p:pic>
      <p:sp>
        <p:nvSpPr>
          <p:cNvPr id="36" name="Left-Right Arrow 35"/>
          <p:cNvSpPr/>
          <p:nvPr/>
        </p:nvSpPr>
        <p:spPr>
          <a:xfrm>
            <a:off x="1746250" y="5257800"/>
            <a:ext cx="5683250" cy="1409700"/>
          </a:xfrm>
          <a:prstGeom prst="left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solidFill>
                  <a:prstClr val="white"/>
                </a:solidFill>
                <a:latin typeface="Calibri"/>
              </a:rPr>
              <a:t>Economic assessments, social impacts</a:t>
            </a:r>
          </a:p>
        </p:txBody>
      </p:sp>
    </p:spTree>
    <p:extLst>
      <p:ext uri="{BB962C8B-B14F-4D97-AF65-F5344CB8AC3E}">
        <p14:creationId xmlns:p14="http://schemas.microsoft.com/office/powerpoint/2010/main" val="151507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Multispecies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1051870"/>
            <a:ext cx="8348133" cy="5588417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Effectively a set of single species models with some form of linkage between them, usually species interactions, all modeled simultaneously.</a:t>
            </a:r>
          </a:p>
          <a:p>
            <a:endParaRPr lang="en-US" dirty="0"/>
          </a:p>
        </p:txBody>
      </p:sp>
      <p:pic>
        <p:nvPicPr>
          <p:cNvPr id="4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999" t="27170" r="17999" b="27170"/>
          <a:stretch>
            <a:fillRect/>
          </a:stretch>
        </p:blipFill>
        <p:spPr bwMode="auto">
          <a:xfrm>
            <a:off x="4495800" y="4267200"/>
            <a:ext cx="4373563" cy="2066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5"/>
          <p:cNvSpPr>
            <a:spLocks noChangeArrowheads="1"/>
          </p:cNvSpPr>
          <p:nvPr/>
        </p:nvSpPr>
        <p:spPr bwMode="auto">
          <a:xfrm>
            <a:off x="4572000" y="6457950"/>
            <a:ext cx="45720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sz="1000" i="1"/>
              <a:t>Image from: http://www.anselm.edu/homepage/jpitocch/genbios/52-19a-PopCycleHareLynxPhot.jpg</a:t>
            </a:r>
            <a:endParaRPr lang="en-US" sz="1000"/>
          </a:p>
        </p:txBody>
      </p:sp>
      <p:pic>
        <p:nvPicPr>
          <p:cNvPr id="6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4191000"/>
            <a:ext cx="3914775" cy="2495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7"/>
          <p:cNvSpPr>
            <a:spLocks noChangeArrowheads="1"/>
          </p:cNvSpPr>
          <p:nvPr/>
        </p:nvSpPr>
        <p:spPr bwMode="auto">
          <a:xfrm>
            <a:off x="685800" y="6611938"/>
            <a:ext cx="1524000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sz="1000" i="1"/>
              <a:t>Image from bbc.co.uk</a:t>
            </a:r>
            <a:endParaRPr lang="en-US" sz="1000"/>
          </a:p>
        </p:txBody>
      </p:sp>
    </p:spTree>
    <p:extLst>
      <p:ext uri="{BB962C8B-B14F-4D97-AF65-F5344CB8AC3E}">
        <p14:creationId xmlns:p14="http://schemas.microsoft.com/office/powerpoint/2010/main" val="2032113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Multispecies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Models of multispecies dynamics have been around for a long time (e.g. </a:t>
            </a:r>
            <a:r>
              <a:rPr lang="en-US" dirty="0" err="1"/>
              <a:t>Lotka</a:t>
            </a:r>
            <a:r>
              <a:rPr lang="en-US" dirty="0"/>
              <a:t> 1910).</a:t>
            </a:r>
          </a:p>
          <a:p>
            <a:r>
              <a:rPr lang="en-US" dirty="0"/>
              <a:t>Add species interactions to simultaneous sets of population dynamics.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/>
        </p:nvGraphicFramePr>
        <p:xfrm>
          <a:off x="865288" y="3881691"/>
          <a:ext cx="3014277" cy="18259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320800" imgH="800100" progId="Equation.3">
                  <p:embed/>
                </p:oleObj>
              </mc:Choice>
              <mc:Fallback>
                <p:oleObj name="Equation" r:id="rId2" imgW="1320800" imgH="800100" progId="Equation.3">
                  <p:embed/>
                  <p:pic>
                    <p:nvPicPr>
                      <p:cNvPr id="4" name="Object 3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865288" y="3881691"/>
                        <a:ext cx="3014277" cy="182595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/>
          <p:cNvGraphicFramePr>
            <a:graphicFrameLocks noChangeAspect="1"/>
          </p:cNvGraphicFramePr>
          <p:nvPr/>
        </p:nvGraphicFramePr>
        <p:xfrm>
          <a:off x="5356225" y="3881438"/>
          <a:ext cx="2289175" cy="1825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003300" imgH="800100" progId="Equation.3">
                  <p:embed/>
                </p:oleObj>
              </mc:Choice>
              <mc:Fallback>
                <p:oleObj name="Equation" r:id="rId4" imgW="1003300" imgH="800100" progId="Equation.3">
                  <p:embed/>
                  <p:pic>
                    <p:nvPicPr>
                      <p:cNvPr id="5" name="Object 4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356225" y="3881438"/>
                        <a:ext cx="2289175" cy="18256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7" name="Straight Arrow Connector 6"/>
          <p:cNvCxnSpPr>
            <a:endCxn id="5" idx="2"/>
          </p:cNvCxnSpPr>
          <p:nvPr/>
        </p:nvCxnSpPr>
        <p:spPr>
          <a:xfrm flipH="1" flipV="1">
            <a:off x="6501606" y="5707063"/>
            <a:ext cx="145339" cy="441693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958507" y="6184366"/>
            <a:ext cx="29673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Lotka-Volterra</a:t>
            </a:r>
            <a:r>
              <a:rPr lang="en-US" dirty="0"/>
              <a:t> Predator-Prey</a:t>
            </a:r>
          </a:p>
        </p:txBody>
      </p:sp>
    </p:spTree>
    <p:extLst>
      <p:ext uri="{BB962C8B-B14F-4D97-AF65-F5344CB8AC3E}">
        <p14:creationId xmlns:p14="http://schemas.microsoft.com/office/powerpoint/2010/main" val="14423225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Adding interactions to the logistic model</a:t>
            </a:r>
          </a:p>
        </p:txBody>
      </p:sp>
      <p:graphicFrame>
        <p:nvGraphicFramePr>
          <p:cNvPr id="4" name="Content Placeholder 3"/>
          <p:cNvGraphicFramePr>
            <a:graphicFrameLocks noGrp="1" noChangeAspect="1"/>
          </p:cNvGraphicFramePr>
          <p:nvPr>
            <p:ph idx="1"/>
          </p:nvPr>
        </p:nvGraphicFramePr>
        <p:xfrm>
          <a:off x="5092126" y="4326594"/>
          <a:ext cx="3535324" cy="194392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524000" imgH="838200" progId="Equation.3">
                  <p:embed/>
                </p:oleObj>
              </mc:Choice>
              <mc:Fallback>
                <p:oleObj name="Equation" r:id="rId2" imgW="1524000" imgH="838200" progId="Equation.3">
                  <p:embed/>
                  <p:pic>
                    <p:nvPicPr>
                      <p:cNvPr id="4" name="Content Placeholder 3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5092126" y="4326594"/>
                        <a:ext cx="3535324" cy="194392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Content Placeholder 3"/>
          <p:cNvGraphicFramePr>
            <a:graphicFrameLocks noChangeAspect="1"/>
          </p:cNvGraphicFramePr>
          <p:nvPr/>
        </p:nvGraphicFramePr>
        <p:xfrm>
          <a:off x="5069462" y="1448333"/>
          <a:ext cx="3738805" cy="20736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739900" imgH="965200" progId="Equation.3">
                  <p:embed/>
                </p:oleObj>
              </mc:Choice>
              <mc:Fallback>
                <p:oleObj name="Equation" r:id="rId4" imgW="1739900" imgH="965200" progId="Equation.3">
                  <p:embed/>
                  <p:pic>
                    <p:nvPicPr>
                      <p:cNvPr id="5" name="Content Placeholder 3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069462" y="1448333"/>
                        <a:ext cx="3738805" cy="207367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267124" y="1021338"/>
            <a:ext cx="28012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Competition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19524" y="3921652"/>
            <a:ext cx="28012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Predation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283840"/>
            <a:ext cx="4480530" cy="5078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2"/>
                </a:solidFill>
              </a:rPr>
              <a:t>We can add interaction terms to ‘simple’ production models.</a:t>
            </a:r>
          </a:p>
          <a:p>
            <a:endParaRPr lang="en-US" dirty="0">
              <a:solidFill>
                <a:schemeClr val="tx2"/>
              </a:solidFill>
            </a:endParaRPr>
          </a:p>
          <a:p>
            <a:r>
              <a:rPr lang="en-US" dirty="0">
                <a:solidFill>
                  <a:schemeClr val="tx2"/>
                </a:solidFill>
              </a:rPr>
              <a:t>e.g. </a:t>
            </a:r>
            <a:r>
              <a:rPr lang="en-US" dirty="0" err="1">
                <a:solidFill>
                  <a:schemeClr val="tx2"/>
                </a:solidFill>
              </a:rPr>
              <a:t>Lotka-Volterra</a:t>
            </a:r>
            <a:r>
              <a:rPr lang="en-US" dirty="0">
                <a:solidFill>
                  <a:schemeClr val="tx2"/>
                </a:solidFill>
              </a:rPr>
              <a:t> competition terms to the logistic model.  Here the α’s are positive.</a:t>
            </a:r>
          </a:p>
          <a:p>
            <a:r>
              <a:rPr lang="en-US" dirty="0">
                <a:solidFill>
                  <a:schemeClr val="tx2"/>
                </a:solidFill>
              </a:rPr>
              <a:t>(representing negative effects of species on </a:t>
            </a:r>
            <a:r>
              <a:rPr lang="en-US" dirty="0" err="1">
                <a:solidFill>
                  <a:schemeClr val="tx2"/>
                </a:solidFill>
              </a:rPr>
              <a:t>eachother</a:t>
            </a:r>
            <a:r>
              <a:rPr lang="en-US" dirty="0">
                <a:solidFill>
                  <a:schemeClr val="tx2"/>
                </a:solidFill>
              </a:rPr>
              <a:t>)</a:t>
            </a:r>
          </a:p>
          <a:p>
            <a:endParaRPr lang="en-US" dirty="0">
              <a:solidFill>
                <a:schemeClr val="tx2"/>
              </a:solidFill>
            </a:endParaRPr>
          </a:p>
          <a:p>
            <a:r>
              <a:rPr lang="en-US" dirty="0">
                <a:solidFill>
                  <a:schemeClr val="tx2"/>
                </a:solidFill>
              </a:rPr>
              <a:t>There are a myriad of ways for including these terms – choices should ideally be driven by some understanding of the system.</a:t>
            </a:r>
          </a:p>
          <a:p>
            <a:endParaRPr lang="en-US" dirty="0">
              <a:solidFill>
                <a:schemeClr val="tx2"/>
              </a:solidFill>
            </a:endParaRPr>
          </a:p>
          <a:p>
            <a:r>
              <a:rPr lang="en-US" dirty="0">
                <a:solidFill>
                  <a:schemeClr val="tx2"/>
                </a:solidFill>
              </a:rPr>
              <a:t>Here we model a Type II functional response in the consumption of prey </a:t>
            </a:r>
            <a:r>
              <a:rPr lang="en-US" i="1" dirty="0">
                <a:solidFill>
                  <a:schemeClr val="tx2"/>
                </a:solidFill>
              </a:rPr>
              <a:t>N</a:t>
            </a:r>
            <a:r>
              <a:rPr lang="en-US" dirty="0">
                <a:solidFill>
                  <a:schemeClr val="tx2"/>
                </a:solidFill>
              </a:rPr>
              <a:t> by predator </a:t>
            </a:r>
            <a:r>
              <a:rPr lang="en-US" i="1" dirty="0">
                <a:solidFill>
                  <a:schemeClr val="tx2"/>
                </a:solidFill>
              </a:rPr>
              <a:t>P</a:t>
            </a:r>
            <a:r>
              <a:rPr lang="en-US" dirty="0">
                <a:solidFill>
                  <a:schemeClr val="tx2"/>
                </a:solidFill>
              </a:rPr>
              <a:t>.</a:t>
            </a:r>
          </a:p>
          <a:p>
            <a:endParaRPr lang="en-US" dirty="0">
              <a:solidFill>
                <a:schemeClr val="tx2"/>
              </a:solidFill>
            </a:endParaRPr>
          </a:p>
          <a:p>
            <a:r>
              <a:rPr lang="en-US" dirty="0">
                <a:solidFill>
                  <a:schemeClr val="tx2"/>
                </a:solidFill>
              </a:rPr>
              <a:t>This is more realistic than the </a:t>
            </a:r>
            <a:r>
              <a:rPr lang="en-US" dirty="0" err="1">
                <a:solidFill>
                  <a:schemeClr val="tx2"/>
                </a:solidFill>
              </a:rPr>
              <a:t>Lotka-Volterra</a:t>
            </a:r>
            <a:r>
              <a:rPr lang="en-US" dirty="0">
                <a:solidFill>
                  <a:schemeClr val="tx2"/>
                </a:solidFill>
              </a:rPr>
              <a:t> equations as it implies saturation in the per capita predator consumption.</a:t>
            </a:r>
          </a:p>
        </p:txBody>
      </p:sp>
    </p:spTree>
    <p:extLst>
      <p:ext uri="{BB962C8B-B14F-4D97-AF65-F5344CB8AC3E}">
        <p14:creationId xmlns:p14="http://schemas.microsoft.com/office/powerpoint/2010/main" val="10555950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Title 1"/>
          <p:cNvSpPr>
            <a:spLocks noGrp="1"/>
          </p:cNvSpPr>
          <p:nvPr>
            <p:ph type="title"/>
          </p:nvPr>
        </p:nvSpPr>
        <p:spPr>
          <a:xfrm>
            <a:off x="0" y="-204788"/>
            <a:ext cx="6019800" cy="1423988"/>
          </a:xfrm>
        </p:spPr>
        <p:txBody>
          <a:bodyPr/>
          <a:lstStyle/>
          <a:p>
            <a:r>
              <a:rPr lang="en-US" sz="3600" b="1">
                <a:latin typeface="Calibri" charset="0"/>
              </a:rPr>
              <a:t>A simple multispecies model</a:t>
            </a:r>
          </a:p>
        </p:txBody>
      </p:sp>
      <p:pic>
        <p:nvPicPr>
          <p:cNvPr id="48131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5788" y="985838"/>
            <a:ext cx="5888037" cy="5110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8132" name="Rectangle 3"/>
          <p:cNvSpPr txBox="1">
            <a:spLocks noChangeArrowheads="1"/>
          </p:cNvSpPr>
          <p:nvPr/>
        </p:nvSpPr>
        <p:spPr bwMode="auto">
          <a:xfrm>
            <a:off x="179388" y="1189038"/>
            <a:ext cx="2944812" cy="452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>
              <a:spcBef>
                <a:spcPct val="20000"/>
              </a:spcBef>
              <a:buFont typeface="Arial" charset="0"/>
              <a:buNone/>
            </a:pPr>
            <a:r>
              <a:rPr lang="en-US" sz="2400">
                <a:latin typeface="Calibri" charset="0"/>
              </a:rPr>
              <a:t>Channel Islands: introduced feral pigs allowed golden eagles to establish and increase, greatly increasing predation (hyperpredation) on native foxes. Low fox numbers allowed competitively inferior skunks to flourish. </a:t>
            </a:r>
          </a:p>
        </p:txBody>
      </p:sp>
      <p:sp>
        <p:nvSpPr>
          <p:cNvPr id="48133" name="TextBox 2"/>
          <p:cNvSpPr txBox="1">
            <a:spLocks noChangeArrowheads="1"/>
          </p:cNvSpPr>
          <p:nvPr/>
        </p:nvSpPr>
        <p:spPr bwMode="auto">
          <a:xfrm>
            <a:off x="6053138" y="298450"/>
            <a:ext cx="349726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en-US" sz="2000"/>
              <a:t>Multispecies equations</a:t>
            </a:r>
          </a:p>
        </p:txBody>
      </p:sp>
      <p:sp>
        <p:nvSpPr>
          <p:cNvPr id="9" name="Right Brace 8"/>
          <p:cNvSpPr/>
          <p:nvPr/>
        </p:nvSpPr>
        <p:spPr>
          <a:xfrm rot="16200000">
            <a:off x="7680325" y="-347662"/>
            <a:ext cx="228600" cy="2438400"/>
          </a:xfrm>
          <a:prstGeom prst="rightBrac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48135" name="TextBox 9"/>
          <p:cNvSpPr txBox="1">
            <a:spLocks noChangeArrowheads="1"/>
          </p:cNvSpPr>
          <p:nvPr/>
        </p:nvSpPr>
        <p:spPr bwMode="auto">
          <a:xfrm>
            <a:off x="4097338" y="3489325"/>
            <a:ext cx="1268412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en-US" sz="2800">
                <a:solidFill>
                  <a:srgbClr val="FF0000"/>
                </a:solidFill>
              </a:rPr>
              <a:t>No pigs</a:t>
            </a:r>
          </a:p>
        </p:txBody>
      </p:sp>
      <p:sp>
        <p:nvSpPr>
          <p:cNvPr id="48136" name="TextBox 10"/>
          <p:cNvSpPr txBox="1">
            <a:spLocks noChangeArrowheads="1"/>
          </p:cNvSpPr>
          <p:nvPr/>
        </p:nvSpPr>
        <p:spPr bwMode="auto">
          <a:xfrm>
            <a:off x="7123113" y="3489325"/>
            <a:ext cx="762000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en-US" sz="2800">
                <a:solidFill>
                  <a:srgbClr val="FF0000"/>
                </a:solidFill>
              </a:rPr>
              <a:t>Pigs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396038"/>
            <a:ext cx="9144000" cy="461962"/>
          </a:xfrm>
          <a:prstGeom prst="rect">
            <a:avLst/>
          </a:prstGeom>
        </p:spPr>
        <p:txBody>
          <a:bodyPr>
            <a:spAutoFit/>
          </a:bodyPr>
          <a:lstStyle/>
          <a:p>
            <a:pPr algn="r">
              <a:defRPr/>
            </a:pPr>
            <a:r>
              <a:rPr lang="en-US" sz="1200" dirty="0">
                <a:solidFill>
                  <a:schemeClr val="bg1">
                    <a:lumMod val="50000"/>
                  </a:schemeClr>
                </a:solidFill>
                <a:ea typeface="+mn-ea"/>
              </a:rPr>
              <a:t>Roemer, G.W., </a:t>
            </a:r>
            <a:r>
              <a:rPr lang="en-US" sz="1200" dirty="0" err="1">
                <a:solidFill>
                  <a:schemeClr val="bg1">
                    <a:lumMod val="50000"/>
                  </a:schemeClr>
                </a:solidFill>
                <a:ea typeface="+mn-ea"/>
              </a:rPr>
              <a:t>Donlan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ea typeface="+mn-ea"/>
              </a:rPr>
              <a:t>, C.J., and </a:t>
            </a:r>
            <a:r>
              <a:rPr lang="en-US" sz="1200" dirty="0" err="1">
                <a:solidFill>
                  <a:schemeClr val="bg1">
                    <a:lumMod val="50000"/>
                  </a:schemeClr>
                </a:solidFill>
                <a:ea typeface="+mn-ea"/>
              </a:rPr>
              <a:t>Courchamp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ea typeface="+mn-ea"/>
              </a:rPr>
              <a:t>, F. 2002. Golden eagles, feral pigs, and insular carnivores: How exotic species turn native predators into prey. Proc. </a:t>
            </a:r>
            <a:r>
              <a:rPr lang="en-US" sz="1200" dirty="0" err="1">
                <a:solidFill>
                  <a:schemeClr val="bg1">
                    <a:lumMod val="50000"/>
                  </a:schemeClr>
                </a:solidFill>
                <a:ea typeface="+mn-ea"/>
              </a:rPr>
              <a:t>Natl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ea typeface="+mn-ea"/>
              </a:rPr>
              <a:t> Acad. Sci. U.S.A. 99(2): 791-796.</a:t>
            </a:r>
          </a:p>
        </p:txBody>
      </p:sp>
      <p:sp>
        <p:nvSpPr>
          <p:cNvPr id="48138" name="TextBox 12"/>
          <p:cNvSpPr txBox="1">
            <a:spLocks noChangeArrowheads="1"/>
          </p:cNvSpPr>
          <p:nvPr/>
        </p:nvSpPr>
        <p:spPr bwMode="auto">
          <a:xfrm>
            <a:off x="7696200" y="6183313"/>
            <a:ext cx="32004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/>
              <a:t>From Branch</a:t>
            </a:r>
          </a:p>
        </p:txBody>
      </p:sp>
    </p:spTree>
    <p:extLst>
      <p:ext uri="{BB962C8B-B14F-4D97-AF65-F5344CB8AC3E}">
        <p14:creationId xmlns:p14="http://schemas.microsoft.com/office/powerpoint/2010/main" val="27219713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Multispecies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Multispecies Yield-per-recruit (MSYPR)</a:t>
            </a:r>
          </a:p>
          <a:p>
            <a:r>
              <a:rPr lang="en-US" dirty="0"/>
              <a:t>These add technical interactions to YPR models.</a:t>
            </a:r>
          </a:p>
          <a:p>
            <a:r>
              <a:rPr lang="en-US" dirty="0"/>
              <a:t>Similar to YPR models, but effectively focus on </a:t>
            </a:r>
            <a:r>
              <a:rPr lang="en-US" dirty="0" err="1"/>
              <a:t>bycatch</a:t>
            </a:r>
            <a:r>
              <a:rPr lang="en-US" dirty="0"/>
              <a:t>, mixed species fisheries.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0239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Multispecies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Multispecies Production Models</a:t>
            </a:r>
          </a:p>
          <a:p>
            <a:r>
              <a:rPr lang="en-US" dirty="0"/>
              <a:t>Non age-structured</a:t>
            </a:r>
          </a:p>
          <a:p>
            <a:r>
              <a:rPr lang="en-US" dirty="0"/>
              <a:t>Usually species interactions</a:t>
            </a:r>
          </a:p>
          <a:p>
            <a:r>
              <a:rPr lang="en-US" dirty="0"/>
              <a:t>e.g. add in terms for competition and predation to production model:</a:t>
            </a:r>
          </a:p>
          <a:p>
            <a:endParaRPr lang="en-US" dirty="0"/>
          </a:p>
        </p:txBody>
      </p:sp>
      <p:graphicFrame>
        <p:nvGraphicFramePr>
          <p:cNvPr id="5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23300604"/>
              </p:ext>
            </p:extLst>
          </p:nvPr>
        </p:nvGraphicFramePr>
        <p:xfrm>
          <a:off x="1743781" y="4574294"/>
          <a:ext cx="5402263" cy="1392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676160" imgH="431640" progId="Equation.3">
                  <p:embed/>
                </p:oleObj>
              </mc:Choice>
              <mc:Fallback>
                <p:oleObj name="Equation" r:id="rId2" imgW="1676160" imgH="431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43781" y="4574294"/>
                        <a:ext cx="5402263" cy="1392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=""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35397879"/>
              </p:ext>
            </p:extLst>
          </p:nvPr>
        </p:nvGraphicFramePr>
        <p:xfrm>
          <a:off x="180974" y="4071233"/>
          <a:ext cx="8963026" cy="2455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781300" imgH="762000" progId="Equation.3">
                  <p:embed/>
                </p:oleObj>
              </mc:Choice>
              <mc:Fallback>
                <p:oleObj name="Equation" r:id="rId4" imgW="2781300" imgH="762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0974" y="4071233"/>
                        <a:ext cx="8963026" cy="24558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=""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 Box 42"/>
          <p:cNvSpPr txBox="1">
            <a:spLocks noChangeArrowheads="1"/>
          </p:cNvSpPr>
          <p:nvPr/>
        </p:nvSpPr>
        <p:spPr bwMode="auto">
          <a:xfrm>
            <a:off x="304800" y="6400800"/>
            <a:ext cx="8610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200" b="1" dirty="0">
                <a:cs typeface="Arial" charset="0"/>
              </a:rPr>
              <a:t>Gamble, R.J. and J.S. Link. 2009. Analyzing the tradeoffs among ecological and fishing effects on an example fish community: A multispecies (fisheries) production model.  Ecol. Mod. 220: 2570-2582.</a:t>
            </a:r>
          </a:p>
        </p:txBody>
      </p:sp>
    </p:spTree>
    <p:extLst>
      <p:ext uri="{BB962C8B-B14F-4D97-AF65-F5344CB8AC3E}">
        <p14:creationId xmlns:p14="http://schemas.microsoft.com/office/powerpoint/2010/main" val="26126466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Multispecies Models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Multispecies Virtual Population Analysis (MSVPA)</a:t>
            </a:r>
          </a:p>
          <a:p>
            <a:r>
              <a:rPr lang="en-US" dirty="0"/>
              <a:t>Age structured assessments, linked with a predator-prey model</a:t>
            </a:r>
          </a:p>
        </p:txBody>
      </p:sp>
    </p:spTree>
    <p:extLst>
      <p:ext uri="{BB962C8B-B14F-4D97-AF65-F5344CB8AC3E}">
        <p14:creationId xmlns:p14="http://schemas.microsoft.com/office/powerpoint/2010/main" val="8153425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Stage-structured multispecies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Like their single-species counterparts, these models include population structure such as age and/or length.</a:t>
            </a:r>
          </a:p>
          <a:p>
            <a:r>
              <a:rPr lang="en-US" dirty="0"/>
              <a:t>Species interactions can then be length or age dependent.</a:t>
            </a:r>
          </a:p>
          <a:p>
            <a:pPr lvl="1"/>
            <a:r>
              <a:rPr lang="en-US" dirty="0"/>
              <a:t>More realistic, big fish eat small fish….</a:t>
            </a:r>
          </a:p>
          <a:p>
            <a:r>
              <a:rPr lang="en-US" dirty="0"/>
              <a:t>The focus of these models has primarily been on trophic interactions.</a:t>
            </a:r>
          </a:p>
          <a:p>
            <a:pPr lvl="1"/>
            <a:r>
              <a:rPr lang="en-US" dirty="0"/>
              <a:t>Predation mortality</a:t>
            </a:r>
          </a:p>
          <a:p>
            <a:pPr lvl="1"/>
            <a:r>
              <a:rPr lang="en-US" dirty="0"/>
              <a:t>Prey-dependent growth largely not included.</a:t>
            </a:r>
          </a:p>
        </p:txBody>
      </p:sp>
    </p:spTree>
    <p:extLst>
      <p:ext uri="{BB962C8B-B14F-4D97-AF65-F5344CB8AC3E}">
        <p14:creationId xmlns:p14="http://schemas.microsoft.com/office/powerpoint/2010/main" val="18320075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Stage-structured multispecies models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Modeling predation via </a:t>
            </a:r>
            <a:r>
              <a:rPr lang="en-US" sz="2800" i="1" dirty="0"/>
              <a:t>M2</a:t>
            </a:r>
          </a:p>
          <a:p>
            <a:r>
              <a:rPr lang="en-US" sz="2800" dirty="0"/>
              <a:t>M2 essentially treated as another fishing fleet, but with functional response replacing selectivity.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1417" y="3902605"/>
            <a:ext cx="7538296" cy="1260502"/>
          </a:xfrm>
          <a:prstGeom prst="rect">
            <a:avLst/>
          </a:prstGeom>
        </p:spPr>
      </p:pic>
      <p:graphicFrame>
        <p:nvGraphicFramePr>
          <p:cNvPr id="7" name="Object 6"/>
          <p:cNvGraphicFramePr>
            <a:graphicFrameLocks noChangeAspect="1"/>
          </p:cNvGraphicFramePr>
          <p:nvPr/>
        </p:nvGraphicFramePr>
        <p:xfrm>
          <a:off x="2640684" y="2901243"/>
          <a:ext cx="4107075" cy="6571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587500" imgH="254000" progId="Equation.3">
                  <p:embed/>
                </p:oleObj>
              </mc:Choice>
              <mc:Fallback>
                <p:oleObj name="Equation" r:id="rId3" imgW="1587500" imgH="254000" progId="Equation.3">
                  <p:embed/>
                  <p:pic>
                    <p:nvPicPr>
                      <p:cNvPr id="7" name="Object 6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640684" y="2901243"/>
                        <a:ext cx="4107075" cy="65713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2892821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Modeling predation mortality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400" dirty="0"/>
              <a:t>Size-based approaches (e.g. Hall et al. 2006)</a:t>
            </a:r>
          </a:p>
          <a:p>
            <a:r>
              <a:rPr lang="en-US" sz="2400" dirty="0"/>
              <a:t>Take advantage of scaling relationships associated with growth, consumption, and size ratios between predator and prey species.</a:t>
            </a:r>
          </a:p>
          <a:p>
            <a:pPr lvl="1"/>
            <a:r>
              <a:rPr lang="en-US" sz="2000" dirty="0"/>
              <a:t>Dramatically reduces number of parameters</a:t>
            </a:r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r>
              <a:rPr lang="en-US" sz="2400" dirty="0"/>
              <a:t>Alternative is to estimate functional</a:t>
            </a:r>
            <a:br>
              <a:rPr lang="en-US" sz="2400" dirty="0"/>
            </a:br>
            <a:r>
              <a:rPr lang="en-US" sz="2400" dirty="0"/>
              <a:t>response parameters based on </a:t>
            </a:r>
            <a:br>
              <a:rPr lang="en-US" sz="2400" dirty="0"/>
            </a:br>
            <a:r>
              <a:rPr lang="en-US" sz="2400" dirty="0"/>
              <a:t>stomach contents data</a:t>
            </a:r>
          </a:p>
          <a:p>
            <a:r>
              <a:rPr lang="en-US" sz="2400" dirty="0"/>
              <a:t>Ration can be derived from growth</a:t>
            </a:r>
            <a:br>
              <a:rPr lang="en-US" sz="2400" dirty="0"/>
            </a:br>
            <a:r>
              <a:rPr lang="en-US" sz="2400" dirty="0"/>
              <a:t>curve, or a function of covariates.</a:t>
            </a:r>
          </a:p>
          <a:p>
            <a:r>
              <a:rPr lang="en-US" sz="2400" dirty="0"/>
              <a:t>Require ‘other food’ component.</a:t>
            </a:r>
          </a:p>
          <a:p>
            <a:endParaRPr lang="en-US" sz="24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6567" y="3999948"/>
            <a:ext cx="3002995" cy="2943529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4426" y="3010469"/>
            <a:ext cx="6574712" cy="10993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76129" y="6488668"/>
            <a:ext cx="49360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Hall et al. (2006)</a:t>
            </a:r>
          </a:p>
        </p:txBody>
      </p:sp>
    </p:spTree>
    <p:extLst>
      <p:ext uri="{BB962C8B-B14F-4D97-AF65-F5344CB8AC3E}">
        <p14:creationId xmlns:p14="http://schemas.microsoft.com/office/powerpoint/2010/main" val="26923553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Text Box 2"/>
          <p:cNvSpPr txBox="1">
            <a:spLocks noChangeArrowheads="1"/>
          </p:cNvSpPr>
          <p:nvPr/>
        </p:nvSpPr>
        <p:spPr bwMode="auto">
          <a:xfrm>
            <a:off x="2185377" y="112713"/>
            <a:ext cx="4771659" cy="5847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en-US" sz="3200" b="1" dirty="0">
                <a:solidFill>
                  <a:schemeClr val="accent1"/>
                </a:solidFill>
                <a:latin typeface="+mn-lt"/>
              </a:rPr>
              <a:t>Structure of MSVPA Model</a:t>
            </a:r>
          </a:p>
        </p:txBody>
      </p:sp>
      <p:sp>
        <p:nvSpPr>
          <p:cNvPr id="51203" name="Rectangle 3"/>
          <p:cNvSpPr>
            <a:spLocks noChangeArrowheads="1"/>
          </p:cNvSpPr>
          <p:nvPr/>
        </p:nvSpPr>
        <p:spPr bwMode="auto">
          <a:xfrm>
            <a:off x="1608138" y="1757363"/>
            <a:ext cx="5867400" cy="1981200"/>
          </a:xfrm>
          <a:prstGeom prst="rect">
            <a:avLst/>
          </a:prstGeom>
          <a:noFill/>
          <a:ln w="158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51204" name="Group 4"/>
          <p:cNvGrpSpPr>
            <a:grpSpLocks/>
          </p:cNvGrpSpPr>
          <p:nvPr/>
        </p:nvGrpSpPr>
        <p:grpSpPr bwMode="auto">
          <a:xfrm>
            <a:off x="1836738" y="4348163"/>
            <a:ext cx="304800" cy="1524000"/>
            <a:chOff x="1152" y="3072"/>
            <a:chExt cx="192" cy="960"/>
          </a:xfrm>
        </p:grpSpPr>
        <p:sp>
          <p:nvSpPr>
            <p:cNvPr id="51254" name="Rectangle 5"/>
            <p:cNvSpPr>
              <a:spLocks noChangeArrowheads="1"/>
            </p:cNvSpPr>
            <p:nvPr/>
          </p:nvSpPr>
          <p:spPr bwMode="auto">
            <a:xfrm>
              <a:off x="1152" y="3072"/>
              <a:ext cx="192" cy="96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255" name="Line 6"/>
            <p:cNvSpPr>
              <a:spLocks noChangeShapeType="1"/>
            </p:cNvSpPr>
            <p:nvPr/>
          </p:nvSpPr>
          <p:spPr bwMode="auto">
            <a:xfrm flipH="1">
              <a:off x="1152" y="3264"/>
              <a:ext cx="1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256" name="Line 7"/>
            <p:cNvSpPr>
              <a:spLocks noChangeShapeType="1"/>
            </p:cNvSpPr>
            <p:nvPr/>
          </p:nvSpPr>
          <p:spPr bwMode="auto">
            <a:xfrm flipH="1">
              <a:off x="1152" y="3456"/>
              <a:ext cx="1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257" name="Line 8"/>
            <p:cNvSpPr>
              <a:spLocks noChangeShapeType="1"/>
            </p:cNvSpPr>
            <p:nvPr/>
          </p:nvSpPr>
          <p:spPr bwMode="auto">
            <a:xfrm flipH="1">
              <a:off x="1152" y="3648"/>
              <a:ext cx="1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258" name="Line 9"/>
            <p:cNvSpPr>
              <a:spLocks noChangeShapeType="1"/>
            </p:cNvSpPr>
            <p:nvPr/>
          </p:nvSpPr>
          <p:spPr bwMode="auto">
            <a:xfrm flipH="1">
              <a:off x="1152" y="3840"/>
              <a:ext cx="1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1205" name="Group 10"/>
          <p:cNvGrpSpPr>
            <a:grpSpLocks/>
          </p:cNvGrpSpPr>
          <p:nvPr/>
        </p:nvGrpSpPr>
        <p:grpSpPr bwMode="auto">
          <a:xfrm>
            <a:off x="3055938" y="4348163"/>
            <a:ext cx="304800" cy="1524000"/>
            <a:chOff x="1632" y="3072"/>
            <a:chExt cx="192" cy="960"/>
          </a:xfrm>
        </p:grpSpPr>
        <p:sp>
          <p:nvSpPr>
            <p:cNvPr id="51249" name="Rectangle 11"/>
            <p:cNvSpPr>
              <a:spLocks noChangeArrowheads="1"/>
            </p:cNvSpPr>
            <p:nvPr/>
          </p:nvSpPr>
          <p:spPr bwMode="auto">
            <a:xfrm>
              <a:off x="1632" y="3072"/>
              <a:ext cx="192" cy="960"/>
            </a:xfrm>
            <a:prstGeom prst="rect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250" name="Line 12"/>
            <p:cNvSpPr>
              <a:spLocks noChangeShapeType="1"/>
            </p:cNvSpPr>
            <p:nvPr/>
          </p:nvSpPr>
          <p:spPr bwMode="auto">
            <a:xfrm flipH="1">
              <a:off x="1632" y="3264"/>
              <a:ext cx="1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251" name="Line 13"/>
            <p:cNvSpPr>
              <a:spLocks noChangeShapeType="1"/>
            </p:cNvSpPr>
            <p:nvPr/>
          </p:nvSpPr>
          <p:spPr bwMode="auto">
            <a:xfrm flipH="1">
              <a:off x="1632" y="3456"/>
              <a:ext cx="1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252" name="Line 14"/>
            <p:cNvSpPr>
              <a:spLocks noChangeShapeType="1"/>
            </p:cNvSpPr>
            <p:nvPr/>
          </p:nvSpPr>
          <p:spPr bwMode="auto">
            <a:xfrm flipH="1">
              <a:off x="1632" y="3648"/>
              <a:ext cx="1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253" name="Line 15"/>
            <p:cNvSpPr>
              <a:spLocks noChangeShapeType="1"/>
            </p:cNvSpPr>
            <p:nvPr/>
          </p:nvSpPr>
          <p:spPr bwMode="auto">
            <a:xfrm flipH="1">
              <a:off x="1632" y="3840"/>
              <a:ext cx="1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1206" name="Group 16"/>
          <p:cNvGrpSpPr>
            <a:grpSpLocks/>
          </p:cNvGrpSpPr>
          <p:nvPr/>
        </p:nvGrpSpPr>
        <p:grpSpPr bwMode="auto">
          <a:xfrm>
            <a:off x="4198938" y="4348163"/>
            <a:ext cx="304800" cy="1524000"/>
            <a:chOff x="2160" y="3072"/>
            <a:chExt cx="192" cy="960"/>
          </a:xfrm>
        </p:grpSpPr>
        <p:sp>
          <p:nvSpPr>
            <p:cNvPr id="51244" name="Rectangle 17"/>
            <p:cNvSpPr>
              <a:spLocks noChangeArrowheads="1"/>
            </p:cNvSpPr>
            <p:nvPr/>
          </p:nvSpPr>
          <p:spPr bwMode="auto">
            <a:xfrm>
              <a:off x="2160" y="3072"/>
              <a:ext cx="192" cy="960"/>
            </a:xfrm>
            <a:prstGeom prst="rect">
              <a:avLst/>
            </a:prstGeom>
            <a:solidFill>
              <a:srgbClr val="FF00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245" name="Line 18"/>
            <p:cNvSpPr>
              <a:spLocks noChangeShapeType="1"/>
            </p:cNvSpPr>
            <p:nvPr/>
          </p:nvSpPr>
          <p:spPr bwMode="auto">
            <a:xfrm flipH="1">
              <a:off x="2160" y="3264"/>
              <a:ext cx="1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246" name="Line 19"/>
            <p:cNvSpPr>
              <a:spLocks noChangeShapeType="1"/>
            </p:cNvSpPr>
            <p:nvPr/>
          </p:nvSpPr>
          <p:spPr bwMode="auto">
            <a:xfrm flipH="1">
              <a:off x="2160" y="3456"/>
              <a:ext cx="1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247" name="Line 20"/>
            <p:cNvSpPr>
              <a:spLocks noChangeShapeType="1"/>
            </p:cNvSpPr>
            <p:nvPr/>
          </p:nvSpPr>
          <p:spPr bwMode="auto">
            <a:xfrm flipH="1">
              <a:off x="2160" y="3648"/>
              <a:ext cx="1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248" name="Line 21"/>
            <p:cNvSpPr>
              <a:spLocks noChangeShapeType="1"/>
            </p:cNvSpPr>
            <p:nvPr/>
          </p:nvSpPr>
          <p:spPr bwMode="auto">
            <a:xfrm flipH="1">
              <a:off x="2160" y="3840"/>
              <a:ext cx="1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1207" name="Group 22"/>
          <p:cNvGrpSpPr>
            <a:grpSpLocks/>
          </p:cNvGrpSpPr>
          <p:nvPr/>
        </p:nvGrpSpPr>
        <p:grpSpPr bwMode="auto">
          <a:xfrm>
            <a:off x="5265738" y="4348163"/>
            <a:ext cx="304800" cy="1524000"/>
            <a:chOff x="2688" y="3072"/>
            <a:chExt cx="192" cy="960"/>
          </a:xfrm>
        </p:grpSpPr>
        <p:sp>
          <p:nvSpPr>
            <p:cNvPr id="51239" name="Rectangle 23"/>
            <p:cNvSpPr>
              <a:spLocks noChangeArrowheads="1"/>
            </p:cNvSpPr>
            <p:nvPr/>
          </p:nvSpPr>
          <p:spPr bwMode="auto">
            <a:xfrm>
              <a:off x="2688" y="3072"/>
              <a:ext cx="192" cy="96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240" name="Line 24"/>
            <p:cNvSpPr>
              <a:spLocks noChangeShapeType="1"/>
            </p:cNvSpPr>
            <p:nvPr/>
          </p:nvSpPr>
          <p:spPr bwMode="auto">
            <a:xfrm flipH="1">
              <a:off x="2688" y="3264"/>
              <a:ext cx="1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241" name="Line 25"/>
            <p:cNvSpPr>
              <a:spLocks noChangeShapeType="1"/>
            </p:cNvSpPr>
            <p:nvPr/>
          </p:nvSpPr>
          <p:spPr bwMode="auto">
            <a:xfrm flipH="1">
              <a:off x="2688" y="3456"/>
              <a:ext cx="1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242" name="Line 26"/>
            <p:cNvSpPr>
              <a:spLocks noChangeShapeType="1"/>
            </p:cNvSpPr>
            <p:nvPr/>
          </p:nvSpPr>
          <p:spPr bwMode="auto">
            <a:xfrm flipH="1">
              <a:off x="2688" y="3648"/>
              <a:ext cx="1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243" name="Line 27"/>
            <p:cNvSpPr>
              <a:spLocks noChangeShapeType="1"/>
            </p:cNvSpPr>
            <p:nvPr/>
          </p:nvSpPr>
          <p:spPr bwMode="auto">
            <a:xfrm flipH="1">
              <a:off x="2688" y="3840"/>
              <a:ext cx="1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1208" name="Group 28"/>
          <p:cNvGrpSpPr>
            <a:grpSpLocks/>
          </p:cNvGrpSpPr>
          <p:nvPr/>
        </p:nvGrpSpPr>
        <p:grpSpPr bwMode="auto">
          <a:xfrm>
            <a:off x="6561138" y="4348163"/>
            <a:ext cx="304800" cy="1524000"/>
            <a:chOff x="3984" y="3024"/>
            <a:chExt cx="192" cy="960"/>
          </a:xfrm>
        </p:grpSpPr>
        <p:sp>
          <p:nvSpPr>
            <p:cNvPr id="51234" name="Rectangle 29"/>
            <p:cNvSpPr>
              <a:spLocks noChangeArrowheads="1"/>
            </p:cNvSpPr>
            <p:nvPr/>
          </p:nvSpPr>
          <p:spPr bwMode="auto">
            <a:xfrm>
              <a:off x="3984" y="3024"/>
              <a:ext cx="192" cy="960"/>
            </a:xfrm>
            <a:prstGeom prst="rect">
              <a:avLst/>
            </a:prstGeom>
            <a:solidFill>
              <a:srgbClr val="66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235" name="Line 30"/>
            <p:cNvSpPr>
              <a:spLocks noChangeShapeType="1"/>
            </p:cNvSpPr>
            <p:nvPr/>
          </p:nvSpPr>
          <p:spPr bwMode="auto">
            <a:xfrm flipH="1">
              <a:off x="3984" y="3216"/>
              <a:ext cx="1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236" name="Line 31"/>
            <p:cNvSpPr>
              <a:spLocks noChangeShapeType="1"/>
            </p:cNvSpPr>
            <p:nvPr/>
          </p:nvSpPr>
          <p:spPr bwMode="auto">
            <a:xfrm flipH="1">
              <a:off x="3984" y="3408"/>
              <a:ext cx="1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237" name="Line 32"/>
            <p:cNvSpPr>
              <a:spLocks noChangeShapeType="1"/>
            </p:cNvSpPr>
            <p:nvPr/>
          </p:nvSpPr>
          <p:spPr bwMode="auto">
            <a:xfrm flipH="1">
              <a:off x="3984" y="3600"/>
              <a:ext cx="1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238" name="Line 33"/>
            <p:cNvSpPr>
              <a:spLocks noChangeShapeType="1"/>
            </p:cNvSpPr>
            <p:nvPr/>
          </p:nvSpPr>
          <p:spPr bwMode="auto">
            <a:xfrm flipH="1">
              <a:off x="3984" y="3792"/>
              <a:ext cx="1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1209" name="AutoShape 34"/>
          <p:cNvSpPr>
            <a:spLocks noChangeArrowheads="1"/>
          </p:cNvSpPr>
          <p:nvPr/>
        </p:nvSpPr>
        <p:spPr bwMode="auto">
          <a:xfrm>
            <a:off x="1951038" y="3795713"/>
            <a:ext cx="76200" cy="533400"/>
          </a:xfrm>
          <a:prstGeom prst="upArrow">
            <a:avLst>
              <a:gd name="adj1" fmla="val 50000"/>
              <a:gd name="adj2" fmla="val 175000"/>
            </a:avLst>
          </a:prstGeom>
          <a:solidFill>
            <a:srgbClr val="FF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en-US" sz="2400" b="1"/>
          </a:p>
        </p:txBody>
      </p:sp>
      <p:sp>
        <p:nvSpPr>
          <p:cNvPr id="51210" name="AutoShape 35"/>
          <p:cNvSpPr>
            <a:spLocks noChangeArrowheads="1"/>
          </p:cNvSpPr>
          <p:nvPr/>
        </p:nvSpPr>
        <p:spPr bwMode="auto">
          <a:xfrm>
            <a:off x="3170238" y="3795713"/>
            <a:ext cx="76200" cy="533400"/>
          </a:xfrm>
          <a:prstGeom prst="upArrow">
            <a:avLst>
              <a:gd name="adj1" fmla="val 50000"/>
              <a:gd name="adj2" fmla="val 175000"/>
            </a:avLst>
          </a:prstGeom>
          <a:solidFill>
            <a:srgbClr val="FF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en-US" sz="2400" b="1"/>
          </a:p>
        </p:txBody>
      </p:sp>
      <p:sp>
        <p:nvSpPr>
          <p:cNvPr id="51211" name="AutoShape 36"/>
          <p:cNvSpPr>
            <a:spLocks noChangeArrowheads="1"/>
          </p:cNvSpPr>
          <p:nvPr/>
        </p:nvSpPr>
        <p:spPr bwMode="auto">
          <a:xfrm>
            <a:off x="4313238" y="3795713"/>
            <a:ext cx="76200" cy="533400"/>
          </a:xfrm>
          <a:prstGeom prst="upArrow">
            <a:avLst>
              <a:gd name="adj1" fmla="val 50000"/>
              <a:gd name="adj2" fmla="val 175000"/>
            </a:avLst>
          </a:prstGeom>
          <a:solidFill>
            <a:srgbClr val="FF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en-US" sz="2400" b="1"/>
          </a:p>
        </p:txBody>
      </p:sp>
      <p:sp>
        <p:nvSpPr>
          <p:cNvPr id="51212" name="AutoShape 37"/>
          <p:cNvSpPr>
            <a:spLocks noChangeArrowheads="1"/>
          </p:cNvSpPr>
          <p:nvPr/>
        </p:nvSpPr>
        <p:spPr bwMode="auto">
          <a:xfrm>
            <a:off x="5380038" y="3795713"/>
            <a:ext cx="76200" cy="533400"/>
          </a:xfrm>
          <a:prstGeom prst="upArrow">
            <a:avLst>
              <a:gd name="adj1" fmla="val 50000"/>
              <a:gd name="adj2" fmla="val 175000"/>
            </a:avLst>
          </a:prstGeom>
          <a:solidFill>
            <a:srgbClr val="FF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en-US" sz="2400" b="1"/>
          </a:p>
        </p:txBody>
      </p:sp>
      <p:sp>
        <p:nvSpPr>
          <p:cNvPr id="51213" name="AutoShape 38"/>
          <p:cNvSpPr>
            <a:spLocks noChangeArrowheads="1"/>
          </p:cNvSpPr>
          <p:nvPr/>
        </p:nvSpPr>
        <p:spPr bwMode="auto">
          <a:xfrm>
            <a:off x="6675438" y="3795713"/>
            <a:ext cx="76200" cy="533400"/>
          </a:xfrm>
          <a:prstGeom prst="upArrow">
            <a:avLst>
              <a:gd name="adj1" fmla="val 50000"/>
              <a:gd name="adj2" fmla="val 175000"/>
            </a:avLst>
          </a:prstGeom>
          <a:solidFill>
            <a:srgbClr val="FF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en-US" sz="2400" b="1"/>
          </a:p>
        </p:txBody>
      </p:sp>
      <p:sp>
        <p:nvSpPr>
          <p:cNvPr id="51214" name="Rectangle 39"/>
          <p:cNvSpPr>
            <a:spLocks noChangeArrowheads="1"/>
          </p:cNvSpPr>
          <p:nvPr/>
        </p:nvSpPr>
        <p:spPr bwMode="auto">
          <a:xfrm>
            <a:off x="171450" y="2098675"/>
            <a:ext cx="1066800" cy="685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400" b="1"/>
              <a:t>Other Food</a:t>
            </a:r>
          </a:p>
        </p:txBody>
      </p:sp>
      <p:sp>
        <p:nvSpPr>
          <p:cNvPr id="51215" name="Text Box 40"/>
          <p:cNvSpPr txBox="1">
            <a:spLocks noChangeArrowheads="1"/>
          </p:cNvSpPr>
          <p:nvPr/>
        </p:nvSpPr>
        <p:spPr bwMode="auto">
          <a:xfrm>
            <a:off x="2598738" y="1833563"/>
            <a:ext cx="36004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600" b="1">
                <a:solidFill>
                  <a:srgbClr val="000066"/>
                </a:solidFill>
              </a:rPr>
              <a:t>Consumption = Predator BM * %DR</a:t>
            </a:r>
          </a:p>
        </p:txBody>
      </p:sp>
      <p:sp>
        <p:nvSpPr>
          <p:cNvPr id="51216" name="Text Box 41"/>
          <p:cNvSpPr txBox="1">
            <a:spLocks noChangeArrowheads="1"/>
          </p:cNvSpPr>
          <p:nvPr/>
        </p:nvSpPr>
        <p:spPr bwMode="auto">
          <a:xfrm>
            <a:off x="1989138" y="2290763"/>
            <a:ext cx="5486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600" b="1">
                <a:solidFill>
                  <a:srgbClr val="000066"/>
                </a:solidFill>
              </a:rPr>
              <a:t>P</a:t>
            </a:r>
            <a:r>
              <a:rPr lang="en-US" sz="1600" b="1" baseline="-25000">
                <a:solidFill>
                  <a:srgbClr val="000066"/>
                </a:solidFill>
              </a:rPr>
              <a:t>prey</a:t>
            </a:r>
            <a:r>
              <a:rPr lang="en-US" sz="1600" b="1">
                <a:solidFill>
                  <a:srgbClr val="000066"/>
                </a:solidFill>
              </a:rPr>
              <a:t> = (Suitable Biomass)</a:t>
            </a:r>
            <a:r>
              <a:rPr lang="en-US" sz="1600" b="1" baseline="-25000">
                <a:solidFill>
                  <a:srgbClr val="000066"/>
                </a:solidFill>
              </a:rPr>
              <a:t>prey</a:t>
            </a:r>
            <a:r>
              <a:rPr lang="en-US" sz="1600" b="1">
                <a:solidFill>
                  <a:srgbClr val="000066"/>
                </a:solidFill>
              </a:rPr>
              <a:t> / Total Suitable Biomass </a:t>
            </a:r>
          </a:p>
        </p:txBody>
      </p:sp>
      <p:sp>
        <p:nvSpPr>
          <p:cNvPr id="51217" name="AutoShape 42"/>
          <p:cNvSpPr>
            <a:spLocks noChangeArrowheads="1"/>
          </p:cNvSpPr>
          <p:nvPr/>
        </p:nvSpPr>
        <p:spPr bwMode="auto">
          <a:xfrm>
            <a:off x="1303338" y="2671763"/>
            <a:ext cx="381000" cy="152400"/>
          </a:xfrm>
          <a:prstGeom prst="rightArrow">
            <a:avLst>
              <a:gd name="adj1" fmla="val 50000"/>
              <a:gd name="adj2" fmla="val 625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1218" name="Text Box 43"/>
          <p:cNvSpPr txBox="1">
            <a:spLocks noChangeArrowheads="1"/>
          </p:cNvSpPr>
          <p:nvPr/>
        </p:nvSpPr>
        <p:spPr bwMode="auto">
          <a:xfrm>
            <a:off x="3132138" y="2747963"/>
            <a:ext cx="27908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600" b="1">
                <a:solidFill>
                  <a:srgbClr val="000066"/>
                </a:solidFill>
              </a:rPr>
              <a:t>C</a:t>
            </a:r>
            <a:r>
              <a:rPr lang="en-US" sz="1600" b="1" baseline="-25000">
                <a:solidFill>
                  <a:srgbClr val="000066"/>
                </a:solidFill>
              </a:rPr>
              <a:t>prey</a:t>
            </a:r>
            <a:r>
              <a:rPr lang="en-US" sz="1600" b="1">
                <a:solidFill>
                  <a:srgbClr val="000066"/>
                </a:solidFill>
              </a:rPr>
              <a:t> = Consumption * P</a:t>
            </a:r>
            <a:r>
              <a:rPr lang="en-US" sz="1600" b="1" baseline="-25000">
                <a:solidFill>
                  <a:srgbClr val="000066"/>
                </a:solidFill>
              </a:rPr>
              <a:t>prey</a:t>
            </a:r>
          </a:p>
        </p:txBody>
      </p:sp>
      <p:sp>
        <p:nvSpPr>
          <p:cNvPr id="51219" name="Text Box 44"/>
          <p:cNvSpPr txBox="1">
            <a:spLocks noChangeArrowheads="1"/>
          </p:cNvSpPr>
          <p:nvPr/>
        </p:nvSpPr>
        <p:spPr bwMode="auto">
          <a:xfrm>
            <a:off x="3436938" y="3205163"/>
            <a:ext cx="2438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600" b="1">
                <a:solidFill>
                  <a:srgbClr val="000066"/>
                </a:solidFill>
              </a:rPr>
              <a:t>M2</a:t>
            </a:r>
            <a:r>
              <a:rPr lang="en-US" sz="1600" b="1" baseline="-25000">
                <a:solidFill>
                  <a:srgbClr val="000066"/>
                </a:solidFill>
              </a:rPr>
              <a:t>prey</a:t>
            </a:r>
            <a:r>
              <a:rPr lang="en-US" sz="1600" b="1">
                <a:solidFill>
                  <a:srgbClr val="000066"/>
                </a:solidFill>
              </a:rPr>
              <a:t> = C</a:t>
            </a:r>
            <a:r>
              <a:rPr lang="en-US" sz="1600" b="1" baseline="-25000">
                <a:solidFill>
                  <a:srgbClr val="000066"/>
                </a:solidFill>
              </a:rPr>
              <a:t>prey </a:t>
            </a:r>
            <a:r>
              <a:rPr lang="en-US" sz="1600" b="1">
                <a:solidFill>
                  <a:srgbClr val="000066"/>
                </a:solidFill>
              </a:rPr>
              <a:t>/ BM</a:t>
            </a:r>
            <a:r>
              <a:rPr lang="en-US" sz="1600" b="1" baseline="-25000">
                <a:solidFill>
                  <a:srgbClr val="000066"/>
                </a:solidFill>
              </a:rPr>
              <a:t>prey</a:t>
            </a:r>
          </a:p>
        </p:txBody>
      </p:sp>
      <p:sp>
        <p:nvSpPr>
          <p:cNvPr id="51220" name="AutoShape 45"/>
          <p:cNvSpPr>
            <a:spLocks noChangeArrowheads="1"/>
          </p:cNvSpPr>
          <p:nvPr/>
        </p:nvSpPr>
        <p:spPr bwMode="auto">
          <a:xfrm rot="5773358">
            <a:off x="6705600" y="3657600"/>
            <a:ext cx="2590800" cy="762000"/>
          </a:xfrm>
          <a:prstGeom prst="curvedDownArrow">
            <a:avLst>
              <a:gd name="adj1" fmla="val 49914"/>
              <a:gd name="adj2" fmla="val 117914"/>
              <a:gd name="adj3" fmla="val 33333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1221" name="Text Box 46"/>
          <p:cNvSpPr txBox="1">
            <a:spLocks noChangeArrowheads="1"/>
          </p:cNvSpPr>
          <p:nvPr/>
        </p:nvSpPr>
        <p:spPr bwMode="auto">
          <a:xfrm>
            <a:off x="8077200" y="2438400"/>
            <a:ext cx="1066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2000" b="1">
                <a:solidFill>
                  <a:srgbClr val="000066"/>
                </a:solidFill>
              </a:rPr>
              <a:t>M2</a:t>
            </a:r>
            <a:r>
              <a:rPr lang="en-US" sz="2000" b="1" baseline="-25000">
                <a:solidFill>
                  <a:srgbClr val="000066"/>
                </a:solidFill>
              </a:rPr>
              <a:t>age</a:t>
            </a:r>
          </a:p>
        </p:txBody>
      </p:sp>
      <p:sp>
        <p:nvSpPr>
          <p:cNvPr id="51222" name="Text Box 47"/>
          <p:cNvSpPr txBox="1">
            <a:spLocks noChangeArrowheads="1"/>
          </p:cNvSpPr>
          <p:nvPr/>
        </p:nvSpPr>
        <p:spPr bwMode="auto">
          <a:xfrm>
            <a:off x="2979738" y="5948363"/>
            <a:ext cx="30448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2400" b="1">
                <a:solidFill>
                  <a:srgbClr val="000066"/>
                </a:solidFill>
              </a:rPr>
              <a:t>Single Species VPA</a:t>
            </a:r>
          </a:p>
        </p:txBody>
      </p:sp>
      <p:sp>
        <p:nvSpPr>
          <p:cNvPr id="51223" name="Text Box 48"/>
          <p:cNvSpPr txBox="1">
            <a:spLocks noChangeArrowheads="1"/>
          </p:cNvSpPr>
          <p:nvPr/>
        </p:nvSpPr>
        <p:spPr bwMode="auto">
          <a:xfrm>
            <a:off x="1989138" y="3890963"/>
            <a:ext cx="8382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600" b="1"/>
              <a:t>BM</a:t>
            </a:r>
            <a:r>
              <a:rPr lang="en-US" sz="1600" b="1" baseline="-25000"/>
              <a:t>age</a:t>
            </a:r>
          </a:p>
        </p:txBody>
      </p:sp>
      <p:sp>
        <p:nvSpPr>
          <p:cNvPr id="51224" name="Text Box 49"/>
          <p:cNvSpPr txBox="1">
            <a:spLocks noChangeArrowheads="1"/>
          </p:cNvSpPr>
          <p:nvPr/>
        </p:nvSpPr>
        <p:spPr bwMode="auto">
          <a:xfrm>
            <a:off x="3208338" y="3890963"/>
            <a:ext cx="8382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600" b="1"/>
              <a:t>BM</a:t>
            </a:r>
            <a:r>
              <a:rPr lang="en-US" sz="1600" b="1" baseline="-25000"/>
              <a:t>age</a:t>
            </a:r>
          </a:p>
        </p:txBody>
      </p:sp>
      <p:sp>
        <p:nvSpPr>
          <p:cNvPr id="51225" name="Text Box 50"/>
          <p:cNvSpPr txBox="1">
            <a:spLocks noChangeArrowheads="1"/>
          </p:cNvSpPr>
          <p:nvPr/>
        </p:nvSpPr>
        <p:spPr bwMode="auto">
          <a:xfrm>
            <a:off x="4351338" y="3890963"/>
            <a:ext cx="8382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600" b="1"/>
              <a:t>BM</a:t>
            </a:r>
            <a:r>
              <a:rPr lang="en-US" sz="1600" b="1" baseline="-25000"/>
              <a:t>age</a:t>
            </a:r>
          </a:p>
        </p:txBody>
      </p:sp>
      <p:sp>
        <p:nvSpPr>
          <p:cNvPr id="51226" name="Text Box 51"/>
          <p:cNvSpPr txBox="1">
            <a:spLocks noChangeArrowheads="1"/>
          </p:cNvSpPr>
          <p:nvPr/>
        </p:nvSpPr>
        <p:spPr bwMode="auto">
          <a:xfrm>
            <a:off x="5418138" y="3890963"/>
            <a:ext cx="8382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600" b="1"/>
              <a:t>BM</a:t>
            </a:r>
            <a:r>
              <a:rPr lang="en-US" sz="1600" b="1" baseline="-25000"/>
              <a:t>age</a:t>
            </a:r>
          </a:p>
        </p:txBody>
      </p:sp>
      <p:sp>
        <p:nvSpPr>
          <p:cNvPr id="51227" name="Text Box 52"/>
          <p:cNvSpPr txBox="1">
            <a:spLocks noChangeArrowheads="1"/>
          </p:cNvSpPr>
          <p:nvPr/>
        </p:nvSpPr>
        <p:spPr bwMode="auto">
          <a:xfrm>
            <a:off x="6713538" y="3890963"/>
            <a:ext cx="8382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600" b="1"/>
              <a:t>BM</a:t>
            </a:r>
            <a:r>
              <a:rPr lang="en-US" sz="1600" b="1" baseline="-25000"/>
              <a:t>age</a:t>
            </a:r>
          </a:p>
        </p:txBody>
      </p:sp>
      <p:sp>
        <p:nvSpPr>
          <p:cNvPr id="51228" name="Rectangle 53"/>
          <p:cNvSpPr>
            <a:spLocks noChangeArrowheads="1"/>
          </p:cNvSpPr>
          <p:nvPr/>
        </p:nvSpPr>
        <p:spPr bwMode="auto">
          <a:xfrm>
            <a:off x="2579688" y="1030288"/>
            <a:ext cx="3962400" cy="6096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400" b="1"/>
              <a:t>Diet Data</a:t>
            </a:r>
          </a:p>
        </p:txBody>
      </p:sp>
      <p:sp>
        <p:nvSpPr>
          <p:cNvPr id="51229" name="AutoShape 54"/>
          <p:cNvSpPr>
            <a:spLocks noChangeArrowheads="1"/>
          </p:cNvSpPr>
          <p:nvPr/>
        </p:nvSpPr>
        <p:spPr bwMode="auto">
          <a:xfrm>
            <a:off x="7227888" y="1258888"/>
            <a:ext cx="990600" cy="1295400"/>
          </a:xfrm>
          <a:prstGeom prst="curvedLeftArrow">
            <a:avLst>
              <a:gd name="adj1" fmla="val 26154"/>
              <a:gd name="adj2" fmla="val 52308"/>
              <a:gd name="adj3" fmla="val 33333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1230" name="Text Box 55"/>
          <p:cNvSpPr txBox="1">
            <a:spLocks noChangeArrowheads="1"/>
          </p:cNvSpPr>
          <p:nvPr/>
        </p:nvSpPr>
        <p:spPr bwMode="auto">
          <a:xfrm>
            <a:off x="7456488" y="774700"/>
            <a:ext cx="1302560" cy="5847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600" b="1" dirty="0">
                <a:solidFill>
                  <a:srgbClr val="000066"/>
                </a:solidFill>
              </a:rPr>
              <a:t>Suitability</a:t>
            </a:r>
          </a:p>
          <a:p>
            <a:pPr eaLnBrk="1" hangingPunct="1"/>
            <a:r>
              <a:rPr lang="en-US" sz="1600" b="1" dirty="0">
                <a:solidFill>
                  <a:srgbClr val="000066"/>
                </a:solidFill>
              </a:rPr>
              <a:t>Parameters</a:t>
            </a:r>
          </a:p>
        </p:txBody>
      </p:sp>
      <p:sp>
        <p:nvSpPr>
          <p:cNvPr id="51231" name="Rectangle 56"/>
          <p:cNvSpPr>
            <a:spLocks noChangeArrowheads="1"/>
          </p:cNvSpPr>
          <p:nvPr/>
        </p:nvSpPr>
        <p:spPr bwMode="auto">
          <a:xfrm>
            <a:off x="293688" y="4306888"/>
            <a:ext cx="1066800" cy="685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400" b="1"/>
              <a:t>Other </a:t>
            </a:r>
          </a:p>
          <a:p>
            <a:pPr algn="ctr"/>
            <a:r>
              <a:rPr lang="en-US" sz="1400" b="1"/>
              <a:t>Predators</a:t>
            </a:r>
          </a:p>
        </p:txBody>
      </p:sp>
      <p:sp>
        <p:nvSpPr>
          <p:cNvPr id="51232" name="AutoShape 57"/>
          <p:cNvSpPr>
            <a:spLocks noChangeArrowheads="1"/>
          </p:cNvSpPr>
          <p:nvPr/>
        </p:nvSpPr>
        <p:spPr bwMode="auto">
          <a:xfrm rot="-2749819">
            <a:off x="1203325" y="3787775"/>
            <a:ext cx="838200" cy="228600"/>
          </a:xfrm>
          <a:prstGeom prst="rightArrow">
            <a:avLst>
              <a:gd name="adj1" fmla="val 50000"/>
              <a:gd name="adj2" fmla="val 9166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1233" name="Text Box 58"/>
          <p:cNvSpPr txBox="1">
            <a:spLocks noChangeArrowheads="1"/>
          </p:cNvSpPr>
          <p:nvPr/>
        </p:nvSpPr>
        <p:spPr bwMode="auto">
          <a:xfrm>
            <a:off x="6096000" y="6477000"/>
            <a:ext cx="29718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1600"/>
              <a:t>Adapted from Garrison et al.</a:t>
            </a:r>
          </a:p>
        </p:txBody>
      </p:sp>
    </p:spTree>
    <p:extLst>
      <p:ext uri="{BB962C8B-B14F-4D97-AF65-F5344CB8AC3E}">
        <p14:creationId xmlns:p14="http://schemas.microsoft.com/office/powerpoint/2010/main" val="23371681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Multispecies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err="1"/>
              <a:t>Bioeconomic</a:t>
            </a:r>
            <a:r>
              <a:rPr lang="en-US" dirty="0"/>
              <a:t> Models</a:t>
            </a:r>
          </a:p>
          <a:p>
            <a:r>
              <a:rPr lang="en-US" dirty="0"/>
              <a:t>Explore tradeoffs among species interactions and value of different stocks simultaneously.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555" y="5085589"/>
            <a:ext cx="6194778" cy="177241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63244" y="3364645"/>
            <a:ext cx="5023556" cy="2333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20369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61014"/>
            <a:ext cx="8229600" cy="688359"/>
          </a:xfrm>
        </p:spPr>
        <p:txBody>
          <a:bodyPr>
            <a:noAutofit/>
          </a:bodyPr>
          <a:lstStyle/>
          <a:p>
            <a:r>
              <a:rPr lang="en-US" dirty="0"/>
              <a:t>Minimal Realistic Models</a:t>
            </a:r>
            <a:br>
              <a:rPr lang="en-US" dirty="0"/>
            </a:br>
            <a:r>
              <a:rPr lang="en-US" dirty="0"/>
              <a:t>a.k.a. Models of Intermediate Complexity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Objective of these models is to consider the interactions among a small number of species and components.</a:t>
            </a:r>
          </a:p>
          <a:p>
            <a:r>
              <a:rPr lang="en-US" dirty="0"/>
              <a:t>Focus on ‘key’ system properties/components relevant to the research or management questions.</a:t>
            </a:r>
          </a:p>
          <a:p>
            <a:r>
              <a:rPr lang="en-US" dirty="0"/>
              <a:t>May include a suite of model types for each component.</a:t>
            </a:r>
          </a:p>
          <a:p>
            <a:r>
              <a:rPr lang="en-US" dirty="0"/>
              <a:t>Statistically estimate model parameters using data similar to single-species models.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11769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sz="3600" b="1" dirty="0">
                <a:ea typeface="+mj-ea"/>
              </a:rPr>
              <a:t>Barents Sea </a:t>
            </a:r>
            <a:r>
              <a:rPr lang="en-US" sz="3600" b="1" dirty="0" err="1">
                <a:ea typeface="+mj-ea"/>
              </a:rPr>
              <a:t>Minke</a:t>
            </a:r>
            <a:r>
              <a:rPr lang="en-US" sz="3600" b="1" dirty="0">
                <a:ea typeface="+mj-ea"/>
              </a:rPr>
              <a:t> Whales-Cod-Capelin EXAMPLE</a:t>
            </a:r>
          </a:p>
        </p:txBody>
      </p:sp>
      <p:sp>
        <p:nvSpPr>
          <p:cNvPr id="62467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051870"/>
            <a:ext cx="4419600" cy="5588417"/>
          </a:xfrm>
          <a:prstGeom prst="rect">
            <a:avLst/>
          </a:prstGeom>
        </p:spPr>
        <p:txBody>
          <a:bodyPr/>
          <a:lstStyle/>
          <a:p>
            <a:pPr algn="l" eaLnBrk="1" hangingPunct="1">
              <a:buClr>
                <a:srgbClr val="000066"/>
              </a:buClr>
              <a:buFontTx/>
              <a:buChar char="•"/>
            </a:pPr>
            <a:r>
              <a:rPr lang="en-US" dirty="0">
                <a:solidFill>
                  <a:srgbClr val="000066"/>
                </a:solidFill>
              </a:rPr>
              <a:t>Several models:</a:t>
            </a:r>
          </a:p>
          <a:p>
            <a:pPr lvl="1">
              <a:buClr>
                <a:srgbClr val="000066"/>
              </a:buClr>
              <a:buFontTx/>
              <a:buChar char="•"/>
            </a:pPr>
            <a:r>
              <a:rPr lang="en-US" dirty="0">
                <a:solidFill>
                  <a:srgbClr val="000066"/>
                </a:solidFill>
              </a:rPr>
              <a:t>GADGET,</a:t>
            </a:r>
          </a:p>
          <a:p>
            <a:pPr lvl="1">
              <a:buClr>
                <a:srgbClr val="000066"/>
              </a:buClr>
              <a:buFontTx/>
              <a:buChar char="•"/>
            </a:pPr>
            <a:r>
              <a:rPr lang="en-US" dirty="0">
                <a:solidFill>
                  <a:srgbClr val="000066"/>
                </a:solidFill>
              </a:rPr>
              <a:t>BORMICON,</a:t>
            </a:r>
          </a:p>
          <a:p>
            <a:pPr lvl="1">
              <a:buClr>
                <a:srgbClr val="000066"/>
              </a:buClr>
              <a:buFontTx/>
              <a:buChar char="•"/>
            </a:pPr>
            <a:r>
              <a:rPr lang="en-US" dirty="0">
                <a:solidFill>
                  <a:srgbClr val="000066"/>
                </a:solidFill>
              </a:rPr>
              <a:t>MULTSPEC, etc.</a:t>
            </a:r>
          </a:p>
          <a:p>
            <a:pPr algn="l" eaLnBrk="1" hangingPunct="1">
              <a:buClr>
                <a:srgbClr val="000066"/>
              </a:buClr>
              <a:buFontTx/>
              <a:buChar char="•"/>
            </a:pPr>
            <a:r>
              <a:rPr lang="en-US" dirty="0">
                <a:solidFill>
                  <a:srgbClr val="000066"/>
                </a:solidFill>
              </a:rPr>
              <a:t>Explores tradeoffs among 4 main species interactions.</a:t>
            </a:r>
          </a:p>
          <a:p>
            <a:pPr algn="l" eaLnBrk="1" hangingPunct="1">
              <a:buClr>
                <a:srgbClr val="000066"/>
              </a:buClr>
              <a:buFontTx/>
              <a:buChar char="•"/>
            </a:pPr>
            <a:r>
              <a:rPr lang="en-US" dirty="0">
                <a:solidFill>
                  <a:srgbClr val="000066"/>
                </a:solidFill>
              </a:rPr>
              <a:t>Environment and fishing contrasted.</a:t>
            </a:r>
          </a:p>
        </p:txBody>
      </p:sp>
      <p:pic>
        <p:nvPicPr>
          <p:cNvPr id="62468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6800" y="872282"/>
            <a:ext cx="4049713" cy="544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98778" y="6119336"/>
            <a:ext cx="543277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/>
              <a:t>Bogstad</a:t>
            </a:r>
            <a:r>
              <a:rPr lang="en-US" sz="1400" dirty="0"/>
              <a:t>, B., </a:t>
            </a:r>
            <a:r>
              <a:rPr lang="en-US" sz="1400" dirty="0" err="1"/>
              <a:t>Hauge</a:t>
            </a:r>
            <a:r>
              <a:rPr lang="en-US" sz="1400" dirty="0"/>
              <a:t>, K. H., &amp; </a:t>
            </a:r>
            <a:r>
              <a:rPr lang="en-US" sz="1400" dirty="0" err="1"/>
              <a:t>Ulltang</a:t>
            </a:r>
            <a:r>
              <a:rPr lang="en-US" sz="1400" dirty="0"/>
              <a:t>, </a:t>
            </a:r>
            <a:r>
              <a:rPr lang="en-US" sz="1400" dirty="0" err="1"/>
              <a:t>Ø</a:t>
            </a:r>
            <a:r>
              <a:rPr lang="en-US" sz="1400" dirty="0"/>
              <a:t>. (1997). MULTSPEC–a multi-species model for fish and marine mammals in the Barents Sea. </a:t>
            </a:r>
            <a:r>
              <a:rPr lang="en-US" sz="1400" i="1" dirty="0"/>
              <a:t>Journal of Northwest Atlantic Fishery Science</a:t>
            </a:r>
            <a:r>
              <a:rPr lang="en-US" sz="1400" dirty="0"/>
              <a:t>, </a:t>
            </a:r>
            <a:r>
              <a:rPr lang="en-US" sz="1400" i="1" dirty="0"/>
              <a:t>22</a:t>
            </a:r>
            <a:r>
              <a:rPr lang="en-US" sz="1400" dirty="0"/>
              <a:t>(317-341), 1-1.</a:t>
            </a:r>
          </a:p>
        </p:txBody>
      </p:sp>
    </p:spTree>
    <p:extLst>
      <p:ext uri="{BB962C8B-B14F-4D97-AF65-F5344CB8AC3E}">
        <p14:creationId xmlns:p14="http://schemas.microsoft.com/office/powerpoint/2010/main" val="2230735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490" name="Group 33"/>
          <p:cNvGrpSpPr>
            <a:grpSpLocks/>
          </p:cNvGrpSpPr>
          <p:nvPr/>
        </p:nvGrpSpPr>
        <p:grpSpPr bwMode="auto">
          <a:xfrm>
            <a:off x="0" y="533400"/>
            <a:ext cx="9032875" cy="6289675"/>
            <a:chOff x="0" y="185738"/>
            <a:chExt cx="9032875" cy="6289675"/>
          </a:xfrm>
        </p:grpSpPr>
        <p:pic>
          <p:nvPicPr>
            <p:cNvPr id="63493" name="Picture 2"/>
            <p:cNvPicPr>
              <a:picLocks noChangeAspect="1" noChangeArrowheads="1"/>
            </p:cNvPicPr>
            <p:nvPr/>
          </p:nvPicPr>
          <p:blipFill>
            <a:blip r:embed="rId2">
              <a:lum contrast="18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3400" y="3581400"/>
              <a:ext cx="3124200" cy="11668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3494" name="Rectangle 3"/>
            <p:cNvSpPr>
              <a:spLocks noChangeArrowheads="1"/>
            </p:cNvSpPr>
            <p:nvPr/>
          </p:nvSpPr>
          <p:spPr bwMode="auto">
            <a:xfrm>
              <a:off x="0" y="762000"/>
              <a:ext cx="8839200" cy="16764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pic>
          <p:nvPicPr>
            <p:cNvPr id="63495" name="Picture 4"/>
            <p:cNvPicPr>
              <a:picLocks noChangeAspect="1" noChangeArrowheads="1"/>
            </p:cNvPicPr>
            <p:nvPr/>
          </p:nvPicPr>
          <p:blipFill>
            <a:blip r:embed="rId3">
              <a:lum contrast="3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66800" y="1227138"/>
              <a:ext cx="2209800" cy="13731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3496" name="Text Box 5"/>
            <p:cNvSpPr txBox="1">
              <a:spLocks noChangeArrowheads="1"/>
            </p:cNvSpPr>
            <p:nvPr/>
          </p:nvSpPr>
          <p:spPr bwMode="auto">
            <a:xfrm>
              <a:off x="3794125" y="185738"/>
              <a:ext cx="1963738" cy="495300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/>
                <a:t>Management</a:t>
              </a:r>
            </a:p>
          </p:txBody>
        </p:sp>
        <p:pic>
          <p:nvPicPr>
            <p:cNvPr id="63497" name="Picture 6"/>
            <p:cNvPicPr>
              <a:picLocks noChangeAspect="1" noChangeArrowheads="1"/>
            </p:cNvPicPr>
            <p:nvPr/>
          </p:nvPicPr>
          <p:blipFill>
            <a:blip r:embed="rId4">
              <a:lum contrast="18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715000" y="914400"/>
              <a:ext cx="2219325" cy="1549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3498" name="Picture 7"/>
            <p:cNvPicPr>
              <a:picLocks noChangeAspect="1" noChangeArrowheads="1"/>
            </p:cNvPicPr>
            <p:nvPr/>
          </p:nvPicPr>
          <p:blipFill>
            <a:blip r:embed="rId5">
              <a:lum contrast="24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38200" y="5562600"/>
              <a:ext cx="1066800" cy="3984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3499" name="Picture 8"/>
            <p:cNvPicPr>
              <a:picLocks noChangeAspect="1" noChangeArrowheads="1"/>
            </p:cNvPicPr>
            <p:nvPr/>
          </p:nvPicPr>
          <p:blipFill>
            <a:blip r:embed="rId6">
              <a:lum contrast="24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867400" y="5791200"/>
              <a:ext cx="2217738" cy="6397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3500" name="Picture 9"/>
            <p:cNvPicPr>
              <a:picLocks noChangeAspect="1" noChangeArrowheads="1"/>
            </p:cNvPicPr>
            <p:nvPr/>
          </p:nvPicPr>
          <p:blipFill>
            <a:blip r:embed="rId7">
              <a:lum contrast="24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47800" y="6019800"/>
              <a:ext cx="1219200" cy="4556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3501" name="Picture 10"/>
            <p:cNvPicPr>
              <a:picLocks noChangeAspect="1" noChangeArrowheads="1"/>
            </p:cNvPicPr>
            <p:nvPr/>
          </p:nvPicPr>
          <p:blipFill>
            <a:blip r:embed="rId7">
              <a:lum contrast="24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57400" y="5562600"/>
              <a:ext cx="1219200" cy="4556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3502" name="Line 11"/>
            <p:cNvSpPr>
              <a:spLocks noChangeShapeType="1"/>
            </p:cNvSpPr>
            <p:nvPr/>
          </p:nvSpPr>
          <p:spPr bwMode="auto">
            <a:xfrm>
              <a:off x="3276600" y="5867400"/>
              <a:ext cx="2590800" cy="228600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63503" name="Line 12"/>
            <p:cNvSpPr>
              <a:spLocks noChangeShapeType="1"/>
            </p:cNvSpPr>
            <p:nvPr/>
          </p:nvSpPr>
          <p:spPr bwMode="auto">
            <a:xfrm>
              <a:off x="3581400" y="4267200"/>
              <a:ext cx="1524000" cy="228600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63504" name="Line 13"/>
            <p:cNvSpPr>
              <a:spLocks noChangeShapeType="1"/>
            </p:cNvSpPr>
            <p:nvPr/>
          </p:nvSpPr>
          <p:spPr bwMode="auto">
            <a:xfrm flipV="1">
              <a:off x="1981200" y="4800600"/>
              <a:ext cx="152400" cy="762000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63505" name="Line 14"/>
            <p:cNvSpPr>
              <a:spLocks noChangeShapeType="1"/>
            </p:cNvSpPr>
            <p:nvPr/>
          </p:nvSpPr>
          <p:spPr bwMode="auto">
            <a:xfrm flipH="1" flipV="1">
              <a:off x="6400800" y="4953000"/>
              <a:ext cx="76200" cy="609600"/>
            </a:xfrm>
            <a:prstGeom prst="line">
              <a:avLst/>
            </a:prstGeom>
            <a:noFill/>
            <a:ln w="50800" cap="rnd">
              <a:solidFill>
                <a:schemeClr val="tx1"/>
              </a:solidFill>
              <a:prstDash val="sysDot"/>
              <a:miter lim="800000"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cxnSp>
          <p:nvCxnSpPr>
            <p:cNvPr id="63506" name="AutoShape 15"/>
            <p:cNvCxnSpPr>
              <a:cxnSpLocks noChangeShapeType="1"/>
            </p:cNvCxnSpPr>
            <p:nvPr/>
          </p:nvCxnSpPr>
          <p:spPr bwMode="auto">
            <a:xfrm rot="10800000" flipH="1">
              <a:off x="533400" y="3581400"/>
              <a:ext cx="1562100" cy="584200"/>
            </a:xfrm>
            <a:prstGeom prst="curvedConnector4">
              <a:avLst>
                <a:gd name="adj1" fmla="val -14634"/>
                <a:gd name="adj2" fmla="val 139130"/>
              </a:avLst>
            </a:prstGeom>
            <a:noFill/>
            <a:ln w="50800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</p:cxnSp>
        <p:sp>
          <p:nvSpPr>
            <p:cNvPr id="63507" name="Line 16"/>
            <p:cNvSpPr>
              <a:spLocks noChangeShapeType="1"/>
            </p:cNvSpPr>
            <p:nvPr/>
          </p:nvSpPr>
          <p:spPr bwMode="auto">
            <a:xfrm flipV="1">
              <a:off x="3048000" y="2362200"/>
              <a:ext cx="2667000" cy="3276600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cxnSp>
          <p:nvCxnSpPr>
            <p:cNvPr id="63508" name="AutoShape 17"/>
            <p:cNvCxnSpPr>
              <a:cxnSpLocks noChangeShapeType="1"/>
            </p:cNvCxnSpPr>
            <p:nvPr/>
          </p:nvCxnSpPr>
          <p:spPr bwMode="auto">
            <a:xfrm flipH="1" flipV="1">
              <a:off x="6553200" y="2362200"/>
              <a:ext cx="1531938" cy="3749675"/>
            </a:xfrm>
            <a:prstGeom prst="curvedConnector4">
              <a:avLst>
                <a:gd name="adj1" fmla="val -14921"/>
                <a:gd name="adj2" fmla="val 54278"/>
              </a:avLst>
            </a:prstGeom>
            <a:noFill/>
            <a:ln w="50800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</p:cxnSp>
        <p:pic>
          <p:nvPicPr>
            <p:cNvPr id="63509" name="Picture 18"/>
            <p:cNvPicPr>
              <a:picLocks noChangeAspect="1" noChangeArrowheads="1"/>
            </p:cNvPicPr>
            <p:nvPr/>
          </p:nvPicPr>
          <p:blipFill>
            <a:blip r:embed="rId8">
              <a:lum contrast="18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05400" y="4038600"/>
              <a:ext cx="3360738" cy="9699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3510" name="Line 19"/>
            <p:cNvSpPr>
              <a:spLocks noChangeShapeType="1"/>
            </p:cNvSpPr>
            <p:nvPr/>
          </p:nvSpPr>
          <p:spPr bwMode="auto">
            <a:xfrm flipH="1" flipV="1">
              <a:off x="3124200" y="1981200"/>
              <a:ext cx="2514600" cy="2286000"/>
            </a:xfrm>
            <a:prstGeom prst="line">
              <a:avLst/>
            </a:prstGeom>
            <a:noFill/>
            <a:ln w="50800">
              <a:solidFill>
                <a:schemeClr val="hlink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63511" name="Line 20"/>
            <p:cNvSpPr>
              <a:spLocks noChangeShapeType="1"/>
            </p:cNvSpPr>
            <p:nvPr/>
          </p:nvSpPr>
          <p:spPr bwMode="auto">
            <a:xfrm flipV="1">
              <a:off x="2286000" y="2514600"/>
              <a:ext cx="152400" cy="1219200"/>
            </a:xfrm>
            <a:prstGeom prst="line">
              <a:avLst/>
            </a:prstGeom>
            <a:noFill/>
            <a:ln w="50800">
              <a:solidFill>
                <a:schemeClr val="hlink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63512" name="Line 21"/>
            <p:cNvSpPr>
              <a:spLocks noChangeShapeType="1"/>
            </p:cNvSpPr>
            <p:nvPr/>
          </p:nvSpPr>
          <p:spPr bwMode="auto">
            <a:xfrm flipV="1">
              <a:off x="3276600" y="685800"/>
              <a:ext cx="1143000" cy="609600"/>
            </a:xfrm>
            <a:prstGeom prst="line">
              <a:avLst/>
            </a:prstGeom>
            <a:noFill/>
            <a:ln w="50800">
              <a:solidFill>
                <a:schemeClr val="accent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63513" name="Line 22"/>
            <p:cNvSpPr>
              <a:spLocks noChangeShapeType="1"/>
            </p:cNvSpPr>
            <p:nvPr/>
          </p:nvSpPr>
          <p:spPr bwMode="auto">
            <a:xfrm flipH="1" flipV="1">
              <a:off x="5181600" y="685800"/>
              <a:ext cx="914400" cy="685800"/>
            </a:xfrm>
            <a:prstGeom prst="line">
              <a:avLst/>
            </a:prstGeom>
            <a:noFill/>
            <a:ln w="50800">
              <a:solidFill>
                <a:schemeClr val="accent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63514" name="Line 23"/>
            <p:cNvSpPr>
              <a:spLocks noChangeShapeType="1"/>
            </p:cNvSpPr>
            <p:nvPr/>
          </p:nvSpPr>
          <p:spPr bwMode="auto">
            <a:xfrm flipH="1" flipV="1">
              <a:off x="4800600" y="762000"/>
              <a:ext cx="1447800" cy="3276600"/>
            </a:xfrm>
            <a:prstGeom prst="line">
              <a:avLst/>
            </a:prstGeom>
            <a:noFill/>
            <a:ln w="50800">
              <a:solidFill>
                <a:schemeClr val="accent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63515" name="Text Box 24"/>
            <p:cNvSpPr txBox="1">
              <a:spLocks noChangeArrowheads="1"/>
            </p:cNvSpPr>
            <p:nvPr/>
          </p:nvSpPr>
          <p:spPr bwMode="auto">
            <a:xfrm>
              <a:off x="152400" y="304800"/>
              <a:ext cx="3184525" cy="873125"/>
            </a:xfrm>
            <a:prstGeom prst="rect">
              <a:avLst/>
            </a:prstGeom>
            <a:noFill/>
            <a:ln w="50800">
              <a:solidFill>
                <a:schemeClr val="hlink"/>
              </a:solidFill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/>
                <a:t>Model Structures and</a:t>
              </a:r>
            </a:p>
            <a:p>
              <a:pPr eaLnBrk="1" hangingPunct="1"/>
              <a:r>
                <a:rPr lang="en-US"/>
                <a:t>Management Systems</a:t>
              </a:r>
            </a:p>
          </p:txBody>
        </p:sp>
        <p:sp>
          <p:nvSpPr>
            <p:cNvPr id="63516" name="Text Box 25"/>
            <p:cNvSpPr txBox="1">
              <a:spLocks noChangeArrowheads="1"/>
            </p:cNvSpPr>
            <p:nvPr/>
          </p:nvSpPr>
          <p:spPr bwMode="auto">
            <a:xfrm>
              <a:off x="1952625" y="2749550"/>
              <a:ext cx="1085850" cy="422275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2"/>
              </a:solidFill>
              <a:miter lim="800000"/>
              <a:headEnd/>
              <a:tailEnd/>
            </a:ln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 sz="2000"/>
                <a:t>Catches</a:t>
              </a:r>
            </a:p>
          </p:txBody>
        </p:sp>
        <p:sp>
          <p:nvSpPr>
            <p:cNvPr id="63517" name="Text Box 26"/>
            <p:cNvSpPr txBox="1">
              <a:spLocks noChangeArrowheads="1"/>
            </p:cNvSpPr>
            <p:nvPr/>
          </p:nvSpPr>
          <p:spPr bwMode="auto">
            <a:xfrm>
              <a:off x="3886200" y="2819400"/>
              <a:ext cx="1009650" cy="422275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2"/>
              </a:solidFill>
              <a:miter lim="800000"/>
              <a:headEnd/>
              <a:tailEnd/>
            </a:ln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 sz="2000"/>
                <a:t>Fixed F</a:t>
              </a:r>
            </a:p>
          </p:txBody>
        </p:sp>
        <p:sp>
          <p:nvSpPr>
            <p:cNvPr id="63518" name="Text Box 27"/>
            <p:cNvSpPr txBox="1">
              <a:spLocks noChangeArrowheads="1"/>
            </p:cNvSpPr>
            <p:nvPr/>
          </p:nvSpPr>
          <p:spPr bwMode="auto">
            <a:xfrm>
              <a:off x="5486400" y="609600"/>
              <a:ext cx="1739900" cy="422275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2"/>
              </a:solidFill>
              <a:miter lim="800000"/>
              <a:headEnd/>
              <a:tailEnd/>
            </a:ln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 sz="2000"/>
                <a:t>Cull scenarios</a:t>
              </a:r>
            </a:p>
          </p:txBody>
        </p:sp>
        <p:sp>
          <p:nvSpPr>
            <p:cNvPr id="63519" name="Text Box 28"/>
            <p:cNvSpPr txBox="1">
              <a:spLocks noChangeArrowheads="1"/>
            </p:cNvSpPr>
            <p:nvPr/>
          </p:nvSpPr>
          <p:spPr bwMode="auto">
            <a:xfrm>
              <a:off x="68263" y="4605338"/>
              <a:ext cx="2130425" cy="847725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accent2"/>
              </a:solidFill>
              <a:miter lim="800000"/>
              <a:headEnd/>
              <a:tailEnd/>
            </a:ln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/>
                <a:t>Species-; age-</a:t>
              </a:r>
            </a:p>
            <a:p>
              <a:pPr eaLnBrk="1" hangingPunct="1"/>
              <a:r>
                <a:rPr lang="en-US"/>
                <a:t>structured</a:t>
              </a:r>
            </a:p>
          </p:txBody>
        </p:sp>
        <p:sp>
          <p:nvSpPr>
            <p:cNvPr id="63520" name="Line 29"/>
            <p:cNvSpPr>
              <a:spLocks noChangeShapeType="1"/>
            </p:cNvSpPr>
            <p:nvPr/>
          </p:nvSpPr>
          <p:spPr bwMode="auto">
            <a:xfrm flipV="1">
              <a:off x="3276600" y="4724400"/>
              <a:ext cx="1828800" cy="990600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63521" name="Line 30"/>
            <p:cNvSpPr>
              <a:spLocks noChangeShapeType="1"/>
            </p:cNvSpPr>
            <p:nvPr/>
          </p:nvSpPr>
          <p:spPr bwMode="auto">
            <a:xfrm flipH="1" flipV="1">
              <a:off x="3429000" y="4419600"/>
              <a:ext cx="2590800" cy="1524000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63522" name="Text Box 31"/>
            <p:cNvSpPr txBox="1">
              <a:spLocks noChangeArrowheads="1"/>
            </p:cNvSpPr>
            <p:nvPr/>
          </p:nvSpPr>
          <p:spPr bwMode="auto">
            <a:xfrm>
              <a:off x="7375525" y="1252538"/>
              <a:ext cx="1593850" cy="847725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accent2"/>
              </a:solidFill>
              <a:miter lim="800000"/>
              <a:headEnd/>
              <a:tailEnd/>
            </a:ln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/>
                <a:t>Age-; sex-</a:t>
              </a:r>
            </a:p>
            <a:p>
              <a:pPr eaLnBrk="1" hangingPunct="1"/>
              <a:r>
                <a:rPr lang="en-US"/>
                <a:t>structured</a:t>
              </a:r>
            </a:p>
          </p:txBody>
        </p:sp>
        <p:sp>
          <p:nvSpPr>
            <p:cNvPr id="63523" name="Text Box 32"/>
            <p:cNvSpPr txBox="1">
              <a:spLocks noChangeArrowheads="1"/>
            </p:cNvSpPr>
            <p:nvPr/>
          </p:nvSpPr>
          <p:spPr bwMode="auto">
            <a:xfrm>
              <a:off x="6629400" y="5105400"/>
              <a:ext cx="2403475" cy="4826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accent2"/>
              </a:solidFill>
              <a:miter lim="800000"/>
              <a:headEnd/>
              <a:tailEnd/>
            </a:ln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/>
                <a:t>Delay-difference</a:t>
              </a:r>
            </a:p>
          </p:txBody>
        </p:sp>
      </p:grpSp>
      <p:sp>
        <p:nvSpPr>
          <p:cNvPr id="63491" name="Text Box 24"/>
          <p:cNvSpPr txBox="1">
            <a:spLocks noChangeArrowheads="1"/>
          </p:cNvSpPr>
          <p:nvPr/>
        </p:nvSpPr>
        <p:spPr bwMode="auto">
          <a:xfrm>
            <a:off x="76200" y="0"/>
            <a:ext cx="5791200" cy="369888"/>
          </a:xfrm>
          <a:prstGeom prst="rect">
            <a:avLst/>
          </a:prstGeom>
          <a:noFill/>
          <a:ln w="25400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b="1">
                <a:latin typeface="Calibri" charset="0"/>
              </a:rPr>
              <a:t>The South African Seal-Hake </a:t>
            </a:r>
            <a:r>
              <a:rPr lang="ja-JP" altLang="en-US" b="1">
                <a:latin typeface="Calibri" charset="0"/>
              </a:rPr>
              <a:t>“</a:t>
            </a:r>
            <a:r>
              <a:rPr lang="en-US" b="1">
                <a:latin typeface="Calibri" charset="0"/>
              </a:rPr>
              <a:t>Minimal Realistic Model</a:t>
            </a:r>
            <a:r>
              <a:rPr lang="ja-JP" altLang="en-US" b="1">
                <a:latin typeface="Calibri" charset="0"/>
              </a:rPr>
              <a:t>”</a:t>
            </a:r>
            <a:endParaRPr lang="en-US" b="1">
              <a:latin typeface="Calibri" charset="0"/>
            </a:endParaRPr>
          </a:p>
        </p:txBody>
      </p:sp>
      <p:sp>
        <p:nvSpPr>
          <p:cNvPr id="63492" name="TextBox 34"/>
          <p:cNvSpPr txBox="1">
            <a:spLocks noChangeArrowheads="1"/>
          </p:cNvSpPr>
          <p:nvPr/>
        </p:nvSpPr>
        <p:spPr bwMode="auto">
          <a:xfrm>
            <a:off x="8252178" y="6553200"/>
            <a:ext cx="21336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400" dirty="0"/>
              <a:t>A.E. Punt</a:t>
            </a:r>
          </a:p>
        </p:txBody>
      </p:sp>
      <p:sp>
        <p:nvSpPr>
          <p:cNvPr id="2" name="Rectangle 1"/>
          <p:cNvSpPr/>
          <p:nvPr/>
        </p:nvSpPr>
        <p:spPr>
          <a:xfrm>
            <a:off x="6125633" y="999"/>
            <a:ext cx="72390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00" dirty="0"/>
              <a:t>Punt, A. E., &amp; Butterworth, D. S. (1995).</a:t>
            </a:r>
            <a:br>
              <a:rPr lang="en-US" sz="1000" dirty="0"/>
            </a:br>
            <a:r>
              <a:rPr lang="en-US" sz="1000" dirty="0"/>
              <a:t>South African Journal of Marine Science, 16(1), 255-285.</a:t>
            </a:r>
          </a:p>
        </p:txBody>
      </p:sp>
    </p:spTree>
    <p:extLst>
      <p:ext uri="{BB962C8B-B14F-4D97-AF65-F5344CB8AC3E}">
        <p14:creationId xmlns:p14="http://schemas.microsoft.com/office/powerpoint/2010/main" val="2132094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>
            <a:normAutofit fontScale="90000"/>
          </a:bodyPr>
          <a:lstStyle/>
          <a:p>
            <a:r>
              <a:rPr lang="en-US" sz="3600" dirty="0">
                <a:solidFill>
                  <a:schemeClr val="accent1"/>
                </a:solidFill>
              </a:rPr>
              <a:t>MICE example,</a:t>
            </a:r>
            <a:br>
              <a:rPr lang="en-US" sz="3600" dirty="0">
                <a:solidFill>
                  <a:schemeClr val="accent1"/>
                </a:solidFill>
              </a:rPr>
            </a:br>
            <a:r>
              <a:rPr lang="en-US" sz="3600" dirty="0">
                <a:solidFill>
                  <a:schemeClr val="accent1"/>
                </a:solidFill>
              </a:rPr>
              <a:t>a multispecies statistical catch-at-age model</a:t>
            </a:r>
          </a:p>
        </p:txBody>
      </p:sp>
      <p:sp>
        <p:nvSpPr>
          <p:cNvPr id="58371" name="Rectangle 3"/>
          <p:cNvSpPr>
            <a:spLocks noGrp="1" noChangeArrowheads="1"/>
          </p:cNvSpPr>
          <p:nvPr>
            <p:ph sz="half" idx="1"/>
          </p:nvPr>
        </p:nvSpPr>
        <p:spPr>
          <a:xfrm>
            <a:off x="457200" y="1066800"/>
            <a:ext cx="4191000" cy="50593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chemeClr val="tx2"/>
                </a:solidFill>
              </a:rPr>
              <a:t>Simultaneous stock assessments of multiple species fitted to numerous data, including diet information.</a:t>
            </a:r>
          </a:p>
          <a:p>
            <a:pPr marL="0" indent="0">
              <a:buNone/>
            </a:pPr>
            <a:endParaRPr lang="en-US" dirty="0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en-US" sz="2400" dirty="0">
                <a:solidFill>
                  <a:schemeClr val="tx2"/>
                </a:solidFill>
              </a:rPr>
              <a:t>e.g. Aleutian Islands </a:t>
            </a:r>
            <a:r>
              <a:rPr lang="en-US" sz="2400" dirty="0" err="1">
                <a:solidFill>
                  <a:schemeClr val="tx2"/>
                </a:solidFill>
              </a:rPr>
              <a:t>groundfish</a:t>
            </a:r>
            <a:r>
              <a:rPr lang="en-US" sz="2400" dirty="0">
                <a:solidFill>
                  <a:schemeClr val="tx2"/>
                </a:solidFill>
              </a:rPr>
              <a:t> fishery.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tx2"/>
                </a:solidFill>
              </a:rPr>
              <a:t>Walleye </a:t>
            </a:r>
            <a:r>
              <a:rPr lang="en-US" sz="2400" dirty="0" err="1">
                <a:solidFill>
                  <a:schemeClr val="tx2"/>
                </a:solidFill>
              </a:rPr>
              <a:t>pollock</a:t>
            </a:r>
            <a:r>
              <a:rPr lang="en-US" sz="2400" dirty="0">
                <a:solidFill>
                  <a:schemeClr val="tx2"/>
                </a:solidFill>
              </a:rPr>
              <a:t>, Atka mackerel, and Pacific cod interact as predators and prey.</a:t>
            </a:r>
          </a:p>
        </p:txBody>
      </p:sp>
      <p:sp>
        <p:nvSpPr>
          <p:cNvPr id="58372" name="Content Placeholder 6"/>
          <p:cNvSpPr>
            <a:spLocks noGrp="1"/>
          </p:cNvSpPr>
          <p:nvPr>
            <p:ph sz="half" idx="2"/>
          </p:nvPr>
        </p:nvSpPr>
        <p:spPr>
          <a:xfrm>
            <a:off x="4648200" y="1143000"/>
            <a:ext cx="4038600" cy="4983163"/>
          </a:xfrm>
        </p:spPr>
        <p:txBody>
          <a:bodyPr/>
          <a:lstStyle/>
          <a:p>
            <a:endParaRPr lang="en-US">
              <a:latin typeface="Arial" charset="0"/>
            </a:endParaRPr>
          </a:p>
        </p:txBody>
      </p:sp>
      <p:pic>
        <p:nvPicPr>
          <p:cNvPr id="58373" name="Picture 4" descr="Thcha_u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5284788"/>
            <a:ext cx="2743200" cy="1054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8374" name="Picture 5" descr="Gamac_u9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1200" y="5441950"/>
            <a:ext cx="3382137" cy="12575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8375" name="Picture 6" descr="atka_mackerel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0400" y="5441950"/>
            <a:ext cx="2362200" cy="684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8376" name="Picture 2"/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33" r="-3933" b="10847"/>
          <a:stretch/>
        </p:blipFill>
        <p:spPr bwMode="auto">
          <a:xfrm>
            <a:off x="4572000" y="1066800"/>
            <a:ext cx="4619625" cy="4508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ectangle 9"/>
          <p:cNvSpPr>
            <a:spLocks noChangeArrowheads="1"/>
          </p:cNvSpPr>
          <p:nvPr/>
        </p:nvSpPr>
        <p:spPr bwMode="auto">
          <a:xfrm>
            <a:off x="568037" y="6338888"/>
            <a:ext cx="54864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sz="1200" dirty="0" err="1">
                <a:latin typeface="Calibri" charset="0"/>
              </a:rPr>
              <a:t>Kinzey</a:t>
            </a:r>
            <a:r>
              <a:rPr lang="en-US" sz="1200" dirty="0">
                <a:latin typeface="Calibri" charset="0"/>
              </a:rPr>
              <a:t> &amp; Punt (2009) Multispecies and single-species models of fish population dynamics: comparing parameter estimates. </a:t>
            </a:r>
            <a:r>
              <a:rPr lang="en-US" sz="1200" i="1" dirty="0">
                <a:latin typeface="Calibri" charset="0"/>
              </a:rPr>
              <a:t>Natural resource modeling 22: 67-104</a:t>
            </a:r>
            <a:r>
              <a:rPr lang="en-US" sz="1200" dirty="0">
                <a:latin typeface="Calibri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5837438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ChangeArrowheads="1"/>
          </p:cNvSpPr>
          <p:nvPr>
            <p:ph type="title"/>
          </p:nvPr>
        </p:nvSpPr>
        <p:spPr>
          <a:xfrm>
            <a:off x="366889" y="0"/>
            <a:ext cx="9144000" cy="1143000"/>
          </a:xfrm>
        </p:spPr>
        <p:txBody>
          <a:bodyPr/>
          <a:lstStyle/>
          <a:p>
            <a:r>
              <a:rPr lang="en-US" sz="3600" dirty="0"/>
              <a:t>Multispecies statistical catch-at-age models</a:t>
            </a:r>
          </a:p>
        </p:txBody>
      </p:sp>
      <p:sp>
        <p:nvSpPr>
          <p:cNvPr id="59395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990600"/>
            <a:ext cx="8229600" cy="5135563"/>
          </a:xfrm>
        </p:spPr>
        <p:txBody>
          <a:bodyPr/>
          <a:lstStyle/>
          <a:p>
            <a:pPr>
              <a:buFontTx/>
              <a:buNone/>
            </a:pPr>
            <a:r>
              <a:rPr lang="en-US" sz="2800" dirty="0"/>
              <a:t>Again, outputs can differ substantially from single-species models.</a:t>
            </a:r>
          </a:p>
          <a:p>
            <a:pPr>
              <a:buFontTx/>
              <a:buNone/>
            </a:pPr>
            <a:r>
              <a:rPr lang="en-US" sz="2800" dirty="0"/>
              <a:t>Models sensitive to form of functional response.</a:t>
            </a:r>
          </a:p>
        </p:txBody>
      </p:sp>
      <p:pic>
        <p:nvPicPr>
          <p:cNvPr id="59396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00" y="2463800"/>
            <a:ext cx="7200900" cy="424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9397" name="Rectangle 9"/>
          <p:cNvSpPr>
            <a:spLocks noChangeArrowheads="1"/>
          </p:cNvSpPr>
          <p:nvPr/>
        </p:nvSpPr>
        <p:spPr bwMode="auto">
          <a:xfrm>
            <a:off x="3810000" y="6396038"/>
            <a:ext cx="54864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sz="1200">
                <a:latin typeface="Calibri" charset="0"/>
              </a:rPr>
              <a:t>Kinzey &amp; Punt (2009) Multispecies and single-species models of fish population dynamics: comparing parameter estimates. </a:t>
            </a:r>
            <a:r>
              <a:rPr lang="en-US" sz="1200" i="1">
                <a:latin typeface="Calibri" charset="0"/>
              </a:rPr>
              <a:t>Natural resource modeling 22: 67-104</a:t>
            </a:r>
            <a:r>
              <a:rPr lang="en-US" sz="1200">
                <a:latin typeface="Calibri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0475987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sz="4000" dirty="0">
                <a:latin typeface="Arial" charset="0"/>
              </a:rPr>
              <a:t>Models of Intermediate Complexity</a:t>
            </a:r>
            <a:br>
              <a:rPr lang="en-US" sz="4000" dirty="0">
                <a:latin typeface="Arial" charset="0"/>
              </a:rPr>
            </a:br>
            <a:r>
              <a:rPr lang="en-US" sz="4000" dirty="0">
                <a:latin typeface="Arial" charset="0"/>
              </a:rPr>
              <a:t>can address other system components</a:t>
            </a:r>
          </a:p>
        </p:txBody>
      </p:sp>
      <p:sp>
        <p:nvSpPr>
          <p:cNvPr id="6451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>
              <a:latin typeface="Arial" charset="0"/>
            </a:endParaRPr>
          </a:p>
        </p:txBody>
      </p:sp>
      <p:pic>
        <p:nvPicPr>
          <p:cNvPr id="64516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413" y="1066800"/>
            <a:ext cx="8942387" cy="5048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4517" name="TextBox 5"/>
          <p:cNvSpPr txBox="1">
            <a:spLocks noChangeArrowheads="1"/>
          </p:cNvSpPr>
          <p:nvPr/>
        </p:nvSpPr>
        <p:spPr bwMode="auto">
          <a:xfrm>
            <a:off x="1371600" y="6400800"/>
            <a:ext cx="83947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en-US" sz="1200" dirty="0" err="1"/>
              <a:t>Plagányi</a:t>
            </a:r>
            <a:r>
              <a:rPr lang="en-US" sz="1200" dirty="0"/>
              <a:t> et al. (2014) Multispecies fisheries management and conservation: tactical applications using</a:t>
            </a:r>
            <a:br>
              <a:rPr lang="en-US" sz="1200" dirty="0"/>
            </a:br>
            <a:r>
              <a:rPr lang="en-US" sz="1200" dirty="0"/>
              <a:t>models of intermediate complexity. Fish and Fisheries. </a:t>
            </a:r>
            <a:r>
              <a:rPr lang="en-US" sz="1200" dirty="0" err="1"/>
              <a:t>doi</a:t>
            </a:r>
            <a:r>
              <a:rPr lang="en-US" sz="1200" dirty="0"/>
              <a:t>: 10.1111/j.1467-2979.2012.00488.x</a:t>
            </a:r>
          </a:p>
        </p:txBody>
      </p:sp>
    </p:spTree>
    <p:extLst>
      <p:ext uri="{BB962C8B-B14F-4D97-AF65-F5344CB8AC3E}">
        <p14:creationId xmlns:p14="http://schemas.microsoft.com/office/powerpoint/2010/main" val="90301603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Estimating parameters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Previous models require typical stock assessment data, plus either:</a:t>
            </a:r>
          </a:p>
          <a:p>
            <a:pPr lvl="1"/>
            <a:r>
              <a:rPr lang="en-US" dirty="0"/>
              <a:t>Assumptions about ecological relationships</a:t>
            </a:r>
          </a:p>
          <a:p>
            <a:pPr lvl="1"/>
            <a:r>
              <a:rPr lang="en-US" dirty="0"/>
              <a:t>Stomach contents data</a:t>
            </a:r>
          </a:p>
          <a:p>
            <a:endParaRPr lang="en-US" dirty="0"/>
          </a:p>
          <a:p>
            <a:r>
              <a:rPr lang="en-US" dirty="0"/>
              <a:t>Alternative approaches to estimating parameters for multispecies models are less mechanistic:</a:t>
            </a:r>
          </a:p>
        </p:txBody>
      </p:sp>
    </p:spTree>
    <p:extLst>
      <p:ext uri="{BB962C8B-B14F-4D97-AF65-F5344CB8AC3E}">
        <p14:creationId xmlns:p14="http://schemas.microsoft.com/office/powerpoint/2010/main" val="190664099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Empirical multispecies models </a:t>
            </a:r>
            <a:br>
              <a:rPr lang="en-US" dirty="0"/>
            </a:br>
            <a:r>
              <a:rPr lang="en-US" dirty="0"/>
              <a:t>e.g. multivariate autoregressive (MAR) models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04810" y="6450542"/>
            <a:ext cx="66391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e.g. Ives et al. 2003 Ecol. Monographs, Holmes et al. 2012. R journal. 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5585" y="1631725"/>
            <a:ext cx="5932013" cy="3317292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Take the form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B matrix can be VERY big</a:t>
            </a:r>
          </a:p>
          <a:p>
            <a:r>
              <a:rPr lang="en-US" dirty="0"/>
              <a:t>Simplified dynamics</a:t>
            </a:r>
          </a:p>
          <a:p>
            <a:r>
              <a:rPr lang="en-US" dirty="0"/>
              <a:t>Estimating parameters is often non-trivial</a:t>
            </a:r>
          </a:p>
          <a:p>
            <a:r>
              <a:rPr lang="en-US" dirty="0"/>
              <a:t>BUT, statistical machinery exists.</a:t>
            </a:r>
          </a:p>
          <a:p>
            <a:r>
              <a:rPr lang="en-US" dirty="0"/>
              <a:t>e.g. MARSS package in R (</a:t>
            </a:r>
            <a:r>
              <a:rPr lang="en-US" dirty="0">
                <a:hlinkClick r:id="rId3"/>
              </a:rPr>
              <a:t>now a TMB version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78475179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Challenges with multispecies reference points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51870"/>
            <a:ext cx="8229600" cy="5806130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Recall logistic growth model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Add single competitor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r>
              <a:rPr lang="en-US" dirty="0"/>
              <a:t>MSY now dependent on biomass of other species.</a:t>
            </a:r>
          </a:p>
          <a:p>
            <a:r>
              <a:rPr lang="en-US" dirty="0"/>
              <a:t>Sometimes possible to solve system of equations to obtain maximizing population state vector.</a:t>
            </a:r>
          </a:p>
          <a:p>
            <a:r>
              <a:rPr lang="en-US" dirty="0"/>
              <a:t>Implies a decision about what is the ‘right’ population size for other species.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"/>
          <a:srcRect l="35896" t="360" r="38269" b="-360"/>
          <a:stretch/>
        </p:blipFill>
        <p:spPr>
          <a:xfrm>
            <a:off x="1636776" y="1673352"/>
            <a:ext cx="3026664" cy="759372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3"/>
          <a:srcRect l="40636" r="42442"/>
          <a:stretch/>
        </p:blipFill>
        <p:spPr>
          <a:xfrm>
            <a:off x="4808081" y="1748908"/>
            <a:ext cx="1828800" cy="675672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4"/>
          <a:srcRect l="30202" r="31044"/>
          <a:stretch/>
        </p:blipFill>
        <p:spPr>
          <a:xfrm>
            <a:off x="675343" y="3251581"/>
            <a:ext cx="3988097" cy="762298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 rotWithShape="1">
          <a:blip r:embed="rId5"/>
          <a:srcRect l="29629" r="29534"/>
          <a:stretch/>
        </p:blipFill>
        <p:spPr>
          <a:xfrm>
            <a:off x="4808081" y="3251581"/>
            <a:ext cx="4229061" cy="69517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3663707" y="3799218"/>
            <a:ext cx="17097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1386194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Best practices in model development</a:t>
            </a:r>
            <a:br>
              <a:rPr lang="en-US" dirty="0"/>
            </a:br>
            <a:r>
              <a:rPr lang="en-US" dirty="0"/>
              <a:t>(FAO 2007, Fulton 2010)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Only include components needed for capturing critical dynamics</a:t>
            </a:r>
          </a:p>
          <a:p>
            <a:r>
              <a:rPr lang="en-US" dirty="0"/>
              <a:t>Important to explicitly include feedbacks</a:t>
            </a:r>
          </a:p>
          <a:p>
            <a:r>
              <a:rPr lang="en-US" dirty="0"/>
              <a:t>Address uncertainty: parameterization, model structure, associated requirements to try multiple management options</a:t>
            </a:r>
          </a:p>
          <a:p>
            <a:r>
              <a:rPr lang="en-US" dirty="0"/>
              <a:t>Across all the dimensions of model construction do not default to the finest scales, often inappropriate and unnecessary.</a:t>
            </a:r>
          </a:p>
          <a:p>
            <a:pPr lvl="1"/>
            <a:r>
              <a:rPr lang="en-US" dirty="0"/>
              <a:t>Spatial and temporal resolution</a:t>
            </a:r>
          </a:p>
          <a:p>
            <a:pPr lvl="1"/>
            <a:r>
              <a:rPr lang="en-US" dirty="0"/>
              <a:t>Taxonomic resolution</a:t>
            </a:r>
          </a:p>
          <a:p>
            <a:pPr lvl="1"/>
            <a:r>
              <a:rPr lang="en-US" dirty="0"/>
              <a:t>Process resolution and external forcing</a:t>
            </a:r>
          </a:p>
          <a:p>
            <a:pPr lvl="1"/>
            <a:r>
              <a:rPr lang="en-US" dirty="0"/>
              <a:t>Anthropogenic components</a:t>
            </a:r>
          </a:p>
          <a:p>
            <a:r>
              <a:rPr lang="en-US" dirty="0"/>
              <a:t>Multiple model forms should be considered. </a:t>
            </a:r>
            <a:br>
              <a:rPr lang="en-US" dirty="0"/>
            </a:br>
            <a:r>
              <a:rPr lang="en-US" dirty="0"/>
              <a:t>There is no one “right” model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681208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7F82E1-7632-C6D0-6D94-5FB9922B5E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MARSS example: Isle Royale Wolves &amp; Moose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3BD204-3B34-AF3A-4A46-4D8AEAC230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6CD726C-89B2-941C-B5EB-27A5B16B5B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970" y="4745300"/>
            <a:ext cx="7772400" cy="1928777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5312B8C1-7473-3297-8823-DD07A79A6A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7731" y="939041"/>
            <a:ext cx="5622878" cy="37485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5917030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163FD2-C204-7D57-2AD7-651747E579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A33E5D-C57C-2864-878B-FB022966DF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MARSS user guide</a:t>
            </a:r>
          </a:p>
          <a:p>
            <a:r>
              <a:rPr lang="en-US" sz="2000" dirty="0">
                <a:hlinkClick r:id="rId2"/>
              </a:rPr>
              <a:t>https://cran.r-project.org/web/packages/MARSS/vignettes/UserGuide.pdf</a:t>
            </a:r>
            <a:endParaRPr lang="en-US" dirty="0"/>
          </a:p>
          <a:p>
            <a:r>
              <a:rPr lang="en-US" dirty="0"/>
              <a:t>MARSSTMB getting started</a:t>
            </a:r>
          </a:p>
          <a:p>
            <a:r>
              <a:rPr lang="en-US" sz="1800" dirty="0">
                <a:hlinkClick r:id="rId3"/>
              </a:rPr>
              <a:t>https://atsa-es.github.io/marssTMB/</a:t>
            </a:r>
            <a:endParaRPr lang="en-US" sz="1800" dirty="0"/>
          </a:p>
          <a:p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082344890"/>
      </p:ext>
    </p:extLst>
  </p:cSld>
  <p:clrMapOvr>
    <a:masterClrMapping/>
  </p:clrMapOvr>
</p:sld>
</file>

<file path=ppt/theme/theme1.xml><?xml version="1.0" encoding="utf-8"?>
<a:theme xmlns:a="http://schemas.openxmlformats.org/drawingml/2006/main" name="noaa_fisheries_presentation_template_final">
  <a:themeElements>
    <a:clrScheme name="Custom 11">
      <a:dk1>
        <a:sysClr val="windowText" lastClr="000000"/>
      </a:dk1>
      <a:lt1>
        <a:sysClr val="window" lastClr="FFFFFF"/>
      </a:lt1>
      <a:dk2>
        <a:srgbClr val="00467F"/>
      </a:dk2>
      <a:lt2>
        <a:srgbClr val="CCE7EA"/>
      </a:lt2>
      <a:accent1>
        <a:srgbClr val="008998"/>
      </a:accent1>
      <a:accent2>
        <a:srgbClr val="CC9C4A"/>
      </a:accent2>
      <a:accent3>
        <a:srgbClr val="EA7125"/>
      </a:accent3>
      <a:accent4>
        <a:srgbClr val="738539"/>
      </a:accent4>
      <a:accent5>
        <a:srgbClr val="9C552D"/>
      </a:accent5>
      <a:accent6>
        <a:srgbClr val="C0311A"/>
      </a:accent6>
      <a:hlink>
        <a:srgbClr val="0000FF"/>
      </a:hlink>
      <a:folHlink>
        <a:srgbClr val="800080"/>
      </a:folHlink>
    </a:clrScheme>
    <a:fontScheme name="Horizon">
      <a:majorFont>
        <a:latin typeface="Arial Narrow"/>
        <a:ea typeface=""/>
        <a:cs typeface=""/>
        <a:font script="Jpan" typeface="ＭＳ ゴシック"/>
        <a:font script="Hang" typeface="HY얕은샘물M"/>
        <a:font script="Hans" typeface="华文新魏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 Narrow"/>
        <a:ea typeface=""/>
        <a:cs typeface=""/>
        <a:font script="Jpan" typeface="ＭＳ ゴシック"/>
        <a:font script="Hang" typeface="HY얕은샘물M"/>
        <a:font script="Hans" typeface="华文新魏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NOAA Divider Slides">
  <a:themeElements>
    <a:clrScheme name="Custom 11">
      <a:dk1>
        <a:sysClr val="windowText" lastClr="000000"/>
      </a:dk1>
      <a:lt1>
        <a:sysClr val="window" lastClr="FFFFFF"/>
      </a:lt1>
      <a:dk2>
        <a:srgbClr val="00467F"/>
      </a:dk2>
      <a:lt2>
        <a:srgbClr val="CCE7EA"/>
      </a:lt2>
      <a:accent1>
        <a:srgbClr val="008998"/>
      </a:accent1>
      <a:accent2>
        <a:srgbClr val="CC9C4A"/>
      </a:accent2>
      <a:accent3>
        <a:srgbClr val="EA7125"/>
      </a:accent3>
      <a:accent4>
        <a:srgbClr val="738539"/>
      </a:accent4>
      <a:accent5>
        <a:srgbClr val="9C552D"/>
      </a:accent5>
      <a:accent6>
        <a:srgbClr val="C0311A"/>
      </a:accent6>
      <a:hlink>
        <a:srgbClr val="0000FF"/>
      </a:hlink>
      <a:folHlink>
        <a:srgbClr val="800080"/>
      </a:folHlink>
    </a:clrScheme>
    <a:fontScheme name="Horizon">
      <a:majorFont>
        <a:latin typeface="Arial Narrow"/>
        <a:ea typeface=""/>
        <a:cs typeface=""/>
        <a:font script="Jpan" typeface="ＭＳ ゴシック"/>
        <a:font script="Hang" typeface="HY얕은샘물M"/>
        <a:font script="Hans" typeface="华文新魏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 Narrow"/>
        <a:ea typeface=""/>
        <a:cs typeface=""/>
        <a:font script="Jpan" typeface="ＭＳ ゴシック"/>
        <a:font script="Hang" typeface="HY얕은샘물M"/>
        <a:font script="Hans" typeface="华文新魏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NOAA Title Options">
  <a:themeElements>
    <a:clrScheme name="Custom 11">
      <a:dk1>
        <a:sysClr val="windowText" lastClr="000000"/>
      </a:dk1>
      <a:lt1>
        <a:sysClr val="window" lastClr="FFFFFF"/>
      </a:lt1>
      <a:dk2>
        <a:srgbClr val="00467F"/>
      </a:dk2>
      <a:lt2>
        <a:srgbClr val="CCE7EA"/>
      </a:lt2>
      <a:accent1>
        <a:srgbClr val="008998"/>
      </a:accent1>
      <a:accent2>
        <a:srgbClr val="CC9C4A"/>
      </a:accent2>
      <a:accent3>
        <a:srgbClr val="EA7125"/>
      </a:accent3>
      <a:accent4>
        <a:srgbClr val="738539"/>
      </a:accent4>
      <a:accent5>
        <a:srgbClr val="9C552D"/>
      </a:accent5>
      <a:accent6>
        <a:srgbClr val="C0311A"/>
      </a:accent6>
      <a:hlink>
        <a:srgbClr val="0000FF"/>
      </a:hlink>
      <a:folHlink>
        <a:srgbClr val="800080"/>
      </a:folHlink>
    </a:clrScheme>
    <a:fontScheme name="Horizon">
      <a:majorFont>
        <a:latin typeface="Arial Narrow"/>
        <a:ea typeface=""/>
        <a:cs typeface=""/>
        <a:font script="Jpan" typeface="ＭＳ ゴシック"/>
        <a:font script="Hang" typeface="HY얕은샘물M"/>
        <a:font script="Hans" typeface="华文新魏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 Narrow"/>
        <a:ea typeface=""/>
        <a:cs typeface=""/>
        <a:font script="Jpan" typeface="ＭＳ ゴシック"/>
        <a:font script="Hang" typeface="HY얕은샘물M"/>
        <a:font script="Hans" typeface="华文新魏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GFAY_Custom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noaa_fisheries_presentation_template_final</Template>
  <TotalTime>8485</TotalTime>
  <Words>1385</Words>
  <Application>Microsoft Macintosh PowerPoint</Application>
  <PresentationFormat>On-screen Show (4:3)</PresentationFormat>
  <Paragraphs>195</Paragraphs>
  <Slides>26</Slides>
  <Notes>4</Notes>
  <HiddenSlides>1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4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4" baseType="lpstr">
      <vt:lpstr>Arial</vt:lpstr>
      <vt:lpstr>Arial Narrow</vt:lpstr>
      <vt:lpstr>Calibri</vt:lpstr>
      <vt:lpstr>noaa_fisheries_presentation_template_final</vt:lpstr>
      <vt:lpstr>NOAA Divider Slides</vt:lpstr>
      <vt:lpstr>NOAA Title Options</vt:lpstr>
      <vt:lpstr>GFAY_Custom</vt:lpstr>
      <vt:lpstr>Equation</vt:lpstr>
      <vt:lpstr>MAR 580: Advanced Population Modeling</vt:lpstr>
      <vt:lpstr> A spectrum of tools, a spectrum of uses</vt:lpstr>
      <vt:lpstr>Multispecies models</vt:lpstr>
      <vt:lpstr>Multispecies models</vt:lpstr>
      <vt:lpstr>Adding interactions to the logistic model</vt:lpstr>
      <vt:lpstr>A simple multispecies model</vt:lpstr>
      <vt:lpstr>Multispecies Models</vt:lpstr>
      <vt:lpstr>Multispecies Models</vt:lpstr>
      <vt:lpstr>Multispecies Models</vt:lpstr>
      <vt:lpstr>Stage-structured multispecies models</vt:lpstr>
      <vt:lpstr>Stage-structured multispecies models</vt:lpstr>
      <vt:lpstr>Modeling predation mortality</vt:lpstr>
      <vt:lpstr>PowerPoint Presentation</vt:lpstr>
      <vt:lpstr>Multispecies Models</vt:lpstr>
      <vt:lpstr>Minimal Realistic Models a.k.a. Models of Intermediate Complexity</vt:lpstr>
      <vt:lpstr>Barents Sea Minke Whales-Cod-Capelin EXAMPLE</vt:lpstr>
      <vt:lpstr>PowerPoint Presentation</vt:lpstr>
      <vt:lpstr>MICE example, a multispecies statistical catch-at-age model</vt:lpstr>
      <vt:lpstr>Multispecies statistical catch-at-age models</vt:lpstr>
      <vt:lpstr>Models of Intermediate Complexity can address other system components</vt:lpstr>
      <vt:lpstr>Estimating parameters</vt:lpstr>
      <vt:lpstr>Empirical multispecies models  e.g. multivariate autoregressive (MAR) models</vt:lpstr>
      <vt:lpstr>Challenges with multispecies reference points</vt:lpstr>
      <vt:lpstr>Best practices in model development (FAO 2007, Fulton 2010)</vt:lpstr>
      <vt:lpstr>MARSS example: Isle Royale Wolves &amp; Moose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mar530:EBFM Lecture 1</dc:title>
  <dc:subject>Introduction, Course Mechanics, What is EBFM? </dc:subject>
  <dc:creator>Gavin Fay</dc:creator>
  <cp:keywords/>
  <dc:description/>
  <cp:lastModifiedBy>Gavin Fay</cp:lastModifiedBy>
  <cp:revision>378</cp:revision>
  <dcterms:created xsi:type="dcterms:W3CDTF">2014-06-04T00:44:42Z</dcterms:created>
  <dcterms:modified xsi:type="dcterms:W3CDTF">2025-12-04T18:32:28Z</dcterms:modified>
  <cp:category/>
</cp:coreProperties>
</file>