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2" r:id="rId1"/>
    <p:sldMasterId id="2147483662" r:id="rId2"/>
    <p:sldMasterId id="2147483688" r:id="rId3"/>
  </p:sldMasterIdLst>
  <p:notesMasterIdLst>
    <p:notesMasterId r:id="rId44"/>
  </p:notesMasterIdLst>
  <p:handoutMasterIdLst>
    <p:handoutMasterId r:id="rId45"/>
  </p:handoutMasterIdLst>
  <p:sldIdLst>
    <p:sldId id="326" r:id="rId4"/>
    <p:sldId id="380" r:id="rId5"/>
    <p:sldId id="847" r:id="rId6"/>
    <p:sldId id="997" r:id="rId7"/>
    <p:sldId id="979" r:id="rId8"/>
    <p:sldId id="848" r:id="rId9"/>
    <p:sldId id="853" r:id="rId10"/>
    <p:sldId id="986" r:id="rId11"/>
    <p:sldId id="1030" r:id="rId12"/>
    <p:sldId id="1038" r:id="rId13"/>
    <p:sldId id="984" r:id="rId14"/>
    <p:sldId id="1032" r:id="rId15"/>
    <p:sldId id="985" r:id="rId16"/>
    <p:sldId id="1039" r:id="rId17"/>
    <p:sldId id="996" r:id="rId18"/>
    <p:sldId id="1000" r:id="rId19"/>
    <p:sldId id="1001" r:id="rId20"/>
    <p:sldId id="1003" r:id="rId21"/>
    <p:sldId id="1004" r:id="rId22"/>
    <p:sldId id="1005" r:id="rId23"/>
    <p:sldId id="1008" r:id="rId24"/>
    <p:sldId id="922" r:id="rId25"/>
    <p:sldId id="1009" r:id="rId26"/>
    <p:sldId id="1010" r:id="rId27"/>
    <p:sldId id="1011" r:id="rId28"/>
    <p:sldId id="1012" r:id="rId29"/>
    <p:sldId id="1019" r:id="rId30"/>
    <p:sldId id="1020" r:id="rId31"/>
    <p:sldId id="950" r:id="rId32"/>
    <p:sldId id="952" r:id="rId33"/>
    <p:sldId id="954" r:id="rId34"/>
    <p:sldId id="962" r:id="rId35"/>
    <p:sldId id="977" r:id="rId36"/>
    <p:sldId id="1022" r:id="rId37"/>
    <p:sldId id="1025" r:id="rId38"/>
    <p:sldId id="858" r:id="rId39"/>
    <p:sldId id="856" r:id="rId40"/>
    <p:sldId id="988" r:id="rId41"/>
    <p:sldId id="990" r:id="rId42"/>
    <p:sldId id="1040"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85">
          <p15:clr>
            <a:srgbClr val="A4A3A4"/>
          </p15:clr>
        </p15:guide>
        <p15:guide id="2" orient="horz" pos="758">
          <p15:clr>
            <a:srgbClr val="A4A3A4"/>
          </p15:clr>
        </p15:guide>
        <p15:guide id="3"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1E5C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86383" autoAdjust="0"/>
  </p:normalViewPr>
  <p:slideViewPr>
    <p:cSldViewPr snapToGrid="0" snapToObjects="1">
      <p:cViewPr>
        <p:scale>
          <a:sx n="95" d="100"/>
          <a:sy n="95" d="100"/>
        </p:scale>
        <p:origin x="1992" y="256"/>
      </p:cViewPr>
      <p:guideLst>
        <p:guide orient="horz" pos="1885"/>
        <p:guide orient="horz" pos="758"/>
        <p:guide pos="28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 d="100"/>
        <a:sy n="2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775BF4A-9CB1-5747-B319-707DA98CEC20}" type="datetime1">
              <a:rPr lang="en-US" smtClean="0"/>
              <a:pPr/>
              <a:t>11/20/25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0A22459-1A81-CA4B-89BB-FCE38A3AE18F}" type="slidenum">
              <a:rPr lang="en-US" smtClean="0"/>
              <a:pPr/>
              <a:t>‹#›</a:t>
            </a:fld>
            <a:endParaRPr lang="en-US"/>
          </a:p>
        </p:txBody>
      </p:sp>
    </p:spTree>
    <p:extLst>
      <p:ext uri="{BB962C8B-B14F-4D97-AF65-F5344CB8AC3E}">
        <p14:creationId xmlns:p14="http://schemas.microsoft.com/office/powerpoint/2010/main" val="269203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BC7567-D5EA-874F-8815-73DC5E77631E}" type="datetime1">
              <a:rPr lang="en-US" smtClean="0"/>
              <a:pPr/>
              <a:t>11/17/25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8DCC0E-7DBF-7C4A-B104-25FE08E3BB8F}" type="slidenum">
              <a:rPr lang="en-US" smtClean="0"/>
              <a:pPr/>
              <a:t>‹#›</a:t>
            </a:fld>
            <a:endParaRPr lang="en-US"/>
          </a:p>
        </p:txBody>
      </p:sp>
    </p:spTree>
    <p:extLst>
      <p:ext uri="{BB962C8B-B14F-4D97-AF65-F5344CB8AC3E}">
        <p14:creationId xmlns:p14="http://schemas.microsoft.com/office/powerpoint/2010/main" val="426032343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8DCC0E-7DBF-7C4A-B104-25FE08E3BB8F}" type="slidenum">
              <a:rPr lang="en-US" smtClean="0"/>
              <a:pPr/>
              <a:t>1</a:t>
            </a:fld>
            <a:endParaRPr lang="en-US"/>
          </a:p>
        </p:txBody>
      </p:sp>
    </p:spTree>
    <p:extLst>
      <p:ext uri="{BB962C8B-B14F-4D97-AF65-F5344CB8AC3E}">
        <p14:creationId xmlns:p14="http://schemas.microsoft.com/office/powerpoint/2010/main" val="1764116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p:spPr>
      </p:sp>
      <p:sp>
        <p:nvSpPr>
          <p:cNvPr id="9219" name="Notes Placeholder 2"/>
          <p:cNvSpPr>
            <a:spLocks noGrp="1"/>
          </p:cNvSpPr>
          <p:nvPr>
            <p:ph type="body" idx="1"/>
          </p:nvPr>
        </p:nvSpPr>
        <p:spPr>
          <a:noFill/>
        </p:spPr>
        <p:txBody>
          <a:bodyPr/>
          <a:lstStyle/>
          <a:p>
            <a:endParaRPr lang="en-US" altLang="en-US"/>
          </a:p>
        </p:txBody>
      </p:sp>
    </p:spTree>
    <p:extLst>
      <p:ext uri="{BB962C8B-B14F-4D97-AF65-F5344CB8AC3E}">
        <p14:creationId xmlns:p14="http://schemas.microsoft.com/office/powerpoint/2010/main" val="1070428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p:spPr>
        <p:txBody>
          <a:bodyPr/>
          <a:lstStyle/>
          <a:p>
            <a:endParaRPr lang="en-US" altLang="en-US"/>
          </a:p>
        </p:txBody>
      </p:sp>
    </p:spTree>
    <p:extLst>
      <p:ext uri="{BB962C8B-B14F-4D97-AF65-F5344CB8AC3E}">
        <p14:creationId xmlns:p14="http://schemas.microsoft.com/office/powerpoint/2010/main" val="1113052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p:spPr>
        <p:txBody>
          <a:bodyPr/>
          <a:lstStyle/>
          <a:p>
            <a:endParaRPr lang="en-US" altLang="en-US"/>
          </a:p>
        </p:txBody>
      </p:sp>
    </p:spTree>
    <p:extLst>
      <p:ext uri="{BB962C8B-B14F-4D97-AF65-F5344CB8AC3E}">
        <p14:creationId xmlns:p14="http://schemas.microsoft.com/office/powerpoint/2010/main" val="1915207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p:spPr>
        <p:txBody>
          <a:bodyPr/>
          <a:lstStyle/>
          <a:p>
            <a:endParaRPr lang="en-US" altLang="en-US"/>
          </a:p>
        </p:txBody>
      </p:sp>
    </p:spTree>
    <p:extLst>
      <p:ext uri="{BB962C8B-B14F-4D97-AF65-F5344CB8AC3E}">
        <p14:creationId xmlns:p14="http://schemas.microsoft.com/office/powerpoint/2010/main" val="3749151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endParaRPr lang="en-US" altLang="en-US"/>
          </a:p>
        </p:txBody>
      </p:sp>
    </p:spTree>
    <p:extLst>
      <p:ext uri="{BB962C8B-B14F-4D97-AF65-F5344CB8AC3E}">
        <p14:creationId xmlns:p14="http://schemas.microsoft.com/office/powerpoint/2010/main" val="4165435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p:spPr>
        <p:txBody>
          <a:bodyPr/>
          <a:lstStyle/>
          <a:p>
            <a:endParaRPr lang="en-US" altLang="en-US"/>
          </a:p>
        </p:txBody>
      </p:sp>
    </p:spTree>
    <p:extLst>
      <p:ext uri="{BB962C8B-B14F-4D97-AF65-F5344CB8AC3E}">
        <p14:creationId xmlns:p14="http://schemas.microsoft.com/office/powerpoint/2010/main" val="425932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endParaRPr lang="en-US" altLang="en-US"/>
          </a:p>
        </p:txBody>
      </p:sp>
    </p:spTree>
    <p:extLst>
      <p:ext uri="{BB962C8B-B14F-4D97-AF65-F5344CB8AC3E}">
        <p14:creationId xmlns:p14="http://schemas.microsoft.com/office/powerpoint/2010/main" val="4071240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8DCC0E-7DBF-7C4A-B104-25FE08E3BB8F}" type="slidenum">
              <a:rPr lang="en-US" smtClean="0"/>
              <a:pPr/>
              <a:t>36</a:t>
            </a:fld>
            <a:endParaRPr lang="en-US"/>
          </a:p>
        </p:txBody>
      </p:sp>
    </p:spTree>
    <p:extLst>
      <p:ext uri="{BB962C8B-B14F-4D97-AF65-F5344CB8AC3E}">
        <p14:creationId xmlns:p14="http://schemas.microsoft.com/office/powerpoint/2010/main" val="1784089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8DCC0E-7DBF-7C4A-B104-25FE08E3BB8F}" type="slidenum">
              <a:rPr lang="en-US" smtClean="0"/>
              <a:pPr/>
              <a:t>37</a:t>
            </a:fld>
            <a:endParaRPr lang="en-US"/>
          </a:p>
        </p:txBody>
      </p:sp>
    </p:spTree>
    <p:extLst>
      <p:ext uri="{BB962C8B-B14F-4D97-AF65-F5344CB8AC3E}">
        <p14:creationId xmlns:p14="http://schemas.microsoft.com/office/powerpoint/2010/main" val="252475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gif"/><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vider">
    <p:bg>
      <p:bgPr>
        <a:solidFill>
          <a:srgbClr val="1E5C90"/>
        </a:solidFill>
        <a:effectLst/>
      </p:bgPr>
    </p:bg>
    <p:spTree>
      <p:nvGrpSpPr>
        <p:cNvPr id="1" name=""/>
        <p:cNvGrpSpPr/>
        <p:nvPr/>
      </p:nvGrpSpPr>
      <p:grpSpPr>
        <a:xfrm>
          <a:off x="0" y="0"/>
          <a:ext cx="0" cy="0"/>
          <a:chOff x="0" y="0"/>
          <a:chExt cx="0" cy="0"/>
        </a:xfrm>
      </p:grpSpPr>
      <p:sp>
        <p:nvSpPr>
          <p:cNvPr id="13" name="Freeform 12"/>
          <p:cNvSpPr/>
          <p:nvPr userDrawn="1"/>
        </p:nvSpPr>
        <p:spPr>
          <a:xfrm flipH="1" flipV="1">
            <a:off x="-1" y="-24487"/>
            <a:ext cx="9138586" cy="2515079"/>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 name="connsiteX0" fmla="*/ 2887 w 9170673"/>
              <a:gd name="connsiteY0" fmla="*/ 2375696 h 2508024"/>
              <a:gd name="connsiteX1" fmla="*/ 9170673 w 9170673"/>
              <a:gd name="connsiteY1" fmla="*/ 0 h 2508024"/>
              <a:gd name="connsiteX2" fmla="*/ 9169295 w 9170673"/>
              <a:gd name="connsiteY2" fmla="*/ 2508024 h 2508024"/>
              <a:gd name="connsiteX3" fmla="*/ 0 w 9170673"/>
              <a:gd name="connsiteY3" fmla="*/ 2457785 h 2508024"/>
              <a:gd name="connsiteX4" fmla="*/ 2887 w 9170673"/>
              <a:gd name="connsiteY4" fmla="*/ 2375696 h 2508024"/>
              <a:gd name="connsiteX0" fmla="*/ 0 w 9167786"/>
              <a:gd name="connsiteY0" fmla="*/ 2375696 h 2508024"/>
              <a:gd name="connsiteX1" fmla="*/ 9167786 w 9167786"/>
              <a:gd name="connsiteY1" fmla="*/ 0 h 2508024"/>
              <a:gd name="connsiteX2" fmla="*/ 9166408 w 9167786"/>
              <a:gd name="connsiteY2" fmla="*/ 2508024 h 2508024"/>
              <a:gd name="connsiteX3" fmla="*/ 4169 w 9167786"/>
              <a:gd name="connsiteY3" fmla="*/ 2500118 h 2508024"/>
              <a:gd name="connsiteX4" fmla="*/ 0 w 9167786"/>
              <a:gd name="connsiteY4" fmla="*/ 2375696 h 2508024"/>
              <a:gd name="connsiteX0" fmla="*/ 0 w 9166452"/>
              <a:gd name="connsiteY0" fmla="*/ 2375696 h 2508024"/>
              <a:gd name="connsiteX1" fmla="*/ 9061952 w 9166452"/>
              <a:gd name="connsiteY1" fmla="*/ 0 h 2508024"/>
              <a:gd name="connsiteX2" fmla="*/ 9166408 w 9166452"/>
              <a:gd name="connsiteY2" fmla="*/ 2508024 h 2508024"/>
              <a:gd name="connsiteX3" fmla="*/ 4169 w 9166452"/>
              <a:gd name="connsiteY3" fmla="*/ 2500118 h 2508024"/>
              <a:gd name="connsiteX4" fmla="*/ 0 w 9166452"/>
              <a:gd name="connsiteY4" fmla="*/ 2375696 h 2508024"/>
              <a:gd name="connsiteX0" fmla="*/ 0 w 9166808"/>
              <a:gd name="connsiteY0" fmla="*/ 2382751 h 2515079"/>
              <a:gd name="connsiteX1" fmla="*/ 9160729 w 9166808"/>
              <a:gd name="connsiteY1" fmla="*/ 0 h 2515079"/>
              <a:gd name="connsiteX2" fmla="*/ 9166408 w 9166808"/>
              <a:gd name="connsiteY2" fmla="*/ 2515079 h 2515079"/>
              <a:gd name="connsiteX3" fmla="*/ 4169 w 9166808"/>
              <a:gd name="connsiteY3" fmla="*/ 2507173 h 2515079"/>
              <a:gd name="connsiteX4" fmla="*/ 0 w 9166808"/>
              <a:gd name="connsiteY4" fmla="*/ 2382751 h 2515079"/>
              <a:gd name="connsiteX0" fmla="*/ 9943 w 9162640"/>
              <a:gd name="connsiteY0" fmla="*/ 2382751 h 2515079"/>
              <a:gd name="connsiteX1" fmla="*/ 9156561 w 9162640"/>
              <a:gd name="connsiteY1" fmla="*/ 0 h 2515079"/>
              <a:gd name="connsiteX2" fmla="*/ 9162240 w 9162640"/>
              <a:gd name="connsiteY2" fmla="*/ 2515079 h 2515079"/>
              <a:gd name="connsiteX3" fmla="*/ 1 w 9162640"/>
              <a:gd name="connsiteY3" fmla="*/ 2507173 h 2515079"/>
              <a:gd name="connsiteX4" fmla="*/ 9943 w 9162640"/>
              <a:gd name="connsiteY4" fmla="*/ 2382751 h 2515079"/>
              <a:gd name="connsiteX0" fmla="*/ 0 w 9152697"/>
              <a:gd name="connsiteY0" fmla="*/ 2382751 h 2515079"/>
              <a:gd name="connsiteX1" fmla="*/ 9146618 w 9152697"/>
              <a:gd name="connsiteY1" fmla="*/ 0 h 2515079"/>
              <a:gd name="connsiteX2" fmla="*/ 9152297 w 9152697"/>
              <a:gd name="connsiteY2" fmla="*/ 2515079 h 2515079"/>
              <a:gd name="connsiteX3" fmla="*/ 187614 w 9152697"/>
              <a:gd name="connsiteY3" fmla="*/ 2507173 h 2515079"/>
              <a:gd name="connsiteX4" fmla="*/ 0 w 9152697"/>
              <a:gd name="connsiteY4" fmla="*/ 2382751 h 2515079"/>
              <a:gd name="connsiteX0" fmla="*/ 0 w 9068030"/>
              <a:gd name="connsiteY0" fmla="*/ 2382751 h 2515079"/>
              <a:gd name="connsiteX1" fmla="*/ 9061951 w 9068030"/>
              <a:gd name="connsiteY1" fmla="*/ 0 h 2515079"/>
              <a:gd name="connsiteX2" fmla="*/ 9067630 w 9068030"/>
              <a:gd name="connsiteY2" fmla="*/ 2515079 h 2515079"/>
              <a:gd name="connsiteX3" fmla="*/ 102947 w 9068030"/>
              <a:gd name="connsiteY3" fmla="*/ 2507173 h 2515079"/>
              <a:gd name="connsiteX4" fmla="*/ 0 w 9068030"/>
              <a:gd name="connsiteY4" fmla="*/ 2382751 h 2515079"/>
              <a:gd name="connsiteX0" fmla="*/ 0 w 9138586"/>
              <a:gd name="connsiteY0" fmla="*/ 2382751 h 2515079"/>
              <a:gd name="connsiteX1" fmla="*/ 9132507 w 9138586"/>
              <a:gd name="connsiteY1" fmla="*/ 0 h 2515079"/>
              <a:gd name="connsiteX2" fmla="*/ 9138186 w 9138586"/>
              <a:gd name="connsiteY2" fmla="*/ 2515079 h 2515079"/>
              <a:gd name="connsiteX3" fmla="*/ 173503 w 9138586"/>
              <a:gd name="connsiteY3" fmla="*/ 2507173 h 2515079"/>
              <a:gd name="connsiteX4" fmla="*/ 0 w 9138586"/>
              <a:gd name="connsiteY4" fmla="*/ 2382751 h 2515079"/>
              <a:gd name="connsiteX0" fmla="*/ 0 w 9138586"/>
              <a:gd name="connsiteY0" fmla="*/ 2382751 h 2515079"/>
              <a:gd name="connsiteX1" fmla="*/ 9132507 w 9138586"/>
              <a:gd name="connsiteY1" fmla="*/ 0 h 2515079"/>
              <a:gd name="connsiteX2" fmla="*/ 9138186 w 9138586"/>
              <a:gd name="connsiteY2" fmla="*/ 2515079 h 2515079"/>
              <a:gd name="connsiteX3" fmla="*/ 4170 w 9138586"/>
              <a:gd name="connsiteY3" fmla="*/ 2507173 h 2515079"/>
              <a:gd name="connsiteX4" fmla="*/ 0 w 9138586"/>
              <a:gd name="connsiteY4" fmla="*/ 2382751 h 2515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8586" h="2515079">
                <a:moveTo>
                  <a:pt x="0" y="2382751"/>
                </a:moveTo>
                <a:cubicBezTo>
                  <a:pt x="20661" y="2379422"/>
                  <a:pt x="7306149" y="2502055"/>
                  <a:pt x="9132507" y="0"/>
                </a:cubicBezTo>
                <a:cubicBezTo>
                  <a:pt x="9129925" y="819774"/>
                  <a:pt x="9140768" y="1695305"/>
                  <a:pt x="9138186" y="2515079"/>
                </a:cubicBezTo>
                <a:lnTo>
                  <a:pt x="4170" y="2507173"/>
                </a:lnTo>
                <a:cubicBezTo>
                  <a:pt x="4169" y="2465011"/>
                  <a:pt x="1" y="2424913"/>
                  <a:pt x="0" y="2382751"/>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457199" y="457169"/>
            <a:ext cx="8229600" cy="772250"/>
          </a:xfrm>
        </p:spPr>
        <p:txBody>
          <a:bodyPr anchor="t"/>
          <a:lstStyle>
            <a:lvl1pPr algn="l">
              <a:defRPr sz="4000" b="1" cap="none">
                <a:solidFill>
                  <a:srgbClr val="FFFFFF"/>
                </a:solidFill>
              </a:defRPr>
            </a:lvl1pPr>
          </a:lstStyle>
          <a:p>
            <a:r>
              <a:rPr lang="en-US" dirty="0"/>
              <a:t>Click to edit master title style</a:t>
            </a:r>
          </a:p>
        </p:txBody>
      </p:sp>
      <p:sp>
        <p:nvSpPr>
          <p:cNvPr id="3" name="Text Placeholder 2"/>
          <p:cNvSpPr>
            <a:spLocks noGrp="1"/>
          </p:cNvSpPr>
          <p:nvPr>
            <p:ph type="body" idx="1"/>
          </p:nvPr>
        </p:nvSpPr>
        <p:spPr>
          <a:xfrm>
            <a:off x="457200" y="1415622"/>
            <a:ext cx="8229600" cy="1500187"/>
          </a:xfrm>
        </p:spPr>
        <p:txBody>
          <a:bodyPr anchor="t" anchorCtr="0"/>
          <a:lstStyle>
            <a:lvl1pPr marL="0" indent="0" algn="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sldNum" sz="quarter" idx="10"/>
          </p:nvPr>
        </p:nvSpPr>
        <p:spPr>
          <a:xfrm>
            <a:off x="2285999" y="6355080"/>
            <a:ext cx="6400801" cy="502919"/>
          </a:xfrm>
          <a:prstGeom prst="rect">
            <a:avLst/>
          </a:prstGeom>
        </p:spPr>
        <p:txBody>
          <a:bodyPr/>
          <a:lstStyle>
            <a:lvl1pPr>
              <a:defRPr>
                <a:solidFill>
                  <a:srgbClr val="FFFFFF"/>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746048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hoto Divider">
    <p:spTree>
      <p:nvGrpSpPr>
        <p:cNvPr id="1" name=""/>
        <p:cNvGrpSpPr/>
        <p:nvPr/>
      </p:nvGrpSpPr>
      <p:grpSpPr>
        <a:xfrm>
          <a:off x="0" y="0"/>
          <a:ext cx="0" cy="0"/>
          <a:chOff x="0" y="0"/>
          <a:chExt cx="0" cy="0"/>
        </a:xfrm>
      </p:grpSpPr>
      <p:sp>
        <p:nvSpPr>
          <p:cNvPr id="13" name="Freeform 12"/>
          <p:cNvSpPr/>
          <p:nvPr userDrawn="1"/>
        </p:nvSpPr>
        <p:spPr>
          <a:xfrm flipH="1" flipV="1">
            <a:off x="-19068" y="-30696"/>
            <a:ext cx="9170673" cy="2457785"/>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673" h="2457785">
                <a:moveTo>
                  <a:pt x="2887" y="2375696"/>
                </a:moveTo>
                <a:cubicBezTo>
                  <a:pt x="23548" y="2372367"/>
                  <a:pt x="7344315" y="2502055"/>
                  <a:pt x="9170673" y="0"/>
                </a:cubicBezTo>
                <a:cubicBezTo>
                  <a:pt x="9168091" y="819774"/>
                  <a:pt x="9157766" y="1631806"/>
                  <a:pt x="9155184" y="2451580"/>
                </a:cubicBezTo>
                <a:lnTo>
                  <a:pt x="0" y="2457785"/>
                </a:lnTo>
                <a:cubicBezTo>
                  <a:pt x="-1" y="2415623"/>
                  <a:pt x="2888" y="2417858"/>
                  <a:pt x="2887" y="2375696"/>
                </a:cubicBezTo>
                <a:close/>
              </a:path>
            </a:pathLst>
          </a:custGeom>
          <a:solidFill>
            <a:schemeClr val="bg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457199" y="457200"/>
            <a:ext cx="8229600" cy="772250"/>
          </a:xfrm>
          <a:effectLst>
            <a:outerShdw blurRad="50800" dist="38100" dir="2700000" algn="tl" rotWithShape="0">
              <a:prstClr val="black">
                <a:alpha val="40000"/>
              </a:prstClr>
            </a:outerShdw>
          </a:effectLst>
        </p:spPr>
        <p:txBody>
          <a:bodyPr anchor="t"/>
          <a:lstStyle>
            <a:lvl1pPr algn="l">
              <a:defRPr sz="4000" b="1" cap="none">
                <a:solidFill>
                  <a:srgbClr val="FFFFFF"/>
                </a:solidFill>
              </a:defRPr>
            </a:lvl1pPr>
          </a:lstStyle>
          <a:p>
            <a:r>
              <a:rPr lang="en-US" dirty="0"/>
              <a:t>Click to edit master title style</a:t>
            </a:r>
          </a:p>
        </p:txBody>
      </p:sp>
      <p:sp>
        <p:nvSpPr>
          <p:cNvPr id="3" name="Text Placeholder 2"/>
          <p:cNvSpPr>
            <a:spLocks noGrp="1"/>
          </p:cNvSpPr>
          <p:nvPr>
            <p:ph type="body" idx="1"/>
          </p:nvPr>
        </p:nvSpPr>
        <p:spPr>
          <a:xfrm>
            <a:off x="457200" y="1415653"/>
            <a:ext cx="8229600" cy="1500187"/>
          </a:xfrm>
          <a:effectLst>
            <a:outerShdw blurRad="50800" dist="38100" dir="2700000" algn="tl" rotWithShape="0">
              <a:prstClr val="black">
                <a:alpha val="40000"/>
              </a:prstClr>
            </a:outerShdw>
          </a:effectLst>
        </p:spPr>
        <p:txBody>
          <a:bodyPr anchor="t" anchorCtr="0"/>
          <a:lstStyle>
            <a:lvl1pPr marL="0" indent="0" algn="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sldNum" sz="quarter" idx="14"/>
          </p:nvPr>
        </p:nvSpPr>
        <p:spPr>
          <a:xfrm>
            <a:off x="2285999" y="6355080"/>
            <a:ext cx="6400801" cy="502919"/>
          </a:xfrm>
          <a:prstGeom prst="rect">
            <a:avLst/>
          </a:prstGeom>
        </p:spPr>
        <p:txBody>
          <a:bodyPr/>
          <a:lstStyle>
            <a:lvl1pPr>
              <a:defRPr>
                <a:solidFill>
                  <a:schemeClr val="bg1"/>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2109136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11/17/25</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2285999" y="6355080"/>
            <a:ext cx="6400801" cy="502919"/>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No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201988" y="2707457"/>
            <a:ext cx="5484812" cy="1224439"/>
          </a:xfrm>
        </p:spPr>
        <p:txBody>
          <a:bodyPr/>
          <a:lstStyle/>
          <a:p>
            <a:pPr lvl="0"/>
            <a:r>
              <a:rPr lang="en-US" dirty="0"/>
              <a:t>Click to edit Master text styles</a:t>
            </a:r>
          </a:p>
        </p:txBody>
      </p:sp>
      <p:sp>
        <p:nvSpPr>
          <p:cNvPr id="8" name="Text Placeholder 7"/>
          <p:cNvSpPr>
            <a:spLocks noGrp="1"/>
          </p:cNvSpPr>
          <p:nvPr>
            <p:ph type="body" sz="quarter" idx="12" hasCustomPrompt="1"/>
          </p:nvPr>
        </p:nvSpPr>
        <p:spPr>
          <a:xfrm>
            <a:off x="3201988" y="4282303"/>
            <a:ext cx="5484812"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2186107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Boats">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201988" y="2707457"/>
            <a:ext cx="5484812" cy="1224439"/>
          </a:xfrm>
        </p:spPr>
        <p:txBody>
          <a:bodyPr/>
          <a:lstStyle/>
          <a:p>
            <a:pPr lvl="0"/>
            <a:r>
              <a:rPr lang="en-US" dirty="0"/>
              <a:t>Click to edit Master text styles</a:t>
            </a:r>
          </a:p>
        </p:txBody>
      </p:sp>
      <p:sp>
        <p:nvSpPr>
          <p:cNvPr id="6" name="Text Placeholder 5"/>
          <p:cNvSpPr>
            <a:spLocks noGrp="1"/>
          </p:cNvSpPr>
          <p:nvPr>
            <p:ph type="body" sz="quarter" idx="11" hasCustomPrompt="1"/>
          </p:nvPr>
        </p:nvSpPr>
        <p:spPr>
          <a:xfrm>
            <a:off x="463550" y="3118590"/>
            <a:ext cx="1293813"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3201988" y="4282303"/>
            <a:ext cx="5484812"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4155329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urtl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201988" y="2707457"/>
            <a:ext cx="5484812" cy="1224439"/>
          </a:xfrm>
        </p:spPr>
        <p:txBody>
          <a:bodyPr/>
          <a:lstStyle/>
          <a:p>
            <a:pPr lvl="0"/>
            <a:r>
              <a:rPr lang="en-US" dirty="0"/>
              <a:t>Click to edit Master text styles</a:t>
            </a:r>
          </a:p>
        </p:txBody>
      </p:sp>
      <p:sp>
        <p:nvSpPr>
          <p:cNvPr id="6" name="Text Placeholder 5"/>
          <p:cNvSpPr>
            <a:spLocks noGrp="1"/>
          </p:cNvSpPr>
          <p:nvPr>
            <p:ph type="body" sz="quarter" idx="11" hasCustomPrompt="1"/>
          </p:nvPr>
        </p:nvSpPr>
        <p:spPr>
          <a:xfrm>
            <a:off x="463550" y="3118590"/>
            <a:ext cx="1293813"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3201988" y="4282303"/>
            <a:ext cx="5484812"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2044555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Seafoo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201988" y="2707457"/>
            <a:ext cx="5484812" cy="1224439"/>
          </a:xfrm>
        </p:spPr>
        <p:txBody>
          <a:bodyPr/>
          <a:lstStyle/>
          <a:p>
            <a:pPr lvl="0"/>
            <a:r>
              <a:rPr lang="en-US" dirty="0"/>
              <a:t>Click to edit Master text styles</a:t>
            </a:r>
          </a:p>
        </p:txBody>
      </p:sp>
      <p:sp>
        <p:nvSpPr>
          <p:cNvPr id="6" name="Text Placeholder 5"/>
          <p:cNvSpPr>
            <a:spLocks noGrp="1"/>
          </p:cNvSpPr>
          <p:nvPr>
            <p:ph type="body" sz="quarter" idx="11" hasCustomPrompt="1"/>
          </p:nvPr>
        </p:nvSpPr>
        <p:spPr>
          <a:xfrm>
            <a:off x="463550" y="3118590"/>
            <a:ext cx="1293813"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3201988" y="4282303"/>
            <a:ext cx="5484812"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2817638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Fish">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201988" y="2707457"/>
            <a:ext cx="5484812" cy="1224439"/>
          </a:xfrm>
        </p:spPr>
        <p:txBody>
          <a:bodyPr/>
          <a:lstStyle/>
          <a:p>
            <a:pPr lvl="0"/>
            <a:r>
              <a:rPr lang="en-US" dirty="0"/>
              <a:t>Click to edit Master text styles</a:t>
            </a:r>
          </a:p>
        </p:txBody>
      </p:sp>
      <p:sp>
        <p:nvSpPr>
          <p:cNvPr id="6" name="Text Placeholder 5"/>
          <p:cNvSpPr>
            <a:spLocks noGrp="1"/>
          </p:cNvSpPr>
          <p:nvPr>
            <p:ph type="body" sz="quarter" idx="11" hasCustomPrompt="1"/>
          </p:nvPr>
        </p:nvSpPr>
        <p:spPr>
          <a:xfrm>
            <a:off x="463550" y="3118590"/>
            <a:ext cx="1293813"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3201988" y="4282303"/>
            <a:ext cx="5484812"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410519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Dar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FFFF"/>
                </a:solidFill>
              </a:defRPr>
            </a:lvl1pPr>
          </a:lstStyle>
          <a:p>
            <a:r>
              <a:rPr lang="en-US" dirty="0"/>
              <a:t>Click to edit Master title style</a:t>
            </a:r>
          </a:p>
        </p:txBody>
      </p:sp>
      <p:sp>
        <p:nvSpPr>
          <p:cNvPr id="4" name="Text Placeholder 3"/>
          <p:cNvSpPr>
            <a:spLocks noGrp="1"/>
          </p:cNvSpPr>
          <p:nvPr>
            <p:ph type="body" sz="quarter" idx="10"/>
          </p:nvPr>
        </p:nvSpPr>
        <p:spPr>
          <a:xfrm>
            <a:off x="3201988" y="2707457"/>
            <a:ext cx="5484812" cy="1224439"/>
          </a:xfrm>
        </p:spPr>
        <p:txBody>
          <a:bodyPr/>
          <a:lstStyle>
            <a:lvl1pPr>
              <a:defRPr>
                <a:solidFill>
                  <a:srgbClr val="FFFFFF"/>
                </a:solidFill>
              </a:defRPr>
            </a:lvl1pPr>
          </a:lstStyle>
          <a:p>
            <a:pPr lvl="0"/>
            <a:r>
              <a:rPr lang="en-US" dirty="0"/>
              <a:t>Click to edit Master text styles</a:t>
            </a:r>
          </a:p>
        </p:txBody>
      </p:sp>
      <p:sp>
        <p:nvSpPr>
          <p:cNvPr id="6" name="Text Placeholder 5"/>
          <p:cNvSpPr>
            <a:spLocks noGrp="1"/>
          </p:cNvSpPr>
          <p:nvPr>
            <p:ph type="body" sz="quarter" idx="11" hasCustomPrompt="1"/>
          </p:nvPr>
        </p:nvSpPr>
        <p:spPr>
          <a:xfrm>
            <a:off x="463550" y="3118590"/>
            <a:ext cx="1293813" cy="752475"/>
          </a:xfrm>
        </p:spPr>
        <p:txBody>
          <a:bodyPr lIns="0" tIns="0" rIns="0" bIns="0">
            <a:normAutofit/>
          </a:bodyPr>
          <a:lstStyle>
            <a:lvl1pPr algn="l">
              <a:defRPr sz="1800" b="1">
                <a:solidFill>
                  <a:schemeClr val="bg1"/>
                </a:solidFill>
              </a:defRPr>
            </a:lvl1pPr>
          </a:lstStyle>
          <a:p>
            <a:pPr lvl="0"/>
            <a:r>
              <a:rPr lang="en-US" dirty="0"/>
              <a:t>Regional Unit</a:t>
            </a:r>
          </a:p>
        </p:txBody>
      </p:sp>
      <p:sp>
        <p:nvSpPr>
          <p:cNvPr id="8" name="Text Placeholder 7"/>
          <p:cNvSpPr>
            <a:spLocks noGrp="1"/>
          </p:cNvSpPr>
          <p:nvPr>
            <p:ph type="body" sz="quarter" idx="12" hasCustomPrompt="1"/>
          </p:nvPr>
        </p:nvSpPr>
        <p:spPr>
          <a:xfrm>
            <a:off x="3201988" y="4282303"/>
            <a:ext cx="5484812" cy="577850"/>
          </a:xfrm>
        </p:spPr>
        <p:txBody>
          <a:bodyPr>
            <a:normAutofit/>
          </a:bodyPr>
          <a:lstStyle>
            <a:lvl1pPr>
              <a:defRPr sz="1800">
                <a:solidFill>
                  <a:srgbClr val="FFFFFF"/>
                </a:solidFill>
              </a:defRPr>
            </a:lvl1pPr>
          </a:lstStyle>
          <a:p>
            <a:pPr lvl="0"/>
            <a:r>
              <a:rPr lang="en-US" dirty="0"/>
              <a:t>July 19, 2012</a:t>
            </a:r>
          </a:p>
        </p:txBody>
      </p:sp>
      <p:sp>
        <p:nvSpPr>
          <p:cNvPr id="7" name="Freeform 6"/>
          <p:cNvSpPr/>
          <p:nvPr userDrawn="1"/>
        </p:nvSpPr>
        <p:spPr>
          <a:xfrm>
            <a:off x="-9190" y="4417160"/>
            <a:ext cx="9170673" cy="2457785"/>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673" h="2457785">
                <a:moveTo>
                  <a:pt x="2887" y="2375696"/>
                </a:moveTo>
                <a:cubicBezTo>
                  <a:pt x="23548" y="2372367"/>
                  <a:pt x="7344315" y="2502055"/>
                  <a:pt x="9170673" y="0"/>
                </a:cubicBezTo>
                <a:cubicBezTo>
                  <a:pt x="9168091" y="819774"/>
                  <a:pt x="9157766" y="1631806"/>
                  <a:pt x="9155184" y="2451580"/>
                </a:cubicBezTo>
                <a:lnTo>
                  <a:pt x="0" y="2457785"/>
                </a:lnTo>
                <a:cubicBezTo>
                  <a:pt x="-1" y="2415623"/>
                  <a:pt x="2888" y="2417858"/>
                  <a:pt x="2887" y="2375696"/>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610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 Placeholder 3"/>
          <p:cNvSpPr>
            <a:spLocks noGrp="1"/>
          </p:cNvSpPr>
          <p:nvPr>
            <p:ph type="body" sz="quarter" idx="13"/>
          </p:nvPr>
        </p:nvSpPr>
        <p:spPr>
          <a:xfrm>
            <a:off x="3201988" y="3360605"/>
            <a:ext cx="5484812" cy="1224439"/>
          </a:xfrm>
        </p:spPr>
        <p:txBody>
          <a:bodyPr/>
          <a:lstStyle>
            <a:lvl1pPr marL="0" indent="0" algn="r">
              <a:buNone/>
              <a:defRPr>
                <a:solidFill>
                  <a:schemeClr val="tx2"/>
                </a:solidFill>
              </a:defRPr>
            </a:lvl1pPr>
          </a:lstStyle>
          <a:p>
            <a:pPr lvl="0"/>
            <a:r>
              <a:rPr lang="en-US" dirty="0"/>
              <a:t>Click to edit Master text styles</a:t>
            </a:r>
          </a:p>
        </p:txBody>
      </p:sp>
      <p:pic>
        <p:nvPicPr>
          <p:cNvPr id="10" name="Picture 9" descr="umasslogo.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285" y="5658757"/>
            <a:ext cx="4953000" cy="1270000"/>
          </a:xfrm>
          <a:prstGeom prst="rect">
            <a:avLst/>
          </a:prstGeom>
        </p:spPr>
      </p:pic>
      <p:pic>
        <p:nvPicPr>
          <p:cNvPr id="12" name="Picture 11" descr="smast-logo.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2857500" cy="2857500"/>
          </a:xfrm>
          <a:prstGeom prst="rect">
            <a:avLst/>
          </a:prstGeom>
        </p:spPr>
      </p:pic>
      <p:sp>
        <p:nvSpPr>
          <p:cNvPr id="13" name="Title 1"/>
          <p:cNvSpPr>
            <a:spLocks noGrp="1"/>
          </p:cNvSpPr>
          <p:nvPr>
            <p:ph type="title"/>
          </p:nvPr>
        </p:nvSpPr>
        <p:spPr>
          <a:xfrm>
            <a:off x="3201682" y="1613384"/>
            <a:ext cx="5485118" cy="1398472"/>
          </a:xfrm>
        </p:spPr>
        <p:txBody>
          <a:bodyPr/>
          <a:lstStyle>
            <a:lvl1pPr>
              <a:defRPr>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2346188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83923"/>
            <a:ext cx="8229600" cy="688359"/>
          </a:xfrm>
        </p:spPr>
        <p:txBody>
          <a:bodyPr>
            <a:normAutofit/>
          </a:bodyPr>
          <a:lstStyle>
            <a:lvl1pPr algn="l">
              <a:defRPr sz="36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457200" y="1051870"/>
            <a:ext cx="8229600" cy="5588417"/>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71924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F1CB0-951D-8740-94E3-4A6F7DDA25E2}"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4275963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5F1CB0-951D-8740-94E3-4A6F7DDA25E2}"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2175714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5F1CB0-951D-8740-94E3-4A6F7DDA25E2}" type="datetimeFigureOut">
              <a:rPr lang="en-US" smtClean="0"/>
              <a:t>11/17/25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168439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E5F1CB0-951D-8740-94E3-4A6F7DDA25E2}" type="datetimeFigureOut">
              <a:rPr lang="en-US" smtClean="0"/>
              <a:t>11/17/25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19015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5F1CB0-951D-8740-94E3-4A6F7DDA25E2}" type="datetimeFigureOut">
              <a:rPr lang="en-US" smtClean="0"/>
              <a:t>11/17/25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15322207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5F1CB0-951D-8740-94E3-4A6F7DDA25E2}"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1931125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5F1CB0-951D-8740-94E3-4A6F7DDA25E2}"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36784899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5F1CB0-951D-8740-94E3-4A6F7DDA25E2}"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41435258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5F1CB0-951D-8740-94E3-4A6F7DDA25E2}"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672BB5-8B8B-B44E-AC1F-0F53DFE288DD}" type="slidenum">
              <a:rPr lang="en-US" smtClean="0"/>
              <a:t>‹#›</a:t>
            </a:fld>
            <a:endParaRPr lang="en-US"/>
          </a:p>
        </p:txBody>
      </p:sp>
    </p:spTree>
    <p:extLst>
      <p:ext uri="{BB962C8B-B14F-4D97-AF65-F5344CB8AC3E}">
        <p14:creationId xmlns:p14="http://schemas.microsoft.com/office/powerpoint/2010/main" val="9138021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US"/>
              <a:t>Click to edit Master title style</a:t>
            </a:r>
            <a:endParaRPr lang="en-AU"/>
          </a:p>
        </p:txBody>
      </p:sp>
      <p:sp>
        <p:nvSpPr>
          <p:cNvPr id="3" name="Content Placeholder 2"/>
          <p:cNvSpPr>
            <a:spLocks noGrp="1"/>
          </p:cNvSpPr>
          <p:nvPr>
            <p:ph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5145088" y="20177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5145088" y="41513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endParaRPr lang="en-US"/>
          </a:p>
        </p:txBody>
      </p:sp>
      <p:sp>
        <p:nvSpPr>
          <p:cNvPr id="8" name="Rectangle 13"/>
          <p:cNvSpPr>
            <a:spLocks noGrp="1" noChangeArrowheads="1"/>
          </p:cNvSpPr>
          <p:nvPr>
            <p:ph type="sldNum" sz="quarter" idx="12"/>
          </p:nvPr>
        </p:nvSpPr>
        <p:spPr>
          <a:ln/>
        </p:spPr>
        <p:txBody>
          <a:bodyPr/>
          <a:lstStyle>
            <a:lvl1pPr>
              <a:defRPr/>
            </a:lvl1pPr>
          </a:lstStyle>
          <a:p>
            <a:pPr>
              <a:defRPr/>
            </a:pPr>
            <a:fld id="{CE65A58A-9585-4E16-892F-102AD0E3FD34}" type="slidenum">
              <a:rPr lang="en-US" altLang="en-US"/>
              <a:pPr>
                <a:defRPr/>
              </a:pPr>
              <a:t>‹#›</a:t>
            </a:fld>
            <a:endParaRPr lang="en-US" altLang="en-US"/>
          </a:p>
        </p:txBody>
      </p:sp>
    </p:spTree>
    <p:extLst>
      <p:ext uri="{BB962C8B-B14F-4D97-AF65-F5344CB8AC3E}">
        <p14:creationId xmlns:p14="http://schemas.microsoft.com/office/powerpoint/2010/main" val="746933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6.xml"/><Relationship Id="rId7"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3.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8229600" cy="676014"/>
          </a:xfrm>
          <a:prstGeom prst="rect">
            <a:avLst/>
          </a:prstGeom>
        </p:spPr>
        <p:txBody>
          <a:bodyPr vert="horz" lIns="91440" tIns="45720" rIns="91440" bIns="45720" rtlCol="0" anchor="t" anchorCtr="0">
            <a:normAutofit/>
          </a:bodyPr>
          <a:lstStyle/>
          <a:p>
            <a:r>
              <a:rPr lang="en-US" dirty="0"/>
              <a:t>Click to edit Master title style</a:t>
            </a:r>
          </a:p>
        </p:txBody>
      </p:sp>
      <p:sp>
        <p:nvSpPr>
          <p:cNvPr id="3" name="Text Placeholder 2"/>
          <p:cNvSpPr>
            <a:spLocks noGrp="1"/>
          </p:cNvSpPr>
          <p:nvPr>
            <p:ph type="body" idx="1"/>
          </p:nvPr>
        </p:nvSpPr>
        <p:spPr>
          <a:xfrm>
            <a:off x="457200" y="1207293"/>
            <a:ext cx="8229600" cy="4525963"/>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03358688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7" r:id="rId3"/>
  </p:sldLayoutIdLst>
  <p:hf hdr="0"/>
  <p:txStyles>
    <p:titleStyle>
      <a:lvl1pPr algn="l" defTabSz="457200" rtl="0" eaLnBrk="1" latinLnBrk="0" hangingPunct="1">
        <a:spcBef>
          <a:spcPct val="0"/>
        </a:spcBef>
        <a:buNone/>
        <a:defRPr sz="3600" b="1" i="0" kern="1200">
          <a:solidFill>
            <a:srgbClr val="FFFFFF"/>
          </a:solidFill>
          <a:latin typeface="+mj-lt"/>
          <a:ea typeface="+mj-ea"/>
          <a:cs typeface="Arial Narrow Bold"/>
        </a:defRPr>
      </a:lvl1pPr>
    </p:titleStyle>
    <p:bodyStyle>
      <a:lvl1pPr marL="0" indent="0" algn="r" defTabSz="457200" rtl="0" eaLnBrk="1" latinLnBrk="0" hangingPunct="1">
        <a:spcBef>
          <a:spcPct val="20000"/>
        </a:spcBef>
        <a:buFont typeface="Arial"/>
        <a:buNone/>
        <a:defRPr sz="2000" kern="1200">
          <a:solidFill>
            <a:srgbClr val="FFFFFF"/>
          </a:solidFill>
          <a:latin typeface="+mn-lt"/>
          <a:ea typeface="+mn-ea"/>
          <a:cs typeface="+mn-cs"/>
        </a:defRPr>
      </a:lvl1pPr>
      <a:lvl2pPr marL="742950" indent="-285750" algn="l" defTabSz="457200" rtl="0" eaLnBrk="1" latinLnBrk="0" hangingPunct="1">
        <a:spcBef>
          <a:spcPct val="20000"/>
        </a:spcBef>
        <a:buFont typeface="Arial"/>
        <a:buChar char="•"/>
        <a:defRPr sz="32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8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8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8"/>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01682" y="1141666"/>
            <a:ext cx="5485118" cy="1398472"/>
          </a:xfrm>
          <a:prstGeom prst="rect">
            <a:avLst/>
          </a:prstGeom>
        </p:spPr>
        <p:txBody>
          <a:bodyPr vert="horz" lIns="91440" tIns="45720" rIns="91440" bIns="45720" rtlCol="0" anchor="t" anchorCtr="0">
            <a:noAutofit/>
          </a:bodyPr>
          <a:lstStyle/>
          <a:p>
            <a:r>
              <a:rPr lang="en-US" dirty="0"/>
              <a:t>Click to edit Master title style</a:t>
            </a:r>
          </a:p>
        </p:txBody>
      </p:sp>
      <p:sp>
        <p:nvSpPr>
          <p:cNvPr id="3" name="Text Placeholder 2"/>
          <p:cNvSpPr>
            <a:spLocks noGrp="1"/>
          </p:cNvSpPr>
          <p:nvPr>
            <p:ph type="body" idx="1"/>
          </p:nvPr>
        </p:nvSpPr>
        <p:spPr>
          <a:xfrm>
            <a:off x="3201682" y="2631403"/>
            <a:ext cx="5485117" cy="1277675"/>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11046236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8" r:id="rId6"/>
  </p:sldLayoutIdLst>
  <p:hf hdr="0"/>
  <p:txStyles>
    <p:titleStyle>
      <a:lvl1pPr algn="r" defTabSz="457200" rtl="0" eaLnBrk="1" latinLnBrk="0" hangingPunct="1">
        <a:lnSpc>
          <a:spcPct val="80000"/>
        </a:lnSpc>
        <a:spcBef>
          <a:spcPct val="0"/>
        </a:spcBef>
        <a:buNone/>
        <a:defRPr sz="4400" b="1" i="0" kern="1200">
          <a:solidFill>
            <a:schemeClr val="accent1"/>
          </a:solidFill>
          <a:latin typeface="+mj-lt"/>
          <a:ea typeface="+mj-ea"/>
          <a:cs typeface="Arial Narrow Bold"/>
        </a:defRPr>
      </a:lvl1pPr>
    </p:titleStyle>
    <p:bodyStyle>
      <a:lvl1pPr marL="0" indent="0" algn="r" defTabSz="457200" rtl="0" eaLnBrk="1" latinLnBrk="0" hangingPunct="1">
        <a:spcBef>
          <a:spcPct val="20000"/>
        </a:spcBef>
        <a:buFont typeface="Arial"/>
        <a:buNone/>
        <a:defRPr sz="2400" kern="1200">
          <a:solidFill>
            <a:schemeClr val="tx2"/>
          </a:solidFill>
          <a:latin typeface="+mn-lt"/>
          <a:ea typeface="+mn-ea"/>
          <a:cs typeface="+mn-cs"/>
        </a:defRPr>
      </a:lvl1pPr>
      <a:lvl2pPr marL="742950" indent="-285750" algn="l" defTabSz="457200" rtl="0" eaLnBrk="1" latinLnBrk="0" hangingPunct="1">
        <a:spcBef>
          <a:spcPct val="20000"/>
        </a:spcBef>
        <a:buFont typeface="Arial"/>
        <a:buChar char="•"/>
        <a:defRPr sz="32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8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8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5F1CB0-951D-8740-94E3-4A6F7DDA25E2}" type="datetimeFigureOut">
              <a:rPr lang="en-US" smtClean="0"/>
              <a:t>11/17/25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672BB5-8B8B-B44E-AC1F-0F53DFE288DD}" type="slidenum">
              <a:rPr lang="en-US" smtClean="0"/>
              <a:t>‹#›</a:t>
            </a:fld>
            <a:endParaRPr lang="en-US"/>
          </a:p>
        </p:txBody>
      </p:sp>
    </p:spTree>
    <p:extLst>
      <p:ext uri="{BB962C8B-B14F-4D97-AF65-F5344CB8AC3E}">
        <p14:creationId xmlns:p14="http://schemas.microsoft.com/office/powerpoint/2010/main" val="157337480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1"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hyperlink" Target="http://lesswrong.com/lw/774/a_history_of_bayes_theorem/" TargetMode="External"/><Relationship Id="rId1" Type="http://schemas.openxmlformats.org/officeDocument/2006/relationships/slideLayout" Target="../slideLayouts/slideLayout11.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6.png"/><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1.bin"/><Relationship Id="rId1" Type="http://schemas.openxmlformats.org/officeDocument/2006/relationships/slideLayout" Target="../slideLayouts/slideLayout11.xml"/><Relationship Id="rId5" Type="http://schemas.openxmlformats.org/officeDocument/2006/relationships/image" Target="../media/image31.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openxmlformats.org/officeDocument/2006/relationships/image" Target="../media/image33.w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4.bin"/><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42.jpeg"/><Relationship Id="rId4" Type="http://schemas.openxmlformats.org/officeDocument/2006/relationships/image" Target="../media/image41.gif"/></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4.jpe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hyperlink" Target="https://www.countbayesie.com/blog/2015/2/18/hans-solo-and-bayesian-priors" TargetMode="External"/><Relationship Id="rId5" Type="http://schemas.openxmlformats.org/officeDocument/2006/relationships/hyperlink" Target="https://math.oxford.emory.edu/site/math117/bayesTheorem/enigma_and_bayes_theorem.pdf" TargetMode="External"/><Relationship Id="rId4" Type="http://schemas.openxmlformats.org/officeDocument/2006/relationships/image" Target="../media/image13.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418649" y="3487606"/>
            <a:ext cx="8268151" cy="2517681"/>
          </a:xfrm>
        </p:spPr>
        <p:txBody>
          <a:bodyPr>
            <a:normAutofit/>
          </a:bodyPr>
          <a:lstStyle/>
          <a:p>
            <a:r>
              <a:rPr lang="en-US" sz="2800" b="1" dirty="0"/>
              <a:t>Bayesian Methods</a:t>
            </a:r>
          </a:p>
          <a:p>
            <a:endParaRPr lang="en-US" sz="2500" dirty="0"/>
          </a:p>
          <a:p>
            <a:r>
              <a:rPr lang="en-US" sz="2500" dirty="0"/>
              <a:t>Acknowledgements: André Punt</a:t>
            </a:r>
          </a:p>
          <a:p>
            <a:endParaRPr lang="en-US" sz="2500" dirty="0"/>
          </a:p>
        </p:txBody>
      </p:sp>
      <p:sp>
        <p:nvSpPr>
          <p:cNvPr id="3" name="Title 2"/>
          <p:cNvSpPr>
            <a:spLocks noGrp="1"/>
          </p:cNvSpPr>
          <p:nvPr>
            <p:ph type="title"/>
          </p:nvPr>
        </p:nvSpPr>
        <p:spPr>
          <a:xfrm>
            <a:off x="3201988" y="1431963"/>
            <a:ext cx="5485118" cy="1398472"/>
          </a:xfrm>
        </p:spPr>
        <p:txBody>
          <a:bodyPr>
            <a:noAutofit/>
          </a:bodyPr>
          <a:lstStyle/>
          <a:p>
            <a:pPr algn="r"/>
            <a:r>
              <a:rPr lang="en-US" sz="3200" dirty="0"/>
              <a:t>MAR 580: Advanced Population Modeling for Management of Living Marine Resources</a:t>
            </a:r>
          </a:p>
        </p:txBody>
      </p:sp>
      <p:sp>
        <p:nvSpPr>
          <p:cNvPr id="6" name="TextBox 5"/>
          <p:cNvSpPr txBox="1"/>
          <p:nvPr/>
        </p:nvSpPr>
        <p:spPr>
          <a:xfrm>
            <a:off x="5349769" y="6295575"/>
            <a:ext cx="3627319" cy="369332"/>
          </a:xfrm>
          <a:prstGeom prst="rect">
            <a:avLst/>
          </a:prstGeom>
          <a:noFill/>
        </p:spPr>
        <p:txBody>
          <a:bodyPr wrap="square" rtlCol="0">
            <a:spAutoFit/>
          </a:bodyPr>
          <a:lstStyle/>
          <a:p>
            <a:pPr algn="r"/>
            <a:r>
              <a:rPr lang="en-US" dirty="0"/>
              <a:t>20 November 2025</a:t>
            </a:r>
          </a:p>
        </p:txBody>
      </p:sp>
    </p:spTree>
    <p:extLst>
      <p:ext uri="{BB962C8B-B14F-4D97-AF65-F5344CB8AC3E}">
        <p14:creationId xmlns:p14="http://schemas.microsoft.com/office/powerpoint/2010/main" val="890331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t>Intro to Bayesian statistics</a:t>
            </a:r>
          </a:p>
          <a:p>
            <a:r>
              <a:rPr lang="en-US" dirty="0"/>
              <a:t>Bayesian estimation methods</a:t>
            </a:r>
          </a:p>
          <a:p>
            <a:r>
              <a:rPr lang="en-US" dirty="0"/>
              <a:t>Worked example with </a:t>
            </a:r>
            <a:r>
              <a:rPr lang="en-US" dirty="0" err="1"/>
              <a:t>tmbSTAN</a:t>
            </a:r>
            <a:r>
              <a:rPr lang="en-US" dirty="0"/>
              <a:t> 11/24</a:t>
            </a:r>
          </a:p>
          <a:p>
            <a:endParaRPr lang="en-US" dirty="0"/>
          </a:p>
          <a:p>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902294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5737"/>
            <a:ext cx="8229600" cy="2569732"/>
          </a:xfrm>
        </p:spPr>
        <p:txBody>
          <a:bodyPr>
            <a:normAutofit lnSpcReduction="10000"/>
          </a:bodyPr>
          <a:lstStyle/>
          <a:p>
            <a:r>
              <a:rPr lang="en-US" sz="2400" dirty="0"/>
              <a:t>This is a good overview paper </a:t>
            </a:r>
            <a:br>
              <a:rPr lang="en-US" sz="2400" dirty="0"/>
            </a:br>
            <a:r>
              <a:rPr lang="en-US" sz="2400" dirty="0"/>
              <a:t>for fisheries but a little out of date.</a:t>
            </a:r>
          </a:p>
          <a:p>
            <a:r>
              <a:rPr lang="en-US" sz="2400" dirty="0"/>
              <a:t>There is far more on Bayesian statistics than can possibly be covered today. Suggested readings provided later.</a:t>
            </a:r>
          </a:p>
          <a:p>
            <a:r>
              <a:rPr lang="en-US" sz="2400" dirty="0"/>
              <a:t>Plug for Bayesian &amp; hierarchical modeling course – I have taught this in the past and considering what a future offering would look like.</a:t>
            </a:r>
          </a:p>
        </p:txBody>
      </p:sp>
      <p:pic>
        <p:nvPicPr>
          <p:cNvPr id="4" name="Picture 3"/>
          <p:cNvPicPr>
            <a:picLocks noChangeAspect="1"/>
          </p:cNvPicPr>
          <p:nvPr/>
        </p:nvPicPr>
        <p:blipFill>
          <a:blip r:embed="rId2"/>
          <a:stretch>
            <a:fillRect/>
          </a:stretch>
        </p:blipFill>
        <p:spPr>
          <a:xfrm>
            <a:off x="283334" y="299437"/>
            <a:ext cx="3821841" cy="1461596"/>
          </a:xfrm>
          <a:prstGeom prst="rect">
            <a:avLst/>
          </a:prstGeom>
          <a:ln w="12700">
            <a:solidFill>
              <a:schemeClr val="accent1"/>
            </a:solidFill>
          </a:ln>
        </p:spPr>
      </p:pic>
      <p:pic>
        <p:nvPicPr>
          <p:cNvPr id="5" name="Picture 4">
            <a:extLst>
              <a:ext uri="{FF2B5EF4-FFF2-40B4-BE49-F238E27FC236}">
                <a16:creationId xmlns:a16="http://schemas.microsoft.com/office/drawing/2014/main" id="{CC5D2914-DC04-F818-7103-9CBD1F1AD9A9}"/>
              </a:ext>
            </a:extLst>
          </p:cNvPr>
          <p:cNvPicPr>
            <a:picLocks noChangeAspect="1"/>
          </p:cNvPicPr>
          <p:nvPr/>
        </p:nvPicPr>
        <p:blipFill>
          <a:blip r:embed="rId3"/>
          <a:stretch>
            <a:fillRect/>
          </a:stretch>
        </p:blipFill>
        <p:spPr>
          <a:xfrm>
            <a:off x="3386761" y="4613262"/>
            <a:ext cx="5486400" cy="2336800"/>
          </a:xfrm>
          <a:prstGeom prst="rect">
            <a:avLst/>
          </a:prstGeom>
        </p:spPr>
      </p:pic>
      <p:sp>
        <p:nvSpPr>
          <p:cNvPr id="6" name="TextBox 5">
            <a:extLst>
              <a:ext uri="{FF2B5EF4-FFF2-40B4-BE49-F238E27FC236}">
                <a16:creationId xmlns:a16="http://schemas.microsoft.com/office/drawing/2014/main" id="{46FA106F-6534-950D-0CBF-F28BA09C6DDA}"/>
              </a:ext>
            </a:extLst>
          </p:cNvPr>
          <p:cNvSpPr txBox="1"/>
          <p:nvPr/>
        </p:nvSpPr>
        <p:spPr>
          <a:xfrm>
            <a:off x="742122" y="4904435"/>
            <a:ext cx="2359717" cy="923330"/>
          </a:xfrm>
          <a:prstGeom prst="rect">
            <a:avLst/>
          </a:prstGeom>
          <a:noFill/>
        </p:spPr>
        <p:txBody>
          <a:bodyPr wrap="square" rtlCol="0">
            <a:spAutoFit/>
          </a:bodyPr>
          <a:lstStyle/>
          <a:p>
            <a:r>
              <a:rPr lang="en-US" dirty="0"/>
              <a:t>Good intro to Bayesian statistics and use in ecology</a:t>
            </a:r>
          </a:p>
        </p:txBody>
      </p:sp>
      <p:sp>
        <p:nvSpPr>
          <p:cNvPr id="7" name="Right Arrow 6">
            <a:extLst>
              <a:ext uri="{FF2B5EF4-FFF2-40B4-BE49-F238E27FC236}">
                <a16:creationId xmlns:a16="http://schemas.microsoft.com/office/drawing/2014/main" id="{517D3428-8BFE-3521-DBFC-B3334AA4E03D}"/>
              </a:ext>
            </a:extLst>
          </p:cNvPr>
          <p:cNvSpPr/>
          <p:nvPr/>
        </p:nvSpPr>
        <p:spPr>
          <a:xfrm>
            <a:off x="2054087" y="5634612"/>
            <a:ext cx="1047752" cy="39211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1D14339-6A98-34AD-C610-2DFE5835A71B}"/>
              </a:ext>
            </a:extLst>
          </p:cNvPr>
          <p:cNvPicPr>
            <a:picLocks noChangeAspect="1"/>
          </p:cNvPicPr>
          <p:nvPr/>
        </p:nvPicPr>
        <p:blipFill>
          <a:blip r:embed="rId4"/>
          <a:stretch>
            <a:fillRect/>
          </a:stretch>
        </p:blipFill>
        <p:spPr>
          <a:xfrm>
            <a:off x="4250028" y="94744"/>
            <a:ext cx="5005850" cy="2000200"/>
          </a:xfrm>
          <a:prstGeom prst="rect">
            <a:avLst/>
          </a:prstGeom>
        </p:spPr>
      </p:pic>
      <p:sp>
        <p:nvSpPr>
          <p:cNvPr id="11" name="Right Arrow 10">
            <a:extLst>
              <a:ext uri="{FF2B5EF4-FFF2-40B4-BE49-F238E27FC236}">
                <a16:creationId xmlns:a16="http://schemas.microsoft.com/office/drawing/2014/main" id="{8ED45014-EC0C-0642-E05F-7001E7725BF9}"/>
              </a:ext>
            </a:extLst>
          </p:cNvPr>
          <p:cNvSpPr/>
          <p:nvPr/>
        </p:nvSpPr>
        <p:spPr>
          <a:xfrm rot="15784111">
            <a:off x="1819164" y="1714433"/>
            <a:ext cx="435127" cy="28266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3A9CC101-0863-869E-6E0D-BBE54E3F877E}"/>
              </a:ext>
            </a:extLst>
          </p:cNvPr>
          <p:cNvSpPr/>
          <p:nvPr/>
        </p:nvSpPr>
        <p:spPr>
          <a:xfrm rot="15784111">
            <a:off x="6535389" y="1852730"/>
            <a:ext cx="435127" cy="28266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D707E2E-62C6-9849-35A9-94976D005E3E}"/>
              </a:ext>
            </a:extLst>
          </p:cNvPr>
          <p:cNvSpPr txBox="1"/>
          <p:nvPr/>
        </p:nvSpPr>
        <p:spPr>
          <a:xfrm>
            <a:off x="6143221" y="2305318"/>
            <a:ext cx="1880316" cy="369332"/>
          </a:xfrm>
          <a:prstGeom prst="rect">
            <a:avLst/>
          </a:prstGeom>
          <a:noFill/>
        </p:spPr>
        <p:txBody>
          <a:bodyPr wrap="square" rtlCol="0">
            <a:spAutoFit/>
          </a:bodyPr>
          <a:lstStyle/>
          <a:p>
            <a:r>
              <a:rPr lang="en-US" dirty="0"/>
              <a:t>Good recent text</a:t>
            </a:r>
          </a:p>
        </p:txBody>
      </p:sp>
    </p:spTree>
    <p:extLst>
      <p:ext uri="{BB962C8B-B14F-4D97-AF65-F5344CB8AC3E}">
        <p14:creationId xmlns:p14="http://schemas.microsoft.com/office/powerpoint/2010/main" val="1203952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Decision Analysis</a:t>
            </a:r>
          </a:p>
        </p:txBody>
      </p:sp>
      <p:sp>
        <p:nvSpPr>
          <p:cNvPr id="5" name="Content Placeholder 4"/>
          <p:cNvSpPr>
            <a:spLocks noGrp="1"/>
          </p:cNvSpPr>
          <p:nvPr>
            <p:ph idx="1"/>
          </p:nvPr>
        </p:nvSpPr>
        <p:spPr>
          <a:xfrm>
            <a:off x="457200" y="1051870"/>
            <a:ext cx="8229600" cy="6135858"/>
          </a:xfrm>
        </p:spPr>
        <p:txBody>
          <a:bodyPr>
            <a:normAutofit fontScale="92500" lnSpcReduction="10000"/>
          </a:bodyPr>
          <a:lstStyle/>
          <a:p>
            <a:r>
              <a:rPr lang="en-US" sz="3000" dirty="0"/>
              <a:t>We often want to make statements about the  consequences of alternative management actions given different states of nature.</a:t>
            </a:r>
          </a:p>
          <a:p>
            <a:endParaRPr lang="en-US" dirty="0"/>
          </a:p>
          <a:p>
            <a:endParaRPr lang="en-US" dirty="0"/>
          </a:p>
          <a:p>
            <a:endParaRPr lang="en-US" dirty="0"/>
          </a:p>
          <a:p>
            <a:endParaRPr lang="en-US" dirty="0"/>
          </a:p>
          <a:p>
            <a:endParaRPr lang="en-US" dirty="0"/>
          </a:p>
          <a:p>
            <a:endParaRPr lang="en-US" altLang="en-US" sz="3000" dirty="0"/>
          </a:p>
          <a:p>
            <a:r>
              <a:rPr lang="en-US" altLang="en-US" sz="3000" dirty="0"/>
              <a:t>To compute expected outcomes, we need to know the (relative) probability to associate with each state of nature, i.e. P(</a:t>
            </a:r>
            <a:r>
              <a:rPr lang="en-US" altLang="en-US" sz="3000" i="1" dirty="0"/>
              <a:t>H</a:t>
            </a:r>
            <a:r>
              <a:rPr lang="en-US" altLang="en-US" sz="3000" dirty="0"/>
              <a:t>|</a:t>
            </a:r>
            <a:r>
              <a:rPr lang="en-US" altLang="en-US" sz="3000" i="1" dirty="0"/>
              <a:t>D</a:t>
            </a:r>
            <a:r>
              <a:rPr lang="en-US" altLang="en-US" sz="3000" dirty="0"/>
              <a:t>) where </a:t>
            </a:r>
            <a:r>
              <a:rPr lang="en-US" altLang="en-US" sz="3000" i="1" dirty="0"/>
              <a:t>H</a:t>
            </a:r>
            <a:r>
              <a:rPr lang="en-US" altLang="en-US" sz="3000" dirty="0"/>
              <a:t> is the hypothesis and </a:t>
            </a:r>
            <a:r>
              <a:rPr lang="en-US" altLang="en-US" sz="3000" i="1" dirty="0"/>
              <a:t>D</a:t>
            </a:r>
            <a:r>
              <a:rPr lang="en-US" altLang="en-US" sz="3000" dirty="0"/>
              <a:t> is the data.</a:t>
            </a:r>
          </a:p>
        </p:txBody>
      </p:sp>
      <p:graphicFrame>
        <p:nvGraphicFramePr>
          <p:cNvPr id="6" name="Group 3"/>
          <p:cNvGraphicFramePr>
            <a:graphicFrameLocks/>
          </p:cNvGraphicFramePr>
          <p:nvPr>
            <p:extLst>
              <p:ext uri="{D42A27DB-BD31-4B8C-83A1-F6EECF244321}">
                <p14:modId xmlns:p14="http://schemas.microsoft.com/office/powerpoint/2010/main" val="553433351"/>
              </p:ext>
            </p:extLst>
          </p:nvPr>
        </p:nvGraphicFramePr>
        <p:xfrm>
          <a:off x="139550" y="2511460"/>
          <a:ext cx="8749771" cy="2615899"/>
        </p:xfrm>
        <a:graphic>
          <a:graphicData uri="http://schemas.openxmlformats.org/drawingml/2006/table">
            <a:tbl>
              <a:tblPr/>
              <a:tblGrid>
                <a:gridCol w="2462556">
                  <a:extLst>
                    <a:ext uri="{9D8B030D-6E8A-4147-A177-3AD203B41FA5}">
                      <a16:colId xmlns:a16="http://schemas.microsoft.com/office/drawing/2014/main" val="20000"/>
                    </a:ext>
                  </a:extLst>
                </a:gridCol>
                <a:gridCol w="1338728">
                  <a:extLst>
                    <a:ext uri="{9D8B030D-6E8A-4147-A177-3AD203B41FA5}">
                      <a16:colId xmlns:a16="http://schemas.microsoft.com/office/drawing/2014/main" val="20001"/>
                    </a:ext>
                  </a:extLst>
                </a:gridCol>
                <a:gridCol w="1650461">
                  <a:extLst>
                    <a:ext uri="{9D8B030D-6E8A-4147-A177-3AD203B41FA5}">
                      <a16:colId xmlns:a16="http://schemas.microsoft.com/office/drawing/2014/main" val="20002"/>
                    </a:ext>
                  </a:extLst>
                </a:gridCol>
                <a:gridCol w="1649013">
                  <a:extLst>
                    <a:ext uri="{9D8B030D-6E8A-4147-A177-3AD203B41FA5}">
                      <a16:colId xmlns:a16="http://schemas.microsoft.com/office/drawing/2014/main" val="20003"/>
                    </a:ext>
                  </a:extLst>
                </a:gridCol>
                <a:gridCol w="1649013">
                  <a:extLst>
                    <a:ext uri="{9D8B030D-6E8A-4147-A177-3AD203B41FA5}">
                      <a16:colId xmlns:a16="http://schemas.microsoft.com/office/drawing/2014/main" val="20004"/>
                    </a:ext>
                  </a:extLst>
                </a:gridCol>
              </a:tblGrid>
              <a:tr h="519836">
                <a:tc rowSpan="2">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0" u="none" strike="noStrike" cap="none" normalizeH="0" baseline="0" dirty="0">
                          <a:ln>
                            <a:noFill/>
                          </a:ln>
                          <a:solidFill>
                            <a:schemeClr val="tx1"/>
                          </a:solidFill>
                          <a:effectLst/>
                          <a:latin typeface="Tahoma" panose="020B0604030504040204" pitchFamily="34" charset="0"/>
                        </a:rPr>
                        <a:t>Management Action</a:t>
                      </a:r>
                    </a:p>
                  </a:txBody>
                  <a:tcPr horzOverflow="overflow">
                    <a:lnL w="28575" cap="flat" cmpd="sng" algn="ctr">
                      <a:solidFill>
                        <a:schemeClr val="tx1"/>
                      </a:solidFill>
                      <a:prstDash val="solid"/>
                      <a:round/>
                      <a:headEnd type="none" w="med" len="med"/>
                      <a:tailEnd type="none" w="med" len="med"/>
                    </a:lnL>
                    <a:lnR w="38100" cap="flat" cmpd="sng" algn="ctr">
                      <a:solidFill>
                        <a:srgbClr val="D32128"/>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rgbClr val="D32128"/>
                      </a:solidFill>
                      <a:prstDash val="solid"/>
                      <a:round/>
                      <a:headEnd type="none" w="med" len="med"/>
                      <a:tailEnd type="none" w="med" len="med"/>
                    </a:lnB>
                    <a:lnTlToBr>
                      <a:noFill/>
                    </a:lnTlToBr>
                    <a:lnBlToTr>
                      <a:noFill/>
                    </a:lnBlToTr>
                    <a:noFill/>
                  </a:tcPr>
                </a:tc>
                <a:tc gridSpan="3">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0" u="none" strike="noStrike" cap="none" normalizeH="0" baseline="0" dirty="0">
                          <a:ln>
                            <a:noFill/>
                          </a:ln>
                          <a:solidFill>
                            <a:schemeClr val="tx1"/>
                          </a:solidFill>
                          <a:effectLst/>
                          <a:latin typeface="Tahoma" panose="020B0604030504040204" pitchFamily="34" charset="0"/>
                        </a:rPr>
                        <a:t>State of Nature</a:t>
                      </a:r>
                    </a:p>
                  </a:txBody>
                  <a:tcPr horzOverflow="overflow">
                    <a:lnL w="38100" cap="flat" cmpd="sng" algn="ctr">
                      <a:solidFill>
                        <a:srgbClr val="D32128"/>
                      </a:solidFill>
                      <a:prstDash val="solid"/>
                      <a:round/>
                      <a:headEnd type="none" w="med" len="med"/>
                      <a:tailEnd type="none" w="med" len="med"/>
                    </a:lnL>
                    <a:lnR w="38100" cap="flat" cmpd="sng" algn="ctr">
                      <a:solidFill>
                        <a:srgbClr val="D32128"/>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D32128"/>
                      </a:solidFill>
                      <a:prstDash val="solid"/>
                      <a:round/>
                      <a:headEnd type="none" w="med" len="med"/>
                      <a:tailEnd type="none" w="med" len="med"/>
                    </a:lnB>
                    <a:lnTlToBr>
                      <a:noFill/>
                    </a:lnTlToBr>
                    <a:lnBlToTr>
                      <a:noFill/>
                    </a:lnBlToTr>
                    <a:noFill/>
                  </a:tcPr>
                </a:tc>
                <a:tc hMerge="1">
                  <a:txBody>
                    <a:bodyPr/>
                    <a:lstStyle/>
                    <a:p>
                      <a:endParaRPr lang="en-AU"/>
                    </a:p>
                  </a:txBody>
                  <a:tcPr/>
                </a:tc>
                <a:tc hMerge="1">
                  <a:txBody>
                    <a:bodyPr/>
                    <a:lstStyle/>
                    <a:p>
                      <a:endParaRPr lang="en-AU"/>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0" u="none" strike="noStrike" cap="none" normalizeH="0" baseline="0" dirty="0">
                          <a:ln>
                            <a:noFill/>
                          </a:ln>
                          <a:solidFill>
                            <a:schemeClr val="tx1"/>
                          </a:solidFill>
                          <a:effectLst/>
                          <a:latin typeface="Tahoma" panose="020B0604030504040204" pitchFamily="34" charset="0"/>
                        </a:rPr>
                        <a:t>Expected</a:t>
                      </a:r>
                    </a:p>
                  </a:txBody>
                  <a:tcPr horzOverflow="overflow">
                    <a:lnL w="38100" cap="flat" cmpd="sng" algn="ctr">
                      <a:solidFill>
                        <a:srgbClr val="D32128"/>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D3212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0805">
                <a:tc vMerge="1">
                  <a:txBody>
                    <a:bodyPr/>
                    <a:lstStyle/>
                    <a:p>
                      <a:endParaRPr lang="en-AU"/>
                    </a:p>
                  </a:txBody>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1" u="none" strike="noStrike" cap="none" normalizeH="0" baseline="0">
                          <a:ln>
                            <a:noFill/>
                          </a:ln>
                          <a:solidFill>
                            <a:schemeClr val="tx1"/>
                          </a:solidFill>
                          <a:effectLst/>
                          <a:latin typeface="Tahoma" panose="020B0604030504040204" pitchFamily="34" charset="0"/>
                        </a:rPr>
                        <a:t>r</a:t>
                      </a:r>
                      <a:r>
                        <a:rPr kumimoji="0" lang="en-US" altLang="en-US" sz="2800" b="0" i="0" u="none" strike="noStrike" cap="none" normalizeH="0" baseline="0">
                          <a:ln>
                            <a:noFill/>
                          </a:ln>
                          <a:solidFill>
                            <a:schemeClr val="tx1"/>
                          </a:solidFill>
                          <a:effectLst/>
                          <a:latin typeface="Tahoma" panose="020B0604030504040204" pitchFamily="34" charset="0"/>
                        </a:rPr>
                        <a:t>=0.1</a:t>
                      </a:r>
                    </a:p>
                  </a:txBody>
                  <a:tcPr horzOverflow="overflow">
                    <a:lnL w="38100" cap="flat" cmpd="sng" algn="ctr">
                      <a:solidFill>
                        <a:srgbClr val="D32128"/>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D32128"/>
                      </a:solidFill>
                      <a:prstDash val="solid"/>
                      <a:round/>
                      <a:headEnd type="none" w="med" len="med"/>
                      <a:tailEnd type="none" w="med" len="med"/>
                    </a:lnT>
                    <a:lnB w="38100" cap="flat" cmpd="sng" algn="ctr">
                      <a:solidFill>
                        <a:srgbClr val="D32128"/>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1" u="none" strike="noStrike" cap="none" normalizeH="0" baseline="0">
                          <a:ln>
                            <a:noFill/>
                          </a:ln>
                          <a:solidFill>
                            <a:schemeClr val="tx1"/>
                          </a:solidFill>
                          <a:effectLst/>
                          <a:latin typeface="Tahoma" panose="020B0604030504040204" pitchFamily="34" charset="0"/>
                        </a:rPr>
                        <a:t>r</a:t>
                      </a:r>
                      <a:r>
                        <a:rPr kumimoji="0" lang="en-US" altLang="en-US" sz="2800" b="0" i="0" u="none" strike="noStrike" cap="none" normalizeH="0" baseline="0">
                          <a:ln>
                            <a:noFill/>
                          </a:ln>
                          <a:solidFill>
                            <a:schemeClr val="tx1"/>
                          </a:solidFill>
                          <a:effectLst/>
                          <a:latin typeface="Tahoma" panose="020B0604030504040204" pitchFamily="34" charset="0"/>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D32128"/>
                      </a:solidFill>
                      <a:prstDash val="solid"/>
                      <a:round/>
                      <a:headEnd type="none" w="med" len="med"/>
                      <a:tailEnd type="none" w="med" len="med"/>
                    </a:lnT>
                    <a:lnB w="38100" cap="flat" cmpd="sng" algn="ctr">
                      <a:solidFill>
                        <a:srgbClr val="D32128"/>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1" u="none" strike="noStrike" cap="none" normalizeH="0" baseline="0">
                          <a:ln>
                            <a:noFill/>
                          </a:ln>
                          <a:solidFill>
                            <a:schemeClr val="tx1"/>
                          </a:solidFill>
                          <a:effectLst/>
                          <a:latin typeface="Tahoma" panose="020B0604030504040204" pitchFamily="34" charset="0"/>
                        </a:rPr>
                        <a:t>r</a:t>
                      </a:r>
                      <a:r>
                        <a:rPr kumimoji="0" lang="en-US" altLang="en-US" sz="2800" b="0" i="0" u="none" strike="noStrike" cap="none" normalizeH="0" baseline="0">
                          <a:ln>
                            <a:noFill/>
                          </a:ln>
                          <a:solidFill>
                            <a:schemeClr val="tx1"/>
                          </a:solidFill>
                          <a:effectLst/>
                          <a:latin typeface="Tahoma" panose="020B0604030504040204" pitchFamily="34" charset="0"/>
                        </a:rPr>
                        <a:t>=0.3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D32128"/>
                      </a:solidFill>
                      <a:prstDash val="solid"/>
                      <a:round/>
                      <a:headEnd type="none" w="med" len="med"/>
                      <a:tailEnd type="none" w="med" len="med"/>
                    </a:lnT>
                    <a:lnB w="38100" cap="flat" cmpd="sng" algn="ctr">
                      <a:solidFill>
                        <a:srgbClr val="D3212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0" u="none" strike="noStrike" cap="none" normalizeH="0" baseline="0" dirty="0">
                          <a:ln>
                            <a:noFill/>
                          </a:ln>
                          <a:solidFill>
                            <a:schemeClr val="tx1"/>
                          </a:solidFill>
                          <a:effectLst/>
                          <a:latin typeface="Tahoma" panose="020B0604030504040204" pitchFamily="34" charset="0"/>
                        </a:rPr>
                        <a:t>Outcome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D32128"/>
                      </a:solidFill>
                      <a:prstDash val="solid"/>
                      <a:round/>
                      <a:headEnd type="none" w="med" len="med"/>
                      <a:tailEnd type="none" w="med" len="med"/>
                    </a:lnT>
                    <a:lnB w="38100" cap="flat" cmpd="sng" algn="ctr">
                      <a:solidFill>
                        <a:srgbClr val="D3212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836">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Tahoma" panose="020B0604030504040204" pitchFamily="34" charset="0"/>
                        </a:rPr>
                        <a:t>Catch=10</a:t>
                      </a:r>
                    </a:p>
                  </a:txBody>
                  <a:tcPr horzOverflow="overflow">
                    <a:lnL w="28575" cap="flat" cmpd="sng" algn="ctr">
                      <a:solidFill>
                        <a:schemeClr val="tx1"/>
                      </a:solidFill>
                      <a:prstDash val="solid"/>
                      <a:round/>
                      <a:headEnd type="none" w="med" len="med"/>
                      <a:tailEnd type="none" w="med" len="med"/>
                    </a:lnL>
                    <a:lnR w="38100" cap="flat" cmpd="sng" algn="ctr">
                      <a:solidFill>
                        <a:srgbClr val="D32128"/>
                      </a:solidFill>
                      <a:prstDash val="solid"/>
                      <a:round/>
                      <a:headEnd type="none" w="med" len="med"/>
                      <a:tailEnd type="none" w="med" len="med"/>
                    </a:lnR>
                    <a:lnT w="38100" cap="flat" cmpd="sng" algn="ctr">
                      <a:solidFill>
                        <a:srgbClr val="D32128"/>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38100" cap="flat" cmpd="sng" algn="ctr">
                      <a:solidFill>
                        <a:srgbClr val="D32128"/>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D32128"/>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D32128"/>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dirty="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D32128"/>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dirty="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D32128"/>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9907">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Tahoma" panose="020B0604030504040204" pitchFamily="34" charset="0"/>
                        </a:rPr>
                        <a:t>Catch=20</a:t>
                      </a:r>
                    </a:p>
                  </a:txBody>
                  <a:tcPr horzOverflow="overflow">
                    <a:lnL w="28575" cap="flat" cmpd="sng" algn="ctr">
                      <a:solidFill>
                        <a:schemeClr val="tx1"/>
                      </a:solidFill>
                      <a:prstDash val="solid"/>
                      <a:round/>
                      <a:headEnd type="none" w="med" len="med"/>
                      <a:tailEnd type="none" w="med" len="med"/>
                    </a:lnL>
                    <a:lnR w="38100" cap="flat" cmpd="sng" algn="ctr">
                      <a:solidFill>
                        <a:srgbClr val="D32128"/>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38100" cap="flat" cmpd="sng" algn="ctr">
                      <a:solidFill>
                        <a:srgbClr val="D32128"/>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080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800" b="0" i="0" u="none" strike="noStrike" cap="none" normalizeH="0" baseline="0" dirty="0">
                          <a:ln>
                            <a:noFill/>
                          </a:ln>
                          <a:solidFill>
                            <a:schemeClr val="tx1"/>
                          </a:solidFill>
                          <a:effectLst/>
                          <a:latin typeface="Tahoma" panose="020B0604030504040204" pitchFamily="34" charset="0"/>
                        </a:rPr>
                        <a:t>Catch=30</a:t>
                      </a:r>
                    </a:p>
                  </a:txBody>
                  <a:tcPr horzOverflow="overflow">
                    <a:lnL w="28575" cap="flat" cmpd="sng" algn="ctr">
                      <a:solidFill>
                        <a:schemeClr val="tx1"/>
                      </a:solidFill>
                      <a:prstDash val="solid"/>
                      <a:round/>
                      <a:headEnd type="none" w="med" len="med"/>
                      <a:tailEnd type="none" w="med" len="med"/>
                    </a:lnL>
                    <a:lnR w="38100" cap="flat" cmpd="sng" algn="ctr">
                      <a:solidFill>
                        <a:srgbClr val="D32128"/>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38100" cap="flat" cmpd="sng" algn="ctr">
                      <a:solidFill>
                        <a:srgbClr val="D32128"/>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dirty="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dirty="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Text Box 34"/>
          <p:cNvSpPr txBox="1">
            <a:spLocks noChangeArrowheads="1"/>
          </p:cNvSpPr>
          <p:nvPr/>
        </p:nvSpPr>
        <p:spPr bwMode="auto">
          <a:xfrm>
            <a:off x="2738235" y="3945400"/>
            <a:ext cx="4292600" cy="777875"/>
          </a:xfrm>
          <a:prstGeom prst="rect">
            <a:avLst/>
          </a:prstGeom>
          <a:solidFill>
            <a:srgbClr val="99CC00"/>
          </a:solidFill>
          <a:ln w="76200" algn="ctr">
            <a:solidFill>
              <a:srgbClr val="FF00FF"/>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4000" dirty="0"/>
              <a:t>Summary Statistic</a:t>
            </a:r>
          </a:p>
        </p:txBody>
      </p:sp>
    </p:spTree>
    <p:extLst>
      <p:ext uri="{BB962C8B-B14F-4D97-AF65-F5344CB8AC3E}">
        <p14:creationId xmlns:p14="http://schemas.microsoft.com/office/powerpoint/2010/main" val="331803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Frequentists vs Bayesians</a:t>
            </a:r>
          </a:p>
        </p:txBody>
      </p:sp>
      <p:sp>
        <p:nvSpPr>
          <p:cNvPr id="3" name="Content Placeholder 2"/>
          <p:cNvSpPr>
            <a:spLocks noGrp="1"/>
          </p:cNvSpPr>
          <p:nvPr>
            <p:ph idx="1"/>
          </p:nvPr>
        </p:nvSpPr>
        <p:spPr/>
        <p:txBody>
          <a:bodyPr>
            <a:normAutofit fontScale="77500" lnSpcReduction="20000"/>
          </a:bodyPr>
          <a:lstStyle/>
          <a:p>
            <a:r>
              <a:rPr lang="en-US" dirty="0"/>
              <a:t>Frequentist approach: What is the probability of the data given that the parameter is true?</a:t>
            </a:r>
          </a:p>
          <a:p>
            <a:pPr marL="0" indent="0">
              <a:buNone/>
            </a:pPr>
            <a:r>
              <a:rPr lang="en-US" dirty="0"/>
              <a:t>	P(</a:t>
            </a:r>
            <a:r>
              <a:rPr lang="en-US" dirty="0" err="1"/>
              <a:t>Data|Model</a:t>
            </a:r>
            <a:r>
              <a:rPr lang="en-US" dirty="0"/>
              <a:t>)</a:t>
            </a:r>
          </a:p>
          <a:p>
            <a:pPr marL="0" indent="0">
              <a:buNone/>
            </a:pPr>
            <a:endParaRPr lang="en-US" dirty="0"/>
          </a:p>
          <a:p>
            <a:r>
              <a:rPr lang="en-US" dirty="0"/>
              <a:t>Bayesian approach: What is the probability of the parameter given that the data is true?</a:t>
            </a:r>
          </a:p>
          <a:p>
            <a:pPr marL="0" indent="0">
              <a:buNone/>
            </a:pPr>
            <a:r>
              <a:rPr lang="en-US" dirty="0"/>
              <a:t>	P(</a:t>
            </a:r>
            <a:r>
              <a:rPr lang="en-US" dirty="0" err="1"/>
              <a:t>Model|Data</a:t>
            </a:r>
            <a:r>
              <a:rPr lang="en-US" dirty="0"/>
              <a:t>)</a:t>
            </a:r>
          </a:p>
          <a:p>
            <a:endParaRPr lang="en-US" dirty="0"/>
          </a:p>
          <a:p>
            <a:r>
              <a:rPr lang="en-US" dirty="0"/>
              <a:t>Which of these quantities are we interested in?</a:t>
            </a:r>
          </a:p>
          <a:p>
            <a:r>
              <a:rPr lang="en-US" dirty="0"/>
              <a:t>Main difference (and argument) is that Bayesian inference is based on making statements based on the data we have, rather than hypothetical data we haven’t observed.</a:t>
            </a:r>
          </a:p>
          <a:p>
            <a:r>
              <a:rPr lang="en-US" dirty="0"/>
              <a:t>Although Bayesians make use of the likelihood, so far we have taken a frequentist approach to using the likelihood for model inference and quantifying uncertainty, etc.</a:t>
            </a:r>
          </a:p>
        </p:txBody>
      </p:sp>
    </p:spTree>
    <p:extLst>
      <p:ext uri="{BB962C8B-B14F-4D97-AF65-F5344CB8AC3E}">
        <p14:creationId xmlns:p14="http://schemas.microsoft.com/office/powerpoint/2010/main" val="231369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Confidence Intervals</a:t>
            </a:r>
          </a:p>
        </p:txBody>
      </p:sp>
      <p:sp>
        <p:nvSpPr>
          <p:cNvPr id="3" name="Content Placeholder 2"/>
          <p:cNvSpPr>
            <a:spLocks noGrp="1"/>
          </p:cNvSpPr>
          <p:nvPr>
            <p:ph idx="1"/>
          </p:nvPr>
        </p:nvSpPr>
        <p:spPr/>
        <p:txBody>
          <a:bodyPr/>
          <a:lstStyle/>
          <a:p>
            <a:r>
              <a:rPr lang="en-US" dirty="0"/>
              <a:t>What is a 95% confidence interval?</a:t>
            </a:r>
          </a:p>
          <a:p>
            <a:endParaRPr lang="en-US" dirty="0"/>
          </a:p>
          <a:p>
            <a:r>
              <a:rPr lang="en-US" dirty="0"/>
              <a:t>If the experiment is repeated, 95% of these intervals will contain the true value.</a:t>
            </a:r>
          </a:p>
          <a:p>
            <a:r>
              <a:rPr lang="en-US" dirty="0"/>
              <a:t>It is NOT that the true value lies within this interval with 95% probability.</a:t>
            </a:r>
          </a:p>
          <a:p>
            <a:r>
              <a:rPr lang="en-US" dirty="0"/>
              <a:t>But…. This sounds like something we would be interested in knowing, no?</a:t>
            </a:r>
          </a:p>
        </p:txBody>
      </p:sp>
    </p:spTree>
    <p:extLst>
      <p:ext uri="{BB962C8B-B14F-4D97-AF65-F5344CB8AC3E}">
        <p14:creationId xmlns:p14="http://schemas.microsoft.com/office/powerpoint/2010/main" val="45987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Thomas Bayes (1701-1761)</a:t>
            </a:r>
          </a:p>
        </p:txBody>
      </p:sp>
      <p:sp>
        <p:nvSpPr>
          <p:cNvPr id="3" name="Content Placeholder 2"/>
          <p:cNvSpPr>
            <a:spLocks noGrp="1"/>
          </p:cNvSpPr>
          <p:nvPr>
            <p:ph idx="1"/>
          </p:nvPr>
        </p:nvSpPr>
        <p:spPr/>
        <p:txBody>
          <a:bodyPr>
            <a:normAutofit fontScale="85000" lnSpcReduction="20000"/>
          </a:bodyPr>
          <a:lstStyle/>
          <a:p>
            <a:r>
              <a:rPr lang="en-US" dirty="0"/>
              <a:t>This (probably) isn’t Bayes.</a:t>
            </a:r>
          </a:p>
          <a:p>
            <a:endParaRPr lang="en-US" dirty="0"/>
          </a:p>
          <a:p>
            <a:r>
              <a:rPr lang="en-US" dirty="0"/>
              <a:t>Bayes’ system: </a:t>
            </a:r>
          </a:p>
          <a:p>
            <a:pPr marL="0" indent="0">
              <a:buNone/>
            </a:pPr>
            <a:r>
              <a:rPr lang="en-US" sz="2800" dirty="0"/>
              <a:t>Initial Belief + New Data = Improved Belief</a:t>
            </a:r>
          </a:p>
          <a:p>
            <a:endParaRPr lang="en-US" dirty="0"/>
          </a:p>
          <a:p>
            <a:r>
              <a:rPr lang="en-US" dirty="0"/>
              <a:t>He didn’t publish!</a:t>
            </a:r>
          </a:p>
          <a:p>
            <a:r>
              <a:rPr lang="en-US" dirty="0"/>
              <a:t>Later picked up by Laplace</a:t>
            </a:r>
          </a:p>
          <a:p>
            <a:r>
              <a:rPr lang="en-US" dirty="0"/>
              <a:t>Bertrand (late 19</a:t>
            </a:r>
            <a:r>
              <a:rPr lang="en-US" baseline="30000" dirty="0"/>
              <a:t>th</a:t>
            </a:r>
            <a:r>
              <a:rPr lang="en-US" dirty="0"/>
              <a:t> century), artillery</a:t>
            </a:r>
          </a:p>
          <a:p>
            <a:r>
              <a:rPr lang="en-US" dirty="0"/>
              <a:t>Bell telephone (early 20</a:t>
            </a:r>
            <a:r>
              <a:rPr lang="en-US" baseline="30000" dirty="0"/>
              <a:t>th</a:t>
            </a:r>
            <a:r>
              <a:rPr lang="en-US" dirty="0"/>
              <a:t>)</a:t>
            </a:r>
          </a:p>
          <a:p>
            <a:r>
              <a:rPr lang="en-US" dirty="0"/>
              <a:t>1940s – Turing &amp; Enigma</a:t>
            </a:r>
          </a:p>
          <a:p>
            <a:r>
              <a:rPr lang="en-US" dirty="0"/>
              <a:t>1960s – Tukey, Nixon/Kennedy election</a:t>
            </a:r>
          </a:p>
          <a:p>
            <a:endParaRPr lang="en-US" dirty="0">
              <a:hlinkClick r:id="rId2"/>
            </a:endParaRPr>
          </a:p>
          <a:p>
            <a:pPr marL="0" indent="0">
              <a:buNone/>
            </a:pPr>
            <a:r>
              <a:rPr lang="en-US" sz="2600" dirty="0">
                <a:hlinkClick r:id="rId2"/>
              </a:rPr>
              <a:t>http://lesswrong.com/lw/774/a_history_of_bayes_theorem/</a:t>
            </a:r>
            <a:endParaRPr lang="en-US" sz="2600" dirty="0"/>
          </a:p>
        </p:txBody>
      </p:sp>
      <p:sp>
        <p:nvSpPr>
          <p:cNvPr id="4" name="Right Arrow 3"/>
          <p:cNvSpPr/>
          <p:nvPr/>
        </p:nvSpPr>
        <p:spPr>
          <a:xfrm>
            <a:off x="4811696" y="982452"/>
            <a:ext cx="863571"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2338" name="Picture 2" descr="Thomas Baye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4176" y="183923"/>
            <a:ext cx="2326529" cy="2494897"/>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2" descr="http://ecx.images-amazon.com/images/I/51M1qZhLhCL._SY344_BO1,204,203,200_.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9204" y="2932812"/>
            <a:ext cx="1867292" cy="280905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500961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Rise of the Bayesians</a:t>
            </a:r>
          </a:p>
        </p:txBody>
      </p:sp>
      <p:sp>
        <p:nvSpPr>
          <p:cNvPr id="3" name="Content Placeholder 2"/>
          <p:cNvSpPr>
            <a:spLocks noGrp="1"/>
          </p:cNvSpPr>
          <p:nvPr>
            <p:ph idx="1"/>
          </p:nvPr>
        </p:nvSpPr>
        <p:spPr>
          <a:xfrm>
            <a:off x="457200" y="1051870"/>
            <a:ext cx="8229600" cy="5952612"/>
          </a:xfrm>
        </p:spPr>
        <p:txBody>
          <a:bodyPr>
            <a:normAutofit/>
          </a:bodyPr>
          <a:lstStyle/>
          <a:p>
            <a:r>
              <a:rPr lang="en-US" sz="2800" dirty="0"/>
              <a:t>Literature seeing increasing use of Bayesian methods for statistical inference.</a:t>
            </a:r>
          </a:p>
          <a:p>
            <a:endParaRPr lang="en-US" sz="2800" dirty="0"/>
          </a:p>
          <a:p>
            <a:endParaRPr lang="en-US" sz="2800" dirty="0"/>
          </a:p>
          <a:p>
            <a:endParaRPr lang="en-US" sz="2800" dirty="0"/>
          </a:p>
          <a:p>
            <a:endParaRPr lang="en-US" sz="2800" dirty="0"/>
          </a:p>
          <a:p>
            <a:endParaRPr lang="en-US" sz="2800" dirty="0"/>
          </a:p>
          <a:p>
            <a:r>
              <a:rPr lang="en-US" sz="2800" dirty="0"/>
              <a:t>I would like to say this is a result of a shift in statistical thinking…</a:t>
            </a:r>
          </a:p>
          <a:p>
            <a:r>
              <a:rPr lang="en-US" sz="2800" dirty="0"/>
              <a:t>In part this is due to the availability of software packages that can deal with the computational demands of estimation.</a:t>
            </a:r>
          </a:p>
        </p:txBody>
      </p:sp>
      <p:pic>
        <p:nvPicPr>
          <p:cNvPr id="5" name="Picture 4">
            <a:extLst>
              <a:ext uri="{FF2B5EF4-FFF2-40B4-BE49-F238E27FC236}">
                <a16:creationId xmlns:a16="http://schemas.microsoft.com/office/drawing/2014/main" id="{3C0A9B97-20DD-D566-0ADB-E0BC831FB801}"/>
              </a:ext>
            </a:extLst>
          </p:cNvPr>
          <p:cNvPicPr>
            <a:picLocks noChangeAspect="1"/>
          </p:cNvPicPr>
          <p:nvPr/>
        </p:nvPicPr>
        <p:blipFill>
          <a:blip r:embed="rId2"/>
          <a:stretch>
            <a:fillRect/>
          </a:stretch>
        </p:blipFill>
        <p:spPr>
          <a:xfrm>
            <a:off x="5368393" y="1694936"/>
            <a:ext cx="3775607" cy="2770959"/>
          </a:xfrm>
          <a:prstGeom prst="rect">
            <a:avLst/>
          </a:prstGeom>
        </p:spPr>
      </p:pic>
      <p:pic>
        <p:nvPicPr>
          <p:cNvPr id="6" name="Picture 5">
            <a:extLst>
              <a:ext uri="{FF2B5EF4-FFF2-40B4-BE49-F238E27FC236}">
                <a16:creationId xmlns:a16="http://schemas.microsoft.com/office/drawing/2014/main" id="{3C55F883-039D-FAE2-5D5A-A5A494CB2CC4}"/>
              </a:ext>
            </a:extLst>
          </p:cNvPr>
          <p:cNvPicPr>
            <a:picLocks noChangeAspect="1"/>
          </p:cNvPicPr>
          <p:nvPr/>
        </p:nvPicPr>
        <p:blipFill>
          <a:blip r:embed="rId3"/>
          <a:stretch>
            <a:fillRect/>
          </a:stretch>
        </p:blipFill>
        <p:spPr>
          <a:xfrm>
            <a:off x="0" y="2081849"/>
            <a:ext cx="6028870" cy="2425902"/>
          </a:xfrm>
          <a:prstGeom prst="rect">
            <a:avLst/>
          </a:prstGeom>
        </p:spPr>
      </p:pic>
    </p:spTree>
    <p:extLst>
      <p:ext uri="{BB962C8B-B14F-4D97-AF65-F5344CB8AC3E}">
        <p14:creationId xmlns:p14="http://schemas.microsoft.com/office/powerpoint/2010/main" val="2425440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Bayes’ Rule</a:t>
            </a:r>
          </a:p>
        </p:txBody>
      </p:sp>
      <p:pic>
        <p:nvPicPr>
          <p:cNvPr id="6" name="Picture 5" descr="Screen Shot 2017-11-06 at 4.22.23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004" y="929923"/>
            <a:ext cx="5080000" cy="14732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US" dirty="0"/>
              </a:p>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endParaRPr lang="en-US" dirty="0"/>
              </a:p>
              <a:p>
                <a:pPr marL="0" indent="0">
                  <a:buNone/>
                </a:pPr>
                <a:endParaRPr lang="en-US" i="1" dirty="0">
                  <a:latin typeface="Cambria Math" panose="02040503050406030204" pitchFamily="18" charset="0"/>
                </a:endParaRPr>
              </a:p>
              <a:p>
                <a:pPr marL="0" indent="0">
                  <a:buNone/>
                </a:pPr>
                <a:endParaRPr lang="en-US" dirty="0"/>
              </a:p>
              <a:p>
                <a:pPr mar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a:stretch>
              </a:blipFill>
            </p:spPr>
            <p:txBody>
              <a:bodyPr/>
              <a:lstStyle/>
              <a:p>
                <a:r>
                  <a:rPr lang="en-US">
                    <a:noFill/>
                  </a:rPr>
                  <a:t> </a:t>
                </a:r>
              </a:p>
            </p:txBody>
          </p:sp>
        </mc:Fallback>
      </mc:AlternateContent>
      <p:cxnSp>
        <p:nvCxnSpPr>
          <p:cNvPr id="5" name="Straight Arrow Connector 4"/>
          <p:cNvCxnSpPr/>
          <p:nvPr/>
        </p:nvCxnSpPr>
        <p:spPr>
          <a:xfrm flipV="1">
            <a:off x="2443722" y="1902957"/>
            <a:ext cx="512542" cy="532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71320" y="2525453"/>
            <a:ext cx="2603091" cy="923330"/>
          </a:xfrm>
          <a:prstGeom prst="rect">
            <a:avLst/>
          </a:prstGeom>
          <a:noFill/>
          <a:ln>
            <a:solidFill>
              <a:schemeClr val="accent1"/>
            </a:solidFill>
          </a:ln>
        </p:spPr>
        <p:txBody>
          <a:bodyPr wrap="square" rtlCol="0">
            <a:spAutoFit/>
          </a:bodyPr>
          <a:lstStyle/>
          <a:p>
            <a:r>
              <a:rPr lang="en-US" dirty="0"/>
              <a:t>Probability of the hypothesis (model) given the data, the </a:t>
            </a:r>
            <a:r>
              <a:rPr lang="en-US" b="1" dirty="0"/>
              <a:t>posterior</a:t>
            </a:r>
          </a:p>
        </p:txBody>
      </p:sp>
      <p:sp>
        <p:nvSpPr>
          <p:cNvPr id="14" name="TextBox 13"/>
          <p:cNvSpPr txBox="1"/>
          <p:nvPr/>
        </p:nvSpPr>
        <p:spPr>
          <a:xfrm>
            <a:off x="3928559" y="225951"/>
            <a:ext cx="2907247" cy="646331"/>
          </a:xfrm>
          <a:prstGeom prst="rect">
            <a:avLst/>
          </a:prstGeom>
          <a:noFill/>
          <a:ln>
            <a:solidFill>
              <a:schemeClr val="accent1"/>
            </a:solidFill>
          </a:ln>
        </p:spPr>
        <p:txBody>
          <a:bodyPr wrap="square" rtlCol="0">
            <a:spAutoFit/>
          </a:bodyPr>
          <a:lstStyle/>
          <a:p>
            <a:r>
              <a:rPr lang="en-US" dirty="0"/>
              <a:t>Probability of data given the hypothesis, the </a:t>
            </a:r>
            <a:r>
              <a:rPr lang="en-US" b="1" dirty="0"/>
              <a:t>likelihood</a:t>
            </a:r>
          </a:p>
        </p:txBody>
      </p:sp>
      <p:cxnSp>
        <p:nvCxnSpPr>
          <p:cNvPr id="16" name="Straight Arrow Connector 15"/>
          <p:cNvCxnSpPr/>
          <p:nvPr/>
        </p:nvCxnSpPr>
        <p:spPr>
          <a:xfrm flipH="1">
            <a:off x="5149049" y="807868"/>
            <a:ext cx="53266" cy="244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flipV="1">
            <a:off x="6738152" y="1384917"/>
            <a:ext cx="843378" cy="2119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235300" y="1708823"/>
            <a:ext cx="1868560" cy="646331"/>
          </a:xfrm>
          <a:prstGeom prst="rect">
            <a:avLst/>
          </a:prstGeom>
          <a:noFill/>
          <a:ln>
            <a:solidFill>
              <a:schemeClr val="accent1"/>
            </a:solidFill>
          </a:ln>
        </p:spPr>
        <p:txBody>
          <a:bodyPr wrap="square" rtlCol="0">
            <a:spAutoFit/>
          </a:bodyPr>
          <a:lstStyle/>
          <a:p>
            <a:r>
              <a:rPr lang="en-US" b="1" dirty="0"/>
              <a:t>Prior</a:t>
            </a:r>
            <a:r>
              <a:rPr lang="en-US" dirty="0"/>
              <a:t> probability of the hypothesis</a:t>
            </a:r>
            <a:endParaRPr lang="en-US" b="1" dirty="0"/>
          </a:p>
        </p:txBody>
      </p:sp>
      <p:pic>
        <p:nvPicPr>
          <p:cNvPr id="7" name="Picture 6"/>
          <p:cNvPicPr>
            <a:picLocks noChangeAspect="1"/>
          </p:cNvPicPr>
          <p:nvPr/>
        </p:nvPicPr>
        <p:blipFill>
          <a:blip r:embed="rId4"/>
          <a:stretch>
            <a:fillRect/>
          </a:stretch>
        </p:blipFill>
        <p:spPr>
          <a:xfrm>
            <a:off x="0" y="0"/>
            <a:ext cx="9137588" cy="6858000"/>
          </a:xfrm>
          <a:prstGeom prst="rect">
            <a:avLst/>
          </a:prstGeom>
        </p:spPr>
      </p:pic>
    </p:spTree>
    <p:extLst>
      <p:ext uri="{BB962C8B-B14F-4D97-AF65-F5344CB8AC3E}">
        <p14:creationId xmlns:p14="http://schemas.microsoft.com/office/powerpoint/2010/main" val="3414740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Probability and Bayes’ rule</a:t>
            </a:r>
          </a:p>
        </p:txBody>
      </p:sp>
      <p:sp>
        <p:nvSpPr>
          <p:cNvPr id="3" name="Content Placeholder 2"/>
          <p:cNvSpPr>
            <a:spLocks noGrp="1"/>
          </p:cNvSpPr>
          <p:nvPr>
            <p:ph idx="1"/>
          </p:nvPr>
        </p:nvSpPr>
        <p:spPr/>
        <p:txBody>
          <a:bodyPr/>
          <a:lstStyle/>
          <a:p>
            <a:endParaRPr lang="en-US" dirty="0"/>
          </a:p>
          <a:p>
            <a:endParaRPr lang="en-US" dirty="0"/>
          </a:p>
          <a:p>
            <a:endParaRPr lang="en-US" dirty="0"/>
          </a:p>
          <a:p>
            <a:pPr marL="0" indent="0">
              <a:buNone/>
            </a:pPr>
            <a:r>
              <a:rPr lang="en-US" i="1" dirty="0"/>
              <a:t>A = the model hypothesis, H</a:t>
            </a:r>
          </a:p>
          <a:p>
            <a:pPr marL="0" indent="0">
              <a:buNone/>
            </a:pPr>
            <a:r>
              <a:rPr lang="en-US" i="1" dirty="0"/>
              <a:t>B = the data</a:t>
            </a:r>
          </a:p>
          <a:p>
            <a:pPr marL="0" indent="0">
              <a:buNone/>
            </a:pPr>
            <a:endParaRPr lang="en-US" dirty="0"/>
          </a:p>
        </p:txBody>
      </p:sp>
      <p:pic>
        <p:nvPicPr>
          <p:cNvPr id="4" name="Picture 3" descr="Screen Shot 2017-11-06 at 4.24.3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121655"/>
            <a:ext cx="3873500" cy="1384300"/>
          </a:xfrm>
          <a:prstGeom prst="rect">
            <a:avLst/>
          </a:prstGeom>
        </p:spPr>
      </p:pic>
      <p:pic>
        <p:nvPicPr>
          <p:cNvPr id="7" name="Picture 6" descr="Screen Shot 2017-11-06 at 4.25.5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4589659"/>
            <a:ext cx="4025900" cy="596900"/>
          </a:xfrm>
          <a:prstGeom prst="rect">
            <a:avLst/>
          </a:prstGeom>
        </p:spPr>
      </p:pic>
      <p:pic>
        <p:nvPicPr>
          <p:cNvPr id="9" name="Picture 8"/>
          <p:cNvPicPr>
            <a:picLocks noChangeAspect="1"/>
          </p:cNvPicPr>
          <p:nvPr/>
        </p:nvPicPr>
        <p:blipFill>
          <a:blip r:embed="rId4"/>
          <a:stretch>
            <a:fillRect/>
          </a:stretch>
        </p:blipFill>
        <p:spPr>
          <a:xfrm>
            <a:off x="0" y="0"/>
            <a:ext cx="9137588" cy="6858000"/>
          </a:xfrm>
          <a:prstGeom prst="rect">
            <a:avLst/>
          </a:prstGeom>
        </p:spPr>
      </p:pic>
    </p:spTree>
    <p:extLst>
      <p:ext uri="{BB962C8B-B14F-4D97-AF65-F5344CB8AC3E}">
        <p14:creationId xmlns:p14="http://schemas.microsoft.com/office/powerpoint/2010/main" val="3450036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Bayesian estimation</a:t>
            </a:r>
          </a:p>
        </p:txBody>
      </p:sp>
      <p:sp>
        <p:nvSpPr>
          <p:cNvPr id="3" name="Content Placeholder 2"/>
          <p:cNvSpPr>
            <a:spLocks noGrp="1"/>
          </p:cNvSpPr>
          <p:nvPr>
            <p:ph idx="1"/>
          </p:nvPr>
        </p:nvSpPr>
        <p:spPr/>
        <p:txBody>
          <a:bodyPr>
            <a:normAutofit lnSpcReduction="10000"/>
          </a:bodyPr>
          <a:lstStyle/>
          <a:p>
            <a:r>
              <a:rPr lang="en-US" dirty="0"/>
              <a:t>Goal of estimation is to calculate the posterior distribution based on the likelihood function and the prior distribution.</a:t>
            </a:r>
          </a:p>
          <a:p>
            <a:r>
              <a:rPr lang="en-US" dirty="0"/>
              <a:t>If the likelihood and priors are </a:t>
            </a:r>
            <a:r>
              <a:rPr lang="en-US" b="1" i="1" dirty="0"/>
              <a:t>conjugate</a:t>
            </a:r>
            <a:r>
              <a:rPr lang="en-US" dirty="0"/>
              <a:t>, then the posterior is simple to calculate.</a:t>
            </a:r>
            <a:br>
              <a:rPr lang="en-US" dirty="0"/>
            </a:br>
            <a:r>
              <a:rPr lang="en-US" dirty="0"/>
              <a:t>(the product of the likelihood and prior is the same distribution as the posterior)</a:t>
            </a:r>
          </a:p>
          <a:p>
            <a:r>
              <a:rPr lang="en-US" dirty="0"/>
              <a:t>Often this is not the case, and we need to use numerical methods to sample from the posterior and deal with the integral on the denominator.</a:t>
            </a:r>
          </a:p>
        </p:txBody>
      </p:sp>
    </p:spTree>
    <p:extLst>
      <p:ext uri="{BB962C8B-B14F-4D97-AF65-F5344CB8AC3E}">
        <p14:creationId xmlns:p14="http://schemas.microsoft.com/office/powerpoint/2010/main" val="4012955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Like a Bayesian (Priors for the very first time)</a:t>
            </a:r>
          </a:p>
        </p:txBody>
      </p:sp>
      <p:sp>
        <p:nvSpPr>
          <p:cNvPr id="3" name="Content Placeholder 2"/>
          <p:cNvSpPr>
            <a:spLocks noGrp="1"/>
          </p:cNvSpPr>
          <p:nvPr>
            <p:ph idx="1"/>
          </p:nvPr>
        </p:nvSpPr>
        <p:spPr>
          <a:xfrm>
            <a:off x="457200" y="1051870"/>
            <a:ext cx="8686800" cy="5588417"/>
          </a:xfrm>
        </p:spPr>
        <p:txBody>
          <a:bodyPr>
            <a:normAutofit/>
          </a:bodyPr>
          <a:lstStyle/>
          <a:p>
            <a:r>
              <a:rPr lang="en-US" dirty="0"/>
              <a:t>We roll a standard die under a box.</a:t>
            </a:r>
          </a:p>
          <a:p>
            <a:r>
              <a:rPr lang="en-US" dirty="0"/>
              <a:t>We lift the box a little and a random corner of the upper side of the die becomes visible, it contains a dot.</a:t>
            </a:r>
          </a:p>
          <a:p>
            <a:r>
              <a:rPr lang="en-US" dirty="0"/>
              <a:t>What is the probability</a:t>
            </a:r>
            <a:br>
              <a:rPr lang="en-US" dirty="0"/>
            </a:br>
            <a:r>
              <a:rPr lang="en-US" dirty="0"/>
              <a:t>we rolled a six?</a:t>
            </a:r>
          </a:p>
        </p:txBody>
      </p:sp>
      <p:pic>
        <p:nvPicPr>
          <p:cNvPr id="163842" name="Picture 2" descr="http://2.bp.blogspot.com/-ogrmWz9IZfQ/TihuGwQJ4lI/AAAAAAAAABQ/dWFNpmUNNPU/s1600/di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4858" y="872282"/>
            <a:ext cx="818857" cy="818857"/>
          </a:xfrm>
          <a:prstGeom prst="rect">
            <a:avLst/>
          </a:prstGeom>
          <a:noFill/>
          <a:extLst>
            <a:ext uri="{909E8E84-426E-40dd-AFC4-6F175D3DCCD1}">
              <a14:hiddenFill xmlns:a14="http://schemas.microsoft.com/office/drawing/2010/main" xmlns="">
                <a:solidFill>
                  <a:srgbClr val="FFFFFF"/>
                </a:solidFill>
              </a14:hiddenFill>
            </a:ext>
          </a:extLst>
        </p:spPr>
      </p:pic>
      <p:pic>
        <p:nvPicPr>
          <p:cNvPr id="163844" name="Picture 4" descr="http://3.bp.blogspot.com/-JlSB2a9o8QE/VL3foBFxsrI/AAAAAAAAIWU/GJnMn1Pai7s/s1600/dice-0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7649" y="3357317"/>
            <a:ext cx="914400" cy="91440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rot="2477270">
            <a:off x="6400800" y="3062797"/>
            <a:ext cx="1270562" cy="10653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descr="Screen Shot 2017-11-06 at 4.28.11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414886"/>
            <a:ext cx="9144000" cy="2286000"/>
          </a:xfrm>
          <a:prstGeom prst="rect">
            <a:avLst/>
          </a:prstGeom>
        </p:spPr>
      </p:pic>
      <p:sp>
        <p:nvSpPr>
          <p:cNvPr id="6" name="Rectangle 5"/>
          <p:cNvSpPr/>
          <p:nvPr/>
        </p:nvSpPr>
        <p:spPr>
          <a:xfrm>
            <a:off x="-167460" y="5289609"/>
            <a:ext cx="9311460" cy="101884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15060" y="6335257"/>
            <a:ext cx="9311460" cy="101884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243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Conjugate priors</a:t>
            </a:r>
          </a:p>
        </p:txBody>
      </p:sp>
      <p:sp>
        <p:nvSpPr>
          <p:cNvPr id="3" name="Content Placeholder 2"/>
          <p:cNvSpPr>
            <a:spLocks noGrp="1"/>
          </p:cNvSpPr>
          <p:nvPr>
            <p:ph idx="1"/>
          </p:nvPr>
        </p:nvSpPr>
        <p:spPr/>
        <p:txBody>
          <a:bodyPr/>
          <a:lstStyle/>
          <a:p>
            <a:r>
              <a:rPr lang="en-US" altLang="en-US" dirty="0">
                <a:sym typeface="Symbol" panose="05050102010706020507" pitchFamily="18" charset="2"/>
              </a:rPr>
              <a:t> is the proportion of people in England with genotype Z. We take a random sample of 2500 and find 50 with the genotype. </a:t>
            </a:r>
          </a:p>
          <a:p>
            <a:r>
              <a:rPr lang="en-US" altLang="en-US" dirty="0">
                <a:sym typeface="Symbol" panose="05050102010706020507" pitchFamily="18" charset="2"/>
              </a:rPr>
              <a:t>A previous study from the USA estimated  to have a mean 0.06 and </a:t>
            </a:r>
            <a:r>
              <a:rPr lang="en-US" altLang="en-US" dirty="0" err="1">
                <a:sym typeface="Symbol" panose="05050102010706020507" pitchFamily="18" charset="2"/>
              </a:rPr>
              <a:t>s.d</a:t>
            </a:r>
            <a:r>
              <a:rPr lang="en-US" altLang="en-US" dirty="0">
                <a:sym typeface="Symbol" panose="05050102010706020507" pitchFamily="18" charset="2"/>
              </a:rPr>
              <a:t> of 0.0106</a:t>
            </a:r>
            <a:br>
              <a:rPr lang="en-US" altLang="en-US" dirty="0">
                <a:sym typeface="Symbol" panose="05050102010706020507" pitchFamily="18" charset="2"/>
              </a:rPr>
            </a:br>
            <a:r>
              <a:rPr lang="en-US" altLang="en-US" dirty="0">
                <a:sym typeface="Symbol" panose="05050102010706020507" pitchFamily="18" charset="2"/>
              </a:rPr>
              <a:t>(i.e. P() is beta distribution with =30 and =470). </a:t>
            </a:r>
          </a:p>
          <a:p>
            <a:r>
              <a:rPr lang="en-US" altLang="en-US" dirty="0">
                <a:sym typeface="Symbol" panose="05050102010706020507" pitchFamily="18" charset="2"/>
              </a:rPr>
              <a:t>Calculate the posterior distribution, P(|data).</a:t>
            </a:r>
          </a:p>
          <a:p>
            <a:endParaRPr lang="en-US" dirty="0"/>
          </a:p>
        </p:txBody>
      </p:sp>
    </p:spTree>
    <p:extLst>
      <p:ext uri="{BB962C8B-B14F-4D97-AF65-F5344CB8AC3E}">
        <p14:creationId xmlns:p14="http://schemas.microsoft.com/office/powerpoint/2010/main" val="1343145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9137588" cy="6858000"/>
          </a:xfrm>
          <a:prstGeom prst="rect">
            <a:avLst/>
          </a:prstGeom>
        </p:spPr>
      </p:pic>
      <p:sp>
        <p:nvSpPr>
          <p:cNvPr id="6" name="Rectangle 5"/>
          <p:cNvSpPr/>
          <p:nvPr/>
        </p:nvSpPr>
        <p:spPr>
          <a:xfrm>
            <a:off x="0" y="2233080"/>
            <a:ext cx="9144000" cy="163294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12850" y="3767223"/>
            <a:ext cx="9144000" cy="163294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412" y="5225059"/>
            <a:ext cx="9144000" cy="163294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407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Conjugate priors</a:t>
            </a:r>
          </a:p>
        </p:txBody>
      </p:sp>
      <p:sp>
        <p:nvSpPr>
          <p:cNvPr id="3" name="Content Placeholder 2"/>
          <p:cNvSpPr>
            <a:spLocks noGrp="1"/>
          </p:cNvSpPr>
          <p:nvPr>
            <p:ph idx="1"/>
          </p:nvPr>
        </p:nvSpPr>
        <p:spPr>
          <a:xfrm>
            <a:off x="457200" y="4998128"/>
            <a:ext cx="8229600" cy="1859871"/>
          </a:xfrm>
        </p:spPr>
        <p:txBody>
          <a:bodyPr>
            <a:normAutofit fontScale="85000" lnSpcReduction="20000"/>
          </a:bodyPr>
          <a:lstStyle/>
          <a:p>
            <a:r>
              <a:rPr lang="en-US" dirty="0"/>
              <a:t>The prior has been updated by the data.</a:t>
            </a:r>
          </a:p>
          <a:p>
            <a:r>
              <a:rPr lang="en-US" altLang="en-US" dirty="0">
                <a:sym typeface="Symbol" panose="05050102010706020507" pitchFamily="18" charset="2"/>
              </a:rPr>
              <a:t>Conjugate priors / likelihoods are not available for many of the management-related problems we are interested in, and so we rely on numerical methods to approximate the posterior.</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014" y="782886"/>
            <a:ext cx="5191972" cy="4037689"/>
          </a:xfrm>
          <a:prstGeom prst="rect">
            <a:avLst/>
          </a:prstGeom>
        </p:spPr>
      </p:pic>
    </p:spTree>
    <p:extLst>
      <p:ext uri="{BB962C8B-B14F-4D97-AF65-F5344CB8AC3E}">
        <p14:creationId xmlns:p14="http://schemas.microsoft.com/office/powerpoint/2010/main" val="2718414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Assigning Probabilities to Models, Bayes Factors</a:t>
            </a:r>
          </a:p>
        </p:txBody>
      </p:sp>
      <p:sp>
        <p:nvSpPr>
          <p:cNvPr id="3" name="Content Placeholder 2"/>
          <p:cNvSpPr>
            <a:spLocks noGrp="1"/>
          </p:cNvSpPr>
          <p:nvPr>
            <p:ph idx="1"/>
          </p:nvPr>
        </p:nvSpPr>
        <p:spPr/>
        <p:txBody>
          <a:bodyPr>
            <a:normAutofit/>
          </a:bodyPr>
          <a:lstStyle/>
          <a:p>
            <a:r>
              <a:rPr lang="en-US" dirty="0"/>
              <a:t>To compare models A and B. </a:t>
            </a:r>
          </a:p>
          <a:p>
            <a:r>
              <a:rPr lang="en-US" dirty="0"/>
              <a:t>Calculate the Bayes factor, K:</a:t>
            </a:r>
          </a:p>
          <a:p>
            <a:endParaRPr lang="en-US" dirty="0"/>
          </a:p>
          <a:p>
            <a:endParaRPr lang="en-US" dirty="0"/>
          </a:p>
          <a:p>
            <a:r>
              <a:rPr lang="en-US" dirty="0"/>
              <a:t>The information to select among models depends on the ratio of the posterior to the prior odds.</a:t>
            </a:r>
          </a:p>
          <a:p>
            <a:endParaRPr lang="en-US" dirty="0"/>
          </a:p>
        </p:txBody>
      </p:sp>
      <p:pic>
        <p:nvPicPr>
          <p:cNvPr id="6" name="Picture 5" descr="Screen Shot 2015-11-16 at 11.58.38 PM.png"/>
          <p:cNvPicPr>
            <a:picLocks noChangeAspect="1"/>
          </p:cNvPicPr>
          <p:nvPr/>
        </p:nvPicPr>
        <p:blipFill rotWithShape="1">
          <a:blip r:embed="rId2">
            <a:extLst>
              <a:ext uri="{28A0092B-C50C-407E-A947-70E740481C1C}">
                <a14:useLocalDpi xmlns:a14="http://schemas.microsoft.com/office/drawing/2010/main" val="0"/>
              </a:ext>
            </a:extLst>
          </a:blip>
          <a:srcRect t="10029" b="-10029"/>
          <a:stretch/>
        </p:blipFill>
        <p:spPr>
          <a:xfrm>
            <a:off x="1511468" y="2388500"/>
            <a:ext cx="6034541" cy="989034"/>
          </a:xfrm>
          <a:prstGeom prst="rect">
            <a:avLst/>
          </a:prstGeom>
        </p:spPr>
      </p:pic>
      <p:pic>
        <p:nvPicPr>
          <p:cNvPr id="7" name="Picture 6" descr="Screen Shot 2015-11-17 at 12.00.57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0518" y="4567834"/>
            <a:ext cx="4445491" cy="2178512"/>
          </a:xfrm>
          <a:prstGeom prst="rect">
            <a:avLst/>
          </a:prstGeom>
        </p:spPr>
      </p:pic>
    </p:spTree>
    <p:extLst>
      <p:ext uri="{BB962C8B-B14F-4D97-AF65-F5344CB8AC3E}">
        <p14:creationId xmlns:p14="http://schemas.microsoft.com/office/powerpoint/2010/main" val="2907099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Assigning Probabilities to Models </a:t>
            </a:r>
            <a:r>
              <a:rPr lang="en-US" altLang="en-US" sz="3200" dirty="0"/>
              <a:t>(DIC)</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a:t>
            </a:r>
            <a:r>
              <a:rPr lang="en-US" dirty="0" err="1"/>
              <a:t>Spiegelhalter</a:t>
            </a:r>
            <a:r>
              <a:rPr lang="en-US" dirty="0"/>
              <a:t> et al. 2002]</a:t>
            </a:r>
          </a:p>
          <a:p>
            <a:r>
              <a:rPr lang="en-US" dirty="0"/>
              <a:t>DIC is a Bayesian analogue of AIC and is generally calculated using samples from the posterior distribution:</a:t>
            </a:r>
          </a:p>
          <a:p>
            <a:r>
              <a:rPr lang="en-US" dirty="0"/>
              <a:t>Where 					 is the ‘effective number of parameters’.</a:t>
            </a:r>
          </a:p>
          <a:p>
            <a:r>
              <a:rPr lang="en-US" i="1" dirty="0" err="1"/>
              <a:t>pD</a:t>
            </a:r>
            <a:r>
              <a:rPr lang="en-US" dirty="0"/>
              <a:t> may be much smaller than the actual number of parameters because of the impact of the priors. </a:t>
            </a:r>
          </a:p>
          <a:p>
            <a:r>
              <a:rPr lang="en-US" dirty="0"/>
              <a:t>The posterior mean may be an inappropriate measure.</a:t>
            </a:r>
          </a:p>
          <a:p>
            <a:endParaRPr lang="en-US" dirty="0"/>
          </a:p>
          <a:p>
            <a:endParaRPr lang="en-US" dirty="0"/>
          </a:p>
        </p:txBody>
      </p:sp>
      <p:pic>
        <p:nvPicPr>
          <p:cNvPr id="7" name="Picture 6" descr="Screen Shot 2015-11-17 at 12.04.0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7069" y="2472533"/>
            <a:ext cx="2828946" cy="546501"/>
          </a:xfrm>
          <a:prstGeom prst="rect">
            <a:avLst/>
          </a:prstGeom>
        </p:spPr>
      </p:pic>
      <p:pic>
        <p:nvPicPr>
          <p:cNvPr id="8" name="Picture 7" descr="Screen Shot 2015-11-17 at 12.04.11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322" y="2989575"/>
            <a:ext cx="2042307" cy="487715"/>
          </a:xfrm>
          <a:prstGeom prst="rect">
            <a:avLst/>
          </a:prstGeom>
        </p:spPr>
      </p:pic>
    </p:spTree>
    <p:extLst>
      <p:ext uri="{BB962C8B-B14F-4D97-AF65-F5344CB8AC3E}">
        <p14:creationId xmlns:p14="http://schemas.microsoft.com/office/powerpoint/2010/main" val="4244024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Assigning Probabilities (Alternative approaches)</a:t>
            </a:r>
          </a:p>
        </p:txBody>
      </p:sp>
      <p:sp>
        <p:nvSpPr>
          <p:cNvPr id="3" name="Content Placeholder 2"/>
          <p:cNvSpPr>
            <a:spLocks noGrp="1"/>
          </p:cNvSpPr>
          <p:nvPr>
            <p:ph idx="1"/>
          </p:nvPr>
        </p:nvSpPr>
        <p:spPr/>
        <p:txBody>
          <a:bodyPr>
            <a:normAutofit fontScale="77500" lnSpcReduction="20000"/>
          </a:bodyPr>
          <a:lstStyle/>
          <a:p>
            <a:r>
              <a:rPr lang="en-US" dirty="0"/>
              <a:t>Alternatives / </a:t>
            </a:r>
            <a:r>
              <a:rPr lang="en-US" dirty="0" err="1"/>
              <a:t>frequentist</a:t>
            </a:r>
            <a:r>
              <a:rPr lang="en-US" dirty="0"/>
              <a:t> methods:</a:t>
            </a:r>
          </a:p>
          <a:p>
            <a:r>
              <a:rPr lang="en-US" dirty="0"/>
              <a:t>The 95% confidence interval for a regression slope does not claim there is a 95% probability that the slope is in that range; rather only that if the experiment was repeated many times, 95% of the times the estimated slope would be in that range.</a:t>
            </a:r>
          </a:p>
          <a:p>
            <a:r>
              <a:rPr lang="en-US" dirty="0"/>
              <a:t>Bootstrapping: </a:t>
            </a:r>
          </a:p>
          <a:p>
            <a:pPr lvl="1"/>
            <a:r>
              <a:rPr lang="en-US" dirty="0"/>
              <a:t>easy to do (except for convergence to local minima);</a:t>
            </a:r>
          </a:p>
          <a:p>
            <a:pPr lvl="1"/>
            <a:r>
              <a:rPr lang="en-US" dirty="0"/>
              <a:t>doesn’t provide the probability of alternative hypotheses; </a:t>
            </a:r>
          </a:p>
          <a:p>
            <a:pPr lvl="1"/>
            <a:r>
              <a:rPr lang="en-US" dirty="0"/>
              <a:t>no way to formally incorporate priors / auxiliary information (see Poole et al. 1999); and</a:t>
            </a:r>
          </a:p>
          <a:p>
            <a:pPr lvl="1"/>
            <a:r>
              <a:rPr lang="en-US" dirty="0"/>
              <a:t>no way to assign probabilities to models.</a:t>
            </a:r>
          </a:p>
          <a:p>
            <a:r>
              <a:rPr lang="en-US" dirty="0"/>
              <a:t>Likelihood profile:</a:t>
            </a:r>
          </a:p>
          <a:p>
            <a:pPr lvl="1"/>
            <a:r>
              <a:rPr lang="en-US" dirty="0"/>
              <a:t>very computationally intensive and does not (without considerable effort and careful wording) provide the input needed to conduct projections.</a:t>
            </a:r>
          </a:p>
          <a:p>
            <a:endParaRPr lang="en-US" dirty="0"/>
          </a:p>
        </p:txBody>
      </p:sp>
    </p:spTree>
    <p:extLst>
      <p:ext uri="{BB962C8B-B14F-4D97-AF65-F5344CB8AC3E}">
        <p14:creationId xmlns:p14="http://schemas.microsoft.com/office/powerpoint/2010/main" val="1012088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Priors</a:t>
            </a:r>
          </a:p>
        </p:txBody>
      </p:sp>
      <p:sp>
        <p:nvSpPr>
          <p:cNvPr id="3" name="Content Placeholder 2"/>
          <p:cNvSpPr>
            <a:spLocks noGrp="1"/>
          </p:cNvSpPr>
          <p:nvPr>
            <p:ph idx="1"/>
          </p:nvPr>
        </p:nvSpPr>
        <p:spPr/>
        <p:txBody>
          <a:bodyPr>
            <a:normAutofit lnSpcReduction="10000"/>
          </a:bodyPr>
          <a:lstStyle/>
          <a:p>
            <a:r>
              <a:rPr lang="en-US" dirty="0"/>
              <a:t>Negatives:</a:t>
            </a:r>
          </a:p>
          <a:p>
            <a:pPr lvl="1"/>
            <a:r>
              <a:rPr lang="en-US" dirty="0"/>
              <a:t>Subjective and potentially influential. </a:t>
            </a:r>
          </a:p>
          <a:p>
            <a:pPr lvl="1"/>
            <a:r>
              <a:rPr lang="en-US" dirty="0"/>
              <a:t>Priors are often selected to be “non informative”, but no prior is really non-informative.</a:t>
            </a:r>
          </a:p>
          <a:p>
            <a:r>
              <a:rPr lang="en-US" dirty="0"/>
              <a:t>Positives:</a:t>
            </a:r>
          </a:p>
          <a:p>
            <a:pPr lvl="1"/>
            <a:r>
              <a:rPr lang="en-US" dirty="0"/>
              <a:t>Without them, we cannot calculate the probability of alternative hypotheses!</a:t>
            </a:r>
          </a:p>
          <a:p>
            <a:pPr lvl="1"/>
            <a:r>
              <a:rPr lang="en-US" dirty="0"/>
              <a:t>Increasingly, priors are being based on the results of meta-analysis (“standing on the shoulders of giants”). </a:t>
            </a:r>
          </a:p>
          <a:p>
            <a:pPr lvl="1"/>
            <a:r>
              <a:rPr lang="en-US" dirty="0"/>
              <a:t>Always examine the sensitivity of the results to the subjective priors – this is often minimal.</a:t>
            </a:r>
          </a:p>
          <a:p>
            <a:endParaRPr lang="en-US" dirty="0"/>
          </a:p>
        </p:txBody>
      </p:sp>
    </p:spTree>
    <p:extLst>
      <p:ext uri="{BB962C8B-B14F-4D97-AF65-F5344CB8AC3E}">
        <p14:creationId xmlns:p14="http://schemas.microsoft.com/office/powerpoint/2010/main" val="845915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Numerical methods for Bayesian inference</a:t>
            </a:r>
          </a:p>
        </p:txBody>
      </p:sp>
      <p:sp>
        <p:nvSpPr>
          <p:cNvPr id="3" name="Content Placeholder 2"/>
          <p:cNvSpPr>
            <a:spLocks noGrp="1"/>
          </p:cNvSpPr>
          <p:nvPr>
            <p:ph idx="1"/>
          </p:nvPr>
        </p:nvSpPr>
        <p:spPr/>
        <p:txBody>
          <a:bodyPr>
            <a:normAutofit fontScale="85000" lnSpcReduction="20000"/>
          </a:bodyPr>
          <a:lstStyle/>
          <a:p>
            <a:r>
              <a:rPr lang="en-US" dirty="0"/>
              <a:t>There are many computer-intensive Monte Carlo procedures for obtaining samples from the posterior distribution.</a:t>
            </a:r>
          </a:p>
          <a:p>
            <a:r>
              <a:rPr lang="en-US" dirty="0"/>
              <a:t>Obtaining samples from the posterior is useful because:</a:t>
            </a:r>
          </a:p>
          <a:p>
            <a:pPr lvl="1"/>
            <a:r>
              <a:rPr lang="en-US" dirty="0"/>
              <a:t>it is necessary to have vectors of parameters to conduct forward projections / make predictions; and</a:t>
            </a:r>
          </a:p>
          <a:p>
            <a:pPr lvl="1"/>
            <a:r>
              <a:rPr lang="en-US" dirty="0"/>
              <a:t>given samples from the posterior, it is straightforward to calculate marginal posterior distributions for any quantity of interest.</a:t>
            </a:r>
          </a:p>
          <a:p>
            <a:r>
              <a:rPr lang="en-US" dirty="0"/>
              <a:t>The most common family of methods are Markov Chain Monte Carlo (MCMC), of which there are many flavors/algorithms.</a:t>
            </a:r>
          </a:p>
          <a:p>
            <a:r>
              <a:rPr lang="en-US" dirty="0"/>
              <a:t>Also: Importance Sampling, including: Sampling-Importance-Resampling (SIR).</a:t>
            </a:r>
            <a:br>
              <a:rPr lang="en-US" dirty="0"/>
            </a:br>
            <a:r>
              <a:rPr lang="en-US" dirty="0"/>
              <a:t>Sequential Importance Sampling</a:t>
            </a:r>
          </a:p>
        </p:txBody>
      </p:sp>
    </p:spTree>
    <p:extLst>
      <p:ext uri="{BB962C8B-B14F-4D97-AF65-F5344CB8AC3E}">
        <p14:creationId xmlns:p14="http://schemas.microsoft.com/office/powerpoint/2010/main" val="1393625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Markov Chain Monte Carlo (MCMC)</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[Metropolis et al. (1953), Hastings (1970), </a:t>
            </a:r>
            <a:r>
              <a:rPr lang="en-US" dirty="0" err="1"/>
              <a:t>Gilks</a:t>
            </a:r>
            <a:r>
              <a:rPr lang="en-US" dirty="0"/>
              <a:t> et al. (1996), Brooks et al. (2011)]</a:t>
            </a:r>
          </a:p>
          <a:p>
            <a:r>
              <a:rPr lang="en-US" dirty="0"/>
              <a:t>General idea is to generate samples from a Markov chain which has a limiting distribution equal to the desired (posterior) distribution.</a:t>
            </a:r>
          </a:p>
          <a:p>
            <a:r>
              <a:rPr lang="en-US" dirty="0"/>
              <a:t>Set up a (long) “chain” which starts at a pre-specified parameter vector and then traverses the posterior distribution:</a:t>
            </a:r>
          </a:p>
          <a:p>
            <a:r>
              <a:rPr lang="en-US" dirty="0"/>
              <a:t>a sequence of parameter vectors,              , which converges to the posterior distribution              .</a:t>
            </a:r>
          </a:p>
          <a:p>
            <a:r>
              <a:rPr lang="en-US" dirty="0"/>
              <a:t>The sample from the posterior distribution is then every </a:t>
            </a:r>
            <a:r>
              <a:rPr lang="en-US" dirty="0" err="1"/>
              <a:t>n’th</a:t>
            </a:r>
            <a:r>
              <a:rPr lang="en-US" dirty="0"/>
              <a:t> element in the chain (ignoring the first “few” elements of the chain).</a:t>
            </a:r>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116885156"/>
              </p:ext>
            </p:extLst>
          </p:nvPr>
        </p:nvGraphicFramePr>
        <p:xfrm>
          <a:off x="6090984" y="4203961"/>
          <a:ext cx="1215059" cy="516400"/>
        </p:xfrm>
        <a:graphic>
          <a:graphicData uri="http://schemas.openxmlformats.org/presentationml/2006/ole">
            <mc:AlternateContent xmlns:mc="http://schemas.openxmlformats.org/markup-compatibility/2006">
              <mc:Choice xmlns:v="urn:schemas-microsoft-com:vml" Requires="v">
                <p:oleObj name="Equation" r:id="rId2" imgW="508000" imgH="215900" progId="Equation.3">
                  <p:embed/>
                </p:oleObj>
              </mc:Choice>
              <mc:Fallback>
                <p:oleObj name="Equation" r:id="rId2" imgW="508000" imgH="215900" progId="Equation.3">
                  <p:embed/>
                  <p:pic>
                    <p:nvPicPr>
                      <p:cNvPr id="0" name=""/>
                      <p:cNvPicPr/>
                      <p:nvPr/>
                    </p:nvPicPr>
                    <p:blipFill>
                      <a:blip r:embed="rId3"/>
                      <a:stretch>
                        <a:fillRect/>
                      </a:stretch>
                    </p:blipFill>
                    <p:spPr>
                      <a:xfrm>
                        <a:off x="6090984" y="4203961"/>
                        <a:ext cx="1215059" cy="5164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660049552"/>
              </p:ext>
            </p:extLst>
          </p:nvPr>
        </p:nvGraphicFramePr>
        <p:xfrm>
          <a:off x="6807684" y="4647597"/>
          <a:ext cx="1274762" cy="484188"/>
        </p:xfrm>
        <a:graphic>
          <a:graphicData uri="http://schemas.openxmlformats.org/presentationml/2006/ole">
            <mc:AlternateContent xmlns:mc="http://schemas.openxmlformats.org/markup-compatibility/2006">
              <mc:Choice xmlns:v="urn:schemas-microsoft-com:vml" Requires="v">
                <p:oleObj name="Equation" r:id="rId4" imgW="533400" imgH="203200" progId="Equation.3">
                  <p:embed/>
                </p:oleObj>
              </mc:Choice>
              <mc:Fallback>
                <p:oleObj name="Equation" r:id="rId4" imgW="533400" imgH="203200" progId="Equation.3">
                  <p:embed/>
                  <p:pic>
                    <p:nvPicPr>
                      <p:cNvPr id="0" name=""/>
                      <p:cNvPicPr/>
                      <p:nvPr/>
                    </p:nvPicPr>
                    <p:blipFill>
                      <a:blip r:embed="rId5"/>
                      <a:stretch>
                        <a:fillRect/>
                      </a:stretch>
                    </p:blipFill>
                    <p:spPr>
                      <a:xfrm>
                        <a:off x="6807684" y="4647597"/>
                        <a:ext cx="1274762" cy="484188"/>
                      </a:xfrm>
                      <a:prstGeom prst="rect">
                        <a:avLst/>
                      </a:prstGeom>
                    </p:spPr>
                  </p:pic>
                </p:oleObj>
              </mc:Fallback>
            </mc:AlternateContent>
          </a:graphicData>
        </a:graphic>
      </p:graphicFrame>
    </p:spTree>
    <p:extLst>
      <p:ext uri="{BB962C8B-B14F-4D97-AF65-F5344CB8AC3E}">
        <p14:creationId xmlns:p14="http://schemas.microsoft.com/office/powerpoint/2010/main" val="2235795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5"/>
          <p:cNvPicPr>
            <a:picLocks noChangeAspect="1" noChangeArrowheads="1"/>
          </p:cNvPicPr>
          <p:nvPr/>
        </p:nvPicPr>
        <p:blipFill>
          <a:blip r:embed="rId3">
            <a:extLst>
              <a:ext uri="{28A0092B-C50C-407E-A947-70E740481C1C}">
                <a14:useLocalDpi xmlns:a14="http://schemas.microsoft.com/office/drawing/2010/main" val="0"/>
              </a:ext>
            </a:extLst>
          </a:blip>
          <a:srcRect t="19440"/>
          <a:stretch>
            <a:fillRect/>
          </a:stretch>
        </p:blipFill>
        <p:spPr bwMode="auto">
          <a:xfrm>
            <a:off x="609600" y="2014538"/>
            <a:ext cx="6553200" cy="52720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8195" name="Object 8"/>
          <p:cNvGraphicFramePr>
            <a:graphicFrameLocks noGrp="1" noChangeAspect="1"/>
          </p:cNvGraphicFramePr>
          <p:nvPr>
            <p:ph sz="half" idx="4294967295"/>
          </p:nvPr>
        </p:nvGraphicFramePr>
        <p:xfrm>
          <a:off x="2590800" y="762000"/>
          <a:ext cx="4662488" cy="868363"/>
        </p:xfrm>
        <a:graphic>
          <a:graphicData uri="http://schemas.openxmlformats.org/presentationml/2006/ole">
            <mc:AlternateContent xmlns:mc="http://schemas.openxmlformats.org/markup-compatibility/2006">
              <mc:Choice xmlns:v="urn:schemas-microsoft-com:vml" Requires="v">
                <p:oleObj name="Equation" r:id="rId4" imgW="2590800" imgH="482600" progId="Equation.DSMT4">
                  <p:embed/>
                </p:oleObj>
              </mc:Choice>
              <mc:Fallback>
                <p:oleObj name="Equation" r:id="rId4" imgW="2590800" imgH="482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762000"/>
                        <a:ext cx="4662488" cy="8683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8196" name="Text Box 11"/>
          <p:cNvSpPr txBox="1">
            <a:spLocks noChangeArrowheads="1"/>
          </p:cNvSpPr>
          <p:nvPr/>
        </p:nvSpPr>
        <p:spPr bwMode="auto">
          <a:xfrm>
            <a:off x="1981200" y="2971800"/>
            <a:ext cx="183515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Starting vector</a:t>
            </a:r>
          </a:p>
        </p:txBody>
      </p:sp>
      <p:sp>
        <p:nvSpPr>
          <p:cNvPr id="8197" name="Line 12"/>
          <p:cNvSpPr>
            <a:spLocks noChangeShapeType="1"/>
          </p:cNvSpPr>
          <p:nvPr/>
        </p:nvSpPr>
        <p:spPr bwMode="auto">
          <a:xfrm>
            <a:off x="2514600" y="3352800"/>
            <a:ext cx="228600" cy="10668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a:p>
        </p:txBody>
      </p:sp>
      <p:sp>
        <p:nvSpPr>
          <p:cNvPr id="8198" name="Text Box 13"/>
          <p:cNvSpPr txBox="1">
            <a:spLocks noChangeArrowheads="1"/>
          </p:cNvSpPr>
          <p:nvPr/>
        </p:nvSpPr>
        <p:spPr bwMode="auto">
          <a:xfrm>
            <a:off x="5105400" y="6248400"/>
            <a:ext cx="210661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t>First “few” points</a:t>
            </a:r>
          </a:p>
        </p:txBody>
      </p:sp>
      <p:sp>
        <p:nvSpPr>
          <p:cNvPr id="8199" name="Line 14"/>
          <p:cNvSpPr>
            <a:spLocks noChangeShapeType="1"/>
          </p:cNvSpPr>
          <p:nvPr/>
        </p:nvSpPr>
        <p:spPr bwMode="auto">
          <a:xfrm flipH="1" flipV="1">
            <a:off x="4343400" y="5410200"/>
            <a:ext cx="1524000" cy="9144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595467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MCMC algorithm overview</a:t>
            </a:r>
          </a:p>
        </p:txBody>
      </p:sp>
      <p:sp>
        <p:nvSpPr>
          <p:cNvPr id="3" name="Content Placeholder 2"/>
          <p:cNvSpPr>
            <a:spLocks noGrp="1"/>
          </p:cNvSpPr>
          <p:nvPr>
            <p:ph idx="1"/>
          </p:nvPr>
        </p:nvSpPr>
        <p:spPr/>
        <p:txBody>
          <a:bodyPr>
            <a:normAutofit fontScale="70000" lnSpcReduction="20000"/>
          </a:bodyPr>
          <a:lstStyle/>
          <a:p>
            <a:pPr marL="514350" indent="-514350">
              <a:buFont typeface="+mj-lt"/>
              <a:buAutoNum type="arabicPeriod"/>
            </a:pPr>
            <a:r>
              <a:rPr lang="en-US" dirty="0"/>
              <a:t>Select an “initial” parameter vector (often the mode of the posterior) and compute its posterior density (the product of the likelihood and the prior).</a:t>
            </a:r>
          </a:p>
          <a:p>
            <a:pPr marL="514350" indent="-514350">
              <a:buFont typeface="+mj-lt"/>
              <a:buAutoNum type="arabicPeriod"/>
            </a:pPr>
            <a:r>
              <a:rPr lang="en-US" dirty="0"/>
              <a:t>Generate a “new” parameter vector based on the current one using a proposal function (‘jump’ function) and compute its posterior density.</a:t>
            </a:r>
          </a:p>
          <a:p>
            <a:pPr marL="514350" indent="-514350">
              <a:buFont typeface="+mj-lt"/>
              <a:buAutoNum type="arabicPeriod"/>
            </a:pPr>
            <a:r>
              <a:rPr lang="en-US" dirty="0"/>
              <a:t>Replace the current parameter vector by the new parameter vector:</a:t>
            </a:r>
          </a:p>
          <a:p>
            <a:pPr marL="795338" indent="-279400">
              <a:tabLst>
                <a:tab pos="976313" algn="l"/>
              </a:tabLst>
            </a:pPr>
            <a:r>
              <a:rPr lang="en-US" dirty="0"/>
              <a:t>if the posterior density of the new parameter vector is larger than that of the current parameter vector; or</a:t>
            </a:r>
          </a:p>
          <a:p>
            <a:pPr marL="795338" indent="-279400">
              <a:tabLst>
                <a:tab pos="976313" algn="l"/>
              </a:tabLst>
            </a:pPr>
            <a:r>
              <a:rPr lang="en-US" dirty="0"/>
              <a:t>with probability equal to the ratio of the new to the current posterior density if the posterior density of the new parameter vector is less than that of the current parameter vector.</a:t>
            </a:r>
          </a:p>
          <a:p>
            <a:pPr marL="514350" indent="-514350">
              <a:buFont typeface="+mj-lt"/>
              <a:buAutoNum type="arabicPeriod" startAt="4"/>
            </a:pPr>
            <a:r>
              <a:rPr lang="en-US" dirty="0"/>
              <a:t>Output the current parameter vector.</a:t>
            </a:r>
          </a:p>
          <a:p>
            <a:pPr marL="514350" indent="-514350">
              <a:buFont typeface="+mj-lt"/>
              <a:buAutoNum type="arabicPeriod" startAt="4"/>
            </a:pPr>
            <a:r>
              <a:rPr lang="en-US" dirty="0"/>
              <a:t>Repeat steps 2)- 4) many times!</a:t>
            </a:r>
          </a:p>
          <a:p>
            <a:pPr marL="0" indent="0">
              <a:buNone/>
            </a:pPr>
            <a:endParaRPr lang="en-US" dirty="0"/>
          </a:p>
          <a:p>
            <a:pPr marL="0" indent="0">
              <a:buNone/>
            </a:pPr>
            <a:r>
              <a:rPr lang="en-US" dirty="0"/>
              <a:t>Steps 2-4 are referred to as a cycle.</a:t>
            </a:r>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4001867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MCMC algorithm</a:t>
            </a:r>
          </a:p>
        </p:txBody>
      </p:sp>
      <p:pic>
        <p:nvPicPr>
          <p:cNvPr id="5" name="Picture 4"/>
          <p:cNvPicPr>
            <a:picLocks noChangeAspect="1"/>
          </p:cNvPicPr>
          <p:nvPr/>
        </p:nvPicPr>
        <p:blipFill>
          <a:blip r:embed="rId2"/>
          <a:stretch>
            <a:fillRect/>
          </a:stretch>
        </p:blipFill>
        <p:spPr>
          <a:xfrm>
            <a:off x="-560559" y="921144"/>
            <a:ext cx="8802278" cy="6858000"/>
          </a:xfrm>
          <a:prstGeom prst="rect">
            <a:avLst/>
          </a:prstGeom>
        </p:spPr>
      </p:pic>
      <p:cxnSp>
        <p:nvCxnSpPr>
          <p:cNvPr id="9" name="Straight Arrow Connector 8"/>
          <p:cNvCxnSpPr/>
          <p:nvPr/>
        </p:nvCxnSpPr>
        <p:spPr>
          <a:xfrm flipV="1">
            <a:off x="3321285" y="5638529"/>
            <a:ext cx="195370" cy="4326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p:nvPicPr>
        <p:blipFill>
          <a:blip r:embed="rId3"/>
          <a:stretch>
            <a:fillRect/>
          </a:stretch>
        </p:blipFill>
        <p:spPr>
          <a:xfrm>
            <a:off x="-560559" y="907187"/>
            <a:ext cx="8802278" cy="6858000"/>
          </a:xfrm>
          <a:prstGeom prst="rect">
            <a:avLst/>
          </a:prstGeom>
        </p:spPr>
      </p:pic>
      <p:cxnSp>
        <p:nvCxnSpPr>
          <p:cNvPr id="11" name="Straight Arrow Connector 10"/>
          <p:cNvCxnSpPr/>
          <p:nvPr/>
        </p:nvCxnSpPr>
        <p:spPr>
          <a:xfrm>
            <a:off x="3572475" y="5624572"/>
            <a:ext cx="125594" cy="2093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V="1">
            <a:off x="3279420" y="5526875"/>
            <a:ext cx="251190" cy="669924"/>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26300" y="1172367"/>
            <a:ext cx="1960500" cy="2862323"/>
          </a:xfrm>
          <a:prstGeom prst="rect">
            <a:avLst/>
          </a:prstGeom>
          <a:noFill/>
        </p:spPr>
        <p:txBody>
          <a:bodyPr wrap="square" rtlCol="0">
            <a:spAutoFit/>
          </a:bodyPr>
          <a:lstStyle/>
          <a:p>
            <a:r>
              <a:rPr lang="en-US" dirty="0"/>
              <a:t> α = 8.1</a:t>
            </a:r>
          </a:p>
          <a:p>
            <a:endParaRPr lang="en-US" dirty="0"/>
          </a:p>
          <a:p>
            <a:r>
              <a:rPr lang="en-US" dirty="0"/>
              <a:t>Accept the move.</a:t>
            </a:r>
          </a:p>
          <a:p>
            <a:endParaRPr lang="en-US" dirty="0"/>
          </a:p>
          <a:p>
            <a:r>
              <a:rPr lang="en-US" dirty="0"/>
              <a:t> α = 0.32</a:t>
            </a:r>
          </a:p>
          <a:p>
            <a:endParaRPr lang="en-US" dirty="0"/>
          </a:p>
          <a:p>
            <a:r>
              <a:rPr lang="en-US" dirty="0"/>
              <a:t>Accept the move with probability 0.32.</a:t>
            </a:r>
          </a:p>
          <a:p>
            <a:endParaRPr lang="en-US" dirty="0"/>
          </a:p>
        </p:txBody>
      </p:sp>
    </p:spTree>
    <p:extLst>
      <p:ext uri="{BB962C8B-B14F-4D97-AF65-F5344CB8AC3E}">
        <p14:creationId xmlns:p14="http://schemas.microsoft.com/office/powerpoint/2010/main" val="109768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MCMC algorithm: run for N cycles</a:t>
            </a:r>
          </a:p>
        </p:txBody>
      </p:sp>
      <p:pic>
        <p:nvPicPr>
          <p:cNvPr id="4" name="Picture 3"/>
          <p:cNvPicPr>
            <a:picLocks noChangeAspect="1"/>
          </p:cNvPicPr>
          <p:nvPr/>
        </p:nvPicPr>
        <p:blipFill>
          <a:blip r:embed="rId2"/>
          <a:stretch>
            <a:fillRect/>
          </a:stretch>
        </p:blipFill>
        <p:spPr>
          <a:xfrm>
            <a:off x="165100" y="872282"/>
            <a:ext cx="8802278" cy="6858000"/>
          </a:xfrm>
          <a:prstGeom prst="rect">
            <a:avLst/>
          </a:prstGeom>
          <a:ln>
            <a:noFill/>
          </a:ln>
        </p:spPr>
      </p:pic>
      <p:pic>
        <p:nvPicPr>
          <p:cNvPr id="5" name="Picture 4"/>
          <p:cNvPicPr>
            <a:picLocks noChangeAspect="1"/>
          </p:cNvPicPr>
          <p:nvPr/>
        </p:nvPicPr>
        <p:blipFill>
          <a:blip r:embed="rId3"/>
          <a:stretch>
            <a:fillRect/>
          </a:stretch>
        </p:blipFill>
        <p:spPr>
          <a:xfrm>
            <a:off x="192055" y="886234"/>
            <a:ext cx="8802278" cy="6858000"/>
          </a:xfrm>
          <a:prstGeom prst="rect">
            <a:avLst/>
          </a:prstGeom>
        </p:spPr>
      </p:pic>
    </p:spTree>
    <p:extLst>
      <p:ext uri="{BB962C8B-B14F-4D97-AF65-F5344CB8AC3E}">
        <p14:creationId xmlns:p14="http://schemas.microsoft.com/office/powerpoint/2010/main" val="127907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Proposal distribution (Jump function)</a:t>
            </a:r>
          </a:p>
        </p:txBody>
      </p:sp>
      <p:sp>
        <p:nvSpPr>
          <p:cNvPr id="3" name="Content Placeholder 2"/>
          <p:cNvSpPr>
            <a:spLocks noGrp="1"/>
          </p:cNvSpPr>
          <p:nvPr>
            <p:ph idx="1"/>
          </p:nvPr>
        </p:nvSpPr>
        <p:spPr>
          <a:xfrm>
            <a:off x="457200" y="1051870"/>
            <a:ext cx="8229600" cy="5588417"/>
          </a:xfrm>
        </p:spPr>
        <p:txBody>
          <a:bodyPr>
            <a:normAutofit fontScale="92500" lnSpcReduction="10000"/>
          </a:bodyPr>
          <a:lstStyle/>
          <a:p>
            <a:pPr>
              <a:lnSpc>
                <a:spcPct val="80000"/>
              </a:lnSpc>
            </a:pPr>
            <a:r>
              <a:rPr lang="en-AU" altLang="en-US" dirty="0"/>
              <a:t>It should be possible to reach all possible parameter vectors “eventually” by applying the jump function long enough.</a:t>
            </a:r>
          </a:p>
          <a:p>
            <a:pPr>
              <a:lnSpc>
                <a:spcPct val="80000"/>
              </a:lnSpc>
            </a:pPr>
            <a:r>
              <a:rPr lang="en-US" altLang="en-US" dirty="0"/>
              <a:t>We only consider symmetric proposal distributions, i.e.</a:t>
            </a:r>
          </a:p>
          <a:p>
            <a:pPr>
              <a:lnSpc>
                <a:spcPct val="80000"/>
              </a:lnSpc>
            </a:pPr>
            <a:r>
              <a:rPr lang="en-US" altLang="en-US" dirty="0"/>
              <a:t>Proposal distributions can be multivariate (e.g. a multivariate normal or </a:t>
            </a:r>
            <a:r>
              <a:rPr lang="en-US" altLang="en-US" i="1" dirty="0"/>
              <a:t>t</a:t>
            </a:r>
            <a:r>
              <a:rPr lang="en-US" altLang="en-US" dirty="0"/>
              <a:t> centered on the current parameter vector). All the parameters are updated simultaneously.</a:t>
            </a:r>
          </a:p>
          <a:p>
            <a:pPr>
              <a:lnSpc>
                <a:spcPct val="80000"/>
              </a:lnSpc>
            </a:pPr>
            <a:r>
              <a:rPr lang="en-US" altLang="en-US" dirty="0"/>
              <a:t>ADMB proposal distribution is multivariate normal, with variance-covariance matrix a rescaled version of that generated during optimization.</a:t>
            </a:r>
          </a:p>
          <a:p>
            <a:pPr>
              <a:lnSpc>
                <a:spcPct val="80000"/>
              </a:lnSpc>
            </a:pPr>
            <a:r>
              <a:rPr lang="en-US" altLang="en-US" dirty="0"/>
              <a:t>Proposal distribution can be adjusted dynamically during the initial phase of an MCMC run to increase/decrease the size of the ‘jumps’.</a:t>
            </a:r>
          </a:p>
          <a:p>
            <a:pPr>
              <a:lnSpc>
                <a:spcPct val="80000"/>
              </a:lnSpc>
            </a:pPr>
            <a:endParaRPr lang="en-AU" alt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50992641"/>
              </p:ext>
            </p:extLst>
          </p:nvPr>
        </p:nvGraphicFramePr>
        <p:xfrm>
          <a:off x="3584360" y="2334222"/>
          <a:ext cx="2806234" cy="537364"/>
        </p:xfrm>
        <a:graphic>
          <a:graphicData uri="http://schemas.openxmlformats.org/presentationml/2006/ole">
            <mc:AlternateContent xmlns:mc="http://schemas.openxmlformats.org/markup-compatibility/2006">
              <mc:Choice xmlns:v="urn:schemas-microsoft-com:vml" Requires="v">
                <p:oleObj name="Equation" r:id="rId2" imgW="1193800" imgH="228600" progId="Equation.3">
                  <p:embed/>
                </p:oleObj>
              </mc:Choice>
              <mc:Fallback>
                <p:oleObj name="Equation" r:id="rId2" imgW="1193800" imgH="228600" progId="Equation.3">
                  <p:embed/>
                  <p:pic>
                    <p:nvPicPr>
                      <p:cNvPr id="0" name=""/>
                      <p:cNvPicPr/>
                      <p:nvPr/>
                    </p:nvPicPr>
                    <p:blipFill>
                      <a:blip r:embed="rId3"/>
                      <a:stretch>
                        <a:fillRect/>
                      </a:stretch>
                    </p:blipFill>
                    <p:spPr>
                      <a:xfrm>
                        <a:off x="3584360" y="2334222"/>
                        <a:ext cx="2806234" cy="537364"/>
                      </a:xfrm>
                      <a:prstGeom prst="rect">
                        <a:avLst/>
                      </a:prstGeom>
                    </p:spPr>
                  </p:pic>
                </p:oleObj>
              </mc:Fallback>
            </mc:AlternateContent>
          </a:graphicData>
        </a:graphic>
      </p:graphicFrame>
    </p:spTree>
    <p:extLst>
      <p:ext uri="{BB962C8B-B14F-4D97-AF65-F5344CB8AC3E}">
        <p14:creationId xmlns:p14="http://schemas.microsoft.com/office/powerpoint/2010/main" val="836886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“Burn-in” and “Thinning”</a:t>
            </a:r>
          </a:p>
        </p:txBody>
      </p:sp>
      <p:sp>
        <p:nvSpPr>
          <p:cNvPr id="3" name="Content Placeholder 2"/>
          <p:cNvSpPr>
            <a:spLocks noGrp="1"/>
          </p:cNvSpPr>
          <p:nvPr>
            <p:ph idx="1"/>
          </p:nvPr>
        </p:nvSpPr>
        <p:spPr/>
        <p:txBody>
          <a:bodyPr>
            <a:normAutofit/>
          </a:bodyPr>
          <a:lstStyle/>
          <a:p>
            <a:r>
              <a:rPr lang="en-US" dirty="0"/>
              <a:t>Several implementation decisions must be made when running MCMC.</a:t>
            </a:r>
          </a:p>
          <a:p>
            <a:r>
              <a:rPr lang="en-US" dirty="0"/>
              <a:t>Burn-in length: Discard first </a:t>
            </a:r>
            <a:r>
              <a:rPr lang="en-US" i="1" dirty="0"/>
              <a:t>B </a:t>
            </a:r>
            <a:r>
              <a:rPr lang="en-US" dirty="0"/>
              <a:t>cycles to remove the impact of the initial parameter vector.</a:t>
            </a:r>
          </a:p>
          <a:p>
            <a:r>
              <a:rPr lang="en-US" dirty="0"/>
              <a:t>Alternative (or additionally): run several chains from different starting values, use diagnostics to evaluate mixing.</a:t>
            </a:r>
          </a:p>
          <a:p>
            <a:r>
              <a:rPr lang="en-US" dirty="0"/>
              <a:t>‘Thin’ the chain by only taking the </a:t>
            </a:r>
            <a:r>
              <a:rPr lang="en-US" i="1" dirty="0" err="1"/>
              <a:t>n’</a:t>
            </a:r>
            <a:r>
              <a:rPr lang="en-US" dirty="0" err="1"/>
              <a:t>th</a:t>
            </a:r>
            <a:r>
              <a:rPr lang="en-US" dirty="0"/>
              <a:t> sample to reduce Markov nature of the chain (autocorrelation).</a:t>
            </a:r>
          </a:p>
          <a:p>
            <a:endParaRPr lang="en-US" dirty="0"/>
          </a:p>
        </p:txBody>
      </p:sp>
    </p:spTree>
    <p:extLst>
      <p:ext uri="{BB962C8B-B14F-4D97-AF65-F5344CB8AC3E}">
        <p14:creationId xmlns:p14="http://schemas.microsoft.com/office/powerpoint/2010/main" val="2843412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MCMC and convergence</a:t>
            </a:r>
          </a:p>
        </p:txBody>
      </p:sp>
      <p:sp>
        <p:nvSpPr>
          <p:cNvPr id="3" name="Content Placeholder 2"/>
          <p:cNvSpPr>
            <a:spLocks noGrp="1"/>
          </p:cNvSpPr>
          <p:nvPr>
            <p:ph idx="1"/>
          </p:nvPr>
        </p:nvSpPr>
        <p:spPr/>
        <p:txBody>
          <a:bodyPr/>
          <a:lstStyle/>
          <a:p>
            <a:r>
              <a:rPr lang="en-US" dirty="0"/>
              <a:t>A key issue is whether the Markov chain has converged to the posterior.</a:t>
            </a:r>
          </a:p>
          <a:p>
            <a:r>
              <a:rPr lang="en-US" dirty="0"/>
              <a:t>Or, How many cycles is enough?</a:t>
            </a:r>
          </a:p>
          <a:p>
            <a:r>
              <a:rPr lang="en-US" dirty="0"/>
              <a:t>Convergence is an issue.</a:t>
            </a:r>
          </a:p>
          <a:p>
            <a:r>
              <a:rPr lang="en-US" dirty="0"/>
              <a:t>Strictly speaking, we can never say a chain has converged. However, we can use many diagnostic statistics to point to (hopefully no) evidence for non-convergence.</a:t>
            </a:r>
          </a:p>
          <a:p>
            <a:endParaRPr lang="en-US" dirty="0"/>
          </a:p>
          <a:p>
            <a:endParaRPr lang="en-US" dirty="0"/>
          </a:p>
        </p:txBody>
      </p:sp>
    </p:spTree>
    <p:extLst>
      <p:ext uri="{BB962C8B-B14F-4D97-AF65-F5344CB8AC3E}">
        <p14:creationId xmlns:p14="http://schemas.microsoft.com/office/powerpoint/2010/main" val="3174703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z="3200" dirty="0"/>
              <a:t>Categorizing Convergence Diagnostics</a:t>
            </a:r>
          </a:p>
        </p:txBody>
      </p:sp>
      <p:sp>
        <p:nvSpPr>
          <p:cNvPr id="16387" name="Rectangle 3"/>
          <p:cNvSpPr>
            <a:spLocks noGrp="1" noChangeArrowheads="1"/>
          </p:cNvSpPr>
          <p:nvPr>
            <p:ph type="body" idx="1"/>
          </p:nvPr>
        </p:nvSpPr>
        <p:spPr/>
        <p:txBody>
          <a:bodyPr>
            <a:normAutofit fontScale="92500"/>
          </a:bodyPr>
          <a:lstStyle/>
          <a:p>
            <a:pPr eaLnBrk="1" hangingPunct="1"/>
            <a:r>
              <a:rPr lang="en-US" altLang="en-US" dirty="0"/>
              <a:t>There is no One Ring when it comes to diagnostics. All diagnostics will fail to detect failure to achieve convergence sometimes.</a:t>
            </a:r>
          </a:p>
          <a:p>
            <a:pPr eaLnBrk="1" hangingPunct="1"/>
            <a:r>
              <a:rPr lang="en-US" altLang="en-US" dirty="0"/>
              <a:t>Diagnostics:</a:t>
            </a:r>
          </a:p>
          <a:p>
            <a:pPr lvl="1"/>
            <a:r>
              <a:rPr lang="en-US" altLang="en-US" dirty="0"/>
              <a:t>monitoring (during a run).</a:t>
            </a:r>
          </a:p>
          <a:p>
            <a:pPr lvl="1"/>
            <a:r>
              <a:rPr lang="en-US" altLang="en-US" dirty="0"/>
              <a:t>evaluation (after a run).</a:t>
            </a:r>
          </a:p>
          <a:p>
            <a:pPr>
              <a:lnSpc>
                <a:spcPct val="90000"/>
              </a:lnSpc>
            </a:pPr>
            <a:r>
              <a:rPr lang="en-US" altLang="en-US" dirty="0"/>
              <a:t>Quantitative or graphical.</a:t>
            </a:r>
          </a:p>
          <a:p>
            <a:pPr>
              <a:lnSpc>
                <a:spcPct val="90000"/>
              </a:lnSpc>
            </a:pPr>
            <a:r>
              <a:rPr lang="en-US" altLang="en-US" dirty="0"/>
              <a:t>Requires single or multiple chains.</a:t>
            </a:r>
          </a:p>
          <a:p>
            <a:pPr>
              <a:lnSpc>
                <a:spcPct val="90000"/>
              </a:lnSpc>
            </a:pPr>
            <a:r>
              <a:rPr lang="en-US" altLang="en-US" dirty="0"/>
              <a:t>Based on single variables or the joint posterior.</a:t>
            </a:r>
          </a:p>
          <a:p>
            <a:pPr>
              <a:lnSpc>
                <a:spcPct val="90000"/>
              </a:lnSpc>
            </a:pPr>
            <a:r>
              <a:rPr lang="en-US" altLang="en-US" dirty="0"/>
              <a:t>Applicability (general or Gibbs sampler only).</a:t>
            </a:r>
          </a:p>
          <a:p>
            <a:pPr>
              <a:lnSpc>
                <a:spcPct val="90000"/>
              </a:lnSpc>
            </a:pPr>
            <a:r>
              <a:rPr lang="en-US" altLang="en-US" dirty="0"/>
              <a:t>Ease of use (generic or problem-specific).</a:t>
            </a:r>
          </a:p>
        </p:txBody>
      </p:sp>
    </p:spTree>
    <p:extLst>
      <p:ext uri="{BB962C8B-B14F-4D97-AF65-F5344CB8AC3E}">
        <p14:creationId xmlns:p14="http://schemas.microsoft.com/office/powerpoint/2010/main" val="1849657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pPr algn="ctr" eaLnBrk="1" hangingPunct="1"/>
            <a:r>
              <a:rPr lang="en-US" altLang="en-US"/>
              <a:t>MCMC diagnostics</a:t>
            </a:r>
            <a:br>
              <a:rPr lang="en-US" altLang="en-US"/>
            </a:br>
            <a:r>
              <a:rPr lang="en-US" altLang="en-US" sz="3000">
                <a:solidFill>
                  <a:srgbClr val="FF0000"/>
                </a:solidFill>
              </a:rPr>
              <a:t>(what to keep track of during a run)</a:t>
            </a:r>
          </a:p>
        </p:txBody>
      </p:sp>
      <p:sp>
        <p:nvSpPr>
          <p:cNvPr id="20483" name="Rectangle 3"/>
          <p:cNvSpPr>
            <a:spLocks noGrp="1" noChangeArrowheads="1"/>
          </p:cNvSpPr>
          <p:nvPr>
            <p:ph type="body" idx="1"/>
          </p:nvPr>
        </p:nvSpPr>
        <p:spPr/>
        <p:txBody>
          <a:bodyPr/>
          <a:lstStyle/>
          <a:p>
            <a:pPr eaLnBrk="1" hangingPunct="1"/>
            <a:r>
              <a:rPr lang="en-US" altLang="en-US"/>
              <a:t>The fraction of jumps that are accepted (it should be possible to ensure that the desired fraction is achieved automatically).</a:t>
            </a:r>
          </a:p>
          <a:p>
            <a:pPr eaLnBrk="1" hangingPunct="1"/>
            <a:r>
              <a:rPr lang="en-US" altLang="en-US"/>
              <a:t>The fraction of jumps that result in parameter values that are “out of range”.</a:t>
            </a:r>
          </a:p>
        </p:txBody>
      </p:sp>
    </p:spTree>
    <p:extLst>
      <p:ext uri="{BB962C8B-B14F-4D97-AF65-F5344CB8AC3E}">
        <p14:creationId xmlns:p14="http://schemas.microsoft.com/office/powerpoint/2010/main" val="1104331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pPr eaLnBrk="1" hangingPunct="1"/>
            <a:r>
              <a:rPr lang="en-US" altLang="en-US" sz="4000" dirty="0"/>
              <a:t>Visual Methods</a:t>
            </a:r>
          </a:p>
        </p:txBody>
      </p:sp>
      <p:sp>
        <p:nvSpPr>
          <p:cNvPr id="24579" name="Rectangle 3"/>
          <p:cNvSpPr>
            <a:spLocks noGrp="1" noChangeArrowheads="1"/>
          </p:cNvSpPr>
          <p:nvPr>
            <p:ph type="body" idx="1"/>
          </p:nvPr>
        </p:nvSpPr>
        <p:spPr>
          <a:xfrm>
            <a:off x="457200" y="1051870"/>
            <a:ext cx="8229600" cy="5806130"/>
          </a:xfrm>
        </p:spPr>
        <p:txBody>
          <a:bodyPr>
            <a:normAutofit fontScale="85000" lnSpcReduction="20000"/>
          </a:bodyPr>
          <a:lstStyle/>
          <a:p>
            <a:pPr eaLnBrk="1" hangingPunct="1"/>
            <a:r>
              <a:rPr lang="en-US" altLang="en-US" dirty="0"/>
              <a:t>The trace is no more than a plot of various outputs (derived quantities as well as parameters) against cycle number.</a:t>
            </a:r>
          </a:p>
          <a:p>
            <a:pPr eaLnBrk="1" hangingPunct="1"/>
            <a:r>
              <a:rPr lang="en-US" altLang="en-US" dirty="0"/>
              <a:t>Look for trends and evidence for strong auto-correlation.</a:t>
            </a:r>
          </a:p>
          <a:p>
            <a:r>
              <a:rPr lang="en-US" altLang="en-US" dirty="0"/>
              <a:t>The trace can be more interpretable if it is summarized by:</a:t>
            </a:r>
          </a:p>
          <a:p>
            <a:pPr lvl="1"/>
            <a:r>
              <a:rPr lang="en-US" altLang="en-US" dirty="0"/>
              <a:t>the cumulative posterior median, and upper and lower x% credibility intervals; and</a:t>
            </a:r>
          </a:p>
          <a:p>
            <a:pPr lvl="1"/>
            <a:r>
              <a:rPr lang="en-US" altLang="en-US" dirty="0"/>
              <a:t>moving averages.</a:t>
            </a:r>
          </a:p>
          <a:p>
            <a:r>
              <a:rPr lang="en-US" altLang="en-US" dirty="0"/>
              <a:t>Correlation plots easily display the relationships among key parameters.</a:t>
            </a:r>
          </a:p>
          <a:p>
            <a:pPr eaLnBrk="1" hangingPunct="1"/>
            <a:r>
              <a:rPr lang="en-US" altLang="en-US" dirty="0"/>
              <a:t>Plot the distributions for the marginal posteriors (but do not assume convergence just because these look smooth).</a:t>
            </a:r>
          </a:p>
          <a:p>
            <a:pPr eaLnBrk="1" hangingPunct="1"/>
            <a:endParaRPr lang="en-US" altLang="en-US" dirty="0"/>
          </a:p>
        </p:txBody>
      </p:sp>
    </p:spTree>
    <p:extLst>
      <p:ext uri="{BB962C8B-B14F-4D97-AF65-F5344CB8AC3E}">
        <p14:creationId xmlns:p14="http://schemas.microsoft.com/office/powerpoint/2010/main" val="15845790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en-US" dirty="0"/>
              <a:t>Numerical Statistics</a:t>
            </a:r>
          </a:p>
        </p:txBody>
      </p:sp>
      <p:sp>
        <p:nvSpPr>
          <p:cNvPr id="40963" name="Text Box 4"/>
          <p:cNvSpPr>
            <a:spLocks noGrp="1" noChangeArrowheads="1"/>
          </p:cNvSpPr>
          <p:nvPr>
            <p:ph type="body" idx="1"/>
          </p:nvPr>
        </p:nvSpPr>
        <p:spPr>
          <a:noFill/>
        </p:spPr>
        <p:txBody>
          <a:bodyPr/>
          <a:lstStyle/>
          <a:p>
            <a:pPr eaLnBrk="1" hangingPunct="1">
              <a:lnSpc>
                <a:spcPct val="90000"/>
              </a:lnSpc>
            </a:pPr>
            <a:r>
              <a:rPr lang="en-US" altLang="en-US" sz="2400" dirty="0"/>
              <a:t>Autocorrelation lags 1-20</a:t>
            </a:r>
          </a:p>
          <a:p>
            <a:pPr eaLnBrk="1" hangingPunct="1">
              <a:lnSpc>
                <a:spcPct val="90000"/>
              </a:lnSpc>
            </a:pPr>
            <a:r>
              <a:rPr lang="en-US" altLang="en-US" sz="2400" dirty="0" err="1"/>
              <a:t>Geweke</a:t>
            </a:r>
            <a:r>
              <a:rPr lang="en-US" altLang="en-US" sz="2400" dirty="0"/>
              <a:t> statistic</a:t>
            </a:r>
          </a:p>
          <a:p>
            <a:pPr eaLnBrk="1" hangingPunct="1">
              <a:lnSpc>
                <a:spcPct val="90000"/>
              </a:lnSpc>
            </a:pPr>
            <a:r>
              <a:rPr lang="en-US" altLang="en-US" sz="2400" dirty="0"/>
              <a:t>“Effective” sample size</a:t>
            </a:r>
          </a:p>
          <a:p>
            <a:pPr eaLnBrk="1" hangingPunct="1">
              <a:lnSpc>
                <a:spcPct val="90000"/>
              </a:lnSpc>
            </a:pPr>
            <a:r>
              <a:rPr lang="en-US" altLang="en-US" sz="2400" dirty="0"/>
              <a:t>Heidelberger and Welch statistic</a:t>
            </a:r>
          </a:p>
          <a:p>
            <a:pPr eaLnBrk="1" hangingPunct="1">
              <a:lnSpc>
                <a:spcPct val="90000"/>
              </a:lnSpc>
            </a:pPr>
            <a:r>
              <a:rPr lang="en-US" altLang="en-US" sz="2400" dirty="0" err="1"/>
              <a:t>Raftery</a:t>
            </a:r>
            <a:r>
              <a:rPr lang="en-US" altLang="en-US" sz="2400" dirty="0"/>
              <a:t> and Lewis statistic</a:t>
            </a:r>
          </a:p>
          <a:p>
            <a:pPr eaLnBrk="1" hangingPunct="1">
              <a:lnSpc>
                <a:spcPct val="90000"/>
              </a:lnSpc>
            </a:pPr>
            <a:r>
              <a:rPr lang="en-US" altLang="en-US" sz="2400" dirty="0"/>
              <a:t>Batch </a:t>
            </a:r>
            <a:r>
              <a:rPr lang="en-US" altLang="en-US" sz="2400" dirty="0" err="1"/>
              <a:t>sd</a:t>
            </a:r>
            <a:r>
              <a:rPr lang="en-US" altLang="en-US" sz="2400" dirty="0"/>
              <a:t>/naïve </a:t>
            </a:r>
            <a:r>
              <a:rPr lang="en-US" altLang="en-US" sz="2400" dirty="0" err="1"/>
              <a:t>sd</a:t>
            </a:r>
            <a:endParaRPr lang="en-US" altLang="en-US" sz="2400" dirty="0"/>
          </a:p>
          <a:p>
            <a:pPr eaLnBrk="1" hangingPunct="1">
              <a:lnSpc>
                <a:spcPct val="90000"/>
              </a:lnSpc>
            </a:pPr>
            <a:r>
              <a:rPr lang="en-US" altLang="en-US" sz="2400" dirty="0"/>
              <a:t>Single chain </a:t>
            </a:r>
            <a:r>
              <a:rPr lang="en-US" altLang="en-US" sz="2400" dirty="0" err="1"/>
              <a:t>Gelman</a:t>
            </a:r>
            <a:r>
              <a:rPr lang="en-US" altLang="en-US" sz="2400" dirty="0"/>
              <a:t> statistic</a:t>
            </a:r>
          </a:p>
          <a:p>
            <a:pPr eaLnBrk="1" hangingPunct="1">
              <a:lnSpc>
                <a:spcPct val="90000"/>
              </a:lnSpc>
            </a:pPr>
            <a:r>
              <a:rPr lang="en-US" altLang="en-US" sz="2400" dirty="0"/>
              <a:t>Brooks-</a:t>
            </a:r>
            <a:r>
              <a:rPr lang="en-US" altLang="en-US" sz="2400" dirty="0" err="1"/>
              <a:t>Gelman</a:t>
            </a:r>
            <a:r>
              <a:rPr lang="en-US" altLang="en-US" sz="2400" dirty="0"/>
              <a:t>-Rubin statistic</a:t>
            </a:r>
          </a:p>
          <a:p>
            <a:pPr eaLnBrk="1" hangingPunct="1">
              <a:lnSpc>
                <a:spcPct val="90000"/>
              </a:lnSpc>
            </a:pPr>
            <a:r>
              <a:rPr lang="en-US" altLang="en-US" sz="2400" dirty="0"/>
              <a:t>Cumulative </a:t>
            </a:r>
            <a:r>
              <a:rPr lang="en-US" altLang="en-US" sz="2400" dirty="0" err="1"/>
              <a:t>quantiles</a:t>
            </a:r>
            <a:endParaRPr lang="en-US" altLang="en-US" sz="2400" dirty="0"/>
          </a:p>
          <a:p>
            <a:pPr eaLnBrk="1" hangingPunct="1">
              <a:lnSpc>
                <a:spcPct val="90000"/>
              </a:lnSpc>
            </a:pPr>
            <a:r>
              <a:rPr lang="en-US" altLang="en-US" sz="2400" dirty="0"/>
              <a:t>Running mean</a:t>
            </a:r>
          </a:p>
          <a:p>
            <a:pPr eaLnBrk="1" hangingPunct="1">
              <a:lnSpc>
                <a:spcPct val="90000"/>
              </a:lnSpc>
            </a:pPr>
            <a:r>
              <a:rPr lang="en-US" altLang="en-US" sz="2400" dirty="0"/>
              <a:t>…</a:t>
            </a:r>
          </a:p>
          <a:p>
            <a:pPr eaLnBrk="1" hangingPunct="1">
              <a:lnSpc>
                <a:spcPct val="90000"/>
              </a:lnSpc>
            </a:pPr>
            <a:endParaRPr lang="en-US" altLang="en-US" sz="2400" dirty="0"/>
          </a:p>
          <a:p>
            <a:pPr marL="0" indent="0" eaLnBrk="1" hangingPunct="1">
              <a:lnSpc>
                <a:spcPct val="90000"/>
              </a:lnSpc>
              <a:buNone/>
            </a:pPr>
            <a:r>
              <a:rPr lang="en-US" altLang="en-US" sz="2400" dirty="0"/>
              <a:t>Many of these relate to changes in the mean or variance either among chains or among sections of the same chain.</a:t>
            </a:r>
          </a:p>
          <a:p>
            <a:pPr eaLnBrk="1" hangingPunct="1">
              <a:lnSpc>
                <a:spcPct val="90000"/>
              </a:lnSpc>
              <a:spcBef>
                <a:spcPct val="0"/>
              </a:spcBef>
              <a:buClrTx/>
              <a:buSzTx/>
              <a:buFontTx/>
              <a:buNone/>
            </a:pPr>
            <a:endParaRPr lang="en-US" altLang="en-US" sz="1800" dirty="0">
              <a:latin typeface="Arial" panose="020B0604020202020204" pitchFamily="34" charset="0"/>
            </a:endParaRPr>
          </a:p>
        </p:txBody>
      </p:sp>
      <p:pic>
        <p:nvPicPr>
          <p:cNvPr id="2" name="Picture 1"/>
          <p:cNvPicPr>
            <a:picLocks noChangeAspect="1"/>
          </p:cNvPicPr>
          <p:nvPr/>
        </p:nvPicPr>
        <p:blipFill>
          <a:blip r:embed="rId3"/>
          <a:stretch>
            <a:fillRect/>
          </a:stretch>
        </p:blipFill>
        <p:spPr>
          <a:xfrm>
            <a:off x="5066079" y="1805536"/>
            <a:ext cx="4077921" cy="2705821"/>
          </a:xfrm>
          <a:prstGeom prst="rect">
            <a:avLst/>
          </a:prstGeom>
        </p:spPr>
      </p:pic>
    </p:spTree>
    <p:extLst>
      <p:ext uri="{BB962C8B-B14F-4D97-AF65-F5344CB8AC3E}">
        <p14:creationId xmlns:p14="http://schemas.microsoft.com/office/powerpoint/2010/main" val="3676579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lgn="ctr" eaLnBrk="1" hangingPunct="1"/>
            <a:r>
              <a:rPr lang="en-US" altLang="en-US"/>
              <a:t>The CODA Package</a:t>
            </a:r>
          </a:p>
        </p:txBody>
      </p:sp>
      <p:sp>
        <p:nvSpPr>
          <p:cNvPr id="71683" name="Rectangle 3"/>
          <p:cNvSpPr>
            <a:spLocks noGrp="1" noChangeArrowheads="1"/>
          </p:cNvSpPr>
          <p:nvPr>
            <p:ph type="body" idx="1"/>
          </p:nvPr>
        </p:nvSpPr>
        <p:spPr/>
        <p:txBody>
          <a:bodyPr/>
          <a:lstStyle/>
          <a:p>
            <a:pPr eaLnBrk="1" hangingPunct="1"/>
            <a:r>
              <a:rPr lang="en-US" altLang="en-US"/>
              <a:t>CODA is a R package that implements all of the diagnostic statistics outlined above. The user can select functions from a menu interface or run the functions directly.</a:t>
            </a:r>
          </a:p>
        </p:txBody>
      </p:sp>
    </p:spTree>
    <p:extLst>
      <p:ext uri="{BB962C8B-B14F-4D97-AF65-F5344CB8AC3E}">
        <p14:creationId xmlns:p14="http://schemas.microsoft.com/office/powerpoint/2010/main" val="2030452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for Bayesian inference</a:t>
            </a:r>
          </a:p>
        </p:txBody>
      </p:sp>
      <p:sp>
        <p:nvSpPr>
          <p:cNvPr id="3" name="Content Placeholder 2"/>
          <p:cNvSpPr>
            <a:spLocks noGrp="1"/>
          </p:cNvSpPr>
          <p:nvPr>
            <p:ph idx="1"/>
          </p:nvPr>
        </p:nvSpPr>
        <p:spPr>
          <a:xfrm>
            <a:off x="457200" y="872282"/>
            <a:ext cx="8229600" cy="5768005"/>
          </a:xfrm>
        </p:spPr>
        <p:txBody>
          <a:bodyPr>
            <a:normAutofit fontScale="92500" lnSpcReduction="20000"/>
          </a:bodyPr>
          <a:lstStyle/>
          <a:p>
            <a:r>
              <a:rPr lang="en-US" sz="2400" dirty="0"/>
              <a:t>Lots of pre-written programs / code out there.</a:t>
            </a:r>
          </a:p>
          <a:p>
            <a:r>
              <a:rPr lang="en-US" sz="2400" dirty="0"/>
              <a:t>Some are more flexible than others.</a:t>
            </a:r>
          </a:p>
          <a:p>
            <a:r>
              <a:rPr lang="en-US" sz="2400" dirty="0"/>
              <a:t>A popular, generic program is BUGS</a:t>
            </a:r>
          </a:p>
          <a:p>
            <a:pPr lvl="1"/>
            <a:r>
              <a:rPr lang="en-US" sz="2000" dirty="0"/>
              <a:t>JAGS, </a:t>
            </a:r>
            <a:r>
              <a:rPr lang="en-US" sz="2000" dirty="0" err="1"/>
              <a:t>OpenBUGS</a:t>
            </a:r>
            <a:r>
              <a:rPr lang="en-US" sz="2000" dirty="0"/>
              <a:t>, </a:t>
            </a:r>
            <a:r>
              <a:rPr lang="en-US" sz="2000" dirty="0" err="1"/>
              <a:t>WinBUGS</a:t>
            </a:r>
            <a:endParaRPr lang="en-US" sz="2000" dirty="0"/>
          </a:p>
          <a:p>
            <a:pPr lvl="1"/>
            <a:r>
              <a:rPr lang="en-US" sz="2000" dirty="0"/>
              <a:t>There are packages to run BUGS models from R.</a:t>
            </a:r>
          </a:p>
          <a:p>
            <a:r>
              <a:rPr lang="en-US" sz="2400" dirty="0"/>
              <a:t>STAN (</a:t>
            </a:r>
            <a:r>
              <a:rPr lang="en-US" sz="2400" dirty="0" err="1"/>
              <a:t>Gelman</a:t>
            </a:r>
            <a:r>
              <a:rPr lang="en-US" sz="2400" dirty="0"/>
              <a:t> et al.)</a:t>
            </a:r>
          </a:p>
          <a:p>
            <a:pPr lvl="1"/>
            <a:r>
              <a:rPr lang="en-US" sz="2000" dirty="0"/>
              <a:t>More involved coding than BUGS (e.g. need to write C++)</a:t>
            </a:r>
          </a:p>
          <a:p>
            <a:pPr lvl="1"/>
            <a:r>
              <a:rPr lang="en-US" sz="2000" dirty="0"/>
              <a:t>Interfaces with R, Python, etc.</a:t>
            </a:r>
          </a:p>
          <a:p>
            <a:pPr lvl="1"/>
            <a:r>
              <a:rPr lang="en-US" sz="2000" dirty="0"/>
              <a:t>Many packages use STAN functionality</a:t>
            </a:r>
          </a:p>
          <a:p>
            <a:pPr lvl="2"/>
            <a:r>
              <a:rPr lang="en-US" sz="1600" dirty="0"/>
              <a:t>e.g. brms, </a:t>
            </a:r>
            <a:r>
              <a:rPr lang="en-US" sz="1600" dirty="0" err="1"/>
              <a:t>tmbstan</a:t>
            </a:r>
            <a:endParaRPr lang="en-US" sz="1600" dirty="0"/>
          </a:p>
          <a:p>
            <a:r>
              <a:rPr lang="en-US" sz="2400" dirty="0"/>
              <a:t>Several bespoke R packages for specific types of models</a:t>
            </a:r>
          </a:p>
          <a:p>
            <a:r>
              <a:rPr lang="en-US" sz="2400" dirty="0"/>
              <a:t>TMB</a:t>
            </a:r>
          </a:p>
          <a:p>
            <a:pPr lvl="1"/>
            <a:r>
              <a:rPr lang="en-US" sz="2000" dirty="0"/>
              <a:t>NUTS (HMC) [using stan]</a:t>
            </a:r>
          </a:p>
          <a:p>
            <a:r>
              <a:rPr lang="en-US" sz="2400" dirty="0"/>
              <a:t>NIMBLE</a:t>
            </a:r>
          </a:p>
          <a:p>
            <a:r>
              <a:rPr lang="en-US" sz="2400" dirty="0"/>
              <a:t>ADMB</a:t>
            </a:r>
          </a:p>
          <a:p>
            <a:pPr lvl="1"/>
            <a:r>
              <a:rPr lang="en-US" sz="2000" dirty="0"/>
              <a:t>Metropolis Hastings MCMC, No-U-Turn-Sampler HMC</a:t>
            </a:r>
          </a:p>
          <a:p>
            <a:r>
              <a:rPr lang="en-US" sz="2400" dirty="0"/>
              <a:t>Greta</a:t>
            </a:r>
          </a:p>
          <a:p>
            <a:r>
              <a:rPr lang="en-US" sz="2400" dirty="0"/>
              <a:t>Bambi</a:t>
            </a:r>
          </a:p>
        </p:txBody>
      </p:sp>
    </p:spTree>
    <p:extLst>
      <p:ext uri="{BB962C8B-B14F-4D97-AF65-F5344CB8AC3E}">
        <p14:creationId xmlns:p14="http://schemas.microsoft.com/office/powerpoint/2010/main" val="3233612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fontScale="90000"/>
          </a:bodyPr>
          <a:lstStyle/>
          <a:p>
            <a:pPr eaLnBrk="1" hangingPunct="1"/>
            <a:r>
              <a:rPr lang="en-US" altLang="en-US" sz="4000" dirty="0"/>
              <a:t>Tricks of the (MCMC) trade</a:t>
            </a:r>
          </a:p>
        </p:txBody>
      </p:sp>
      <p:sp>
        <p:nvSpPr>
          <p:cNvPr id="43011" name="Rectangle 3"/>
          <p:cNvSpPr>
            <a:spLocks noGrp="1" noChangeArrowheads="1"/>
          </p:cNvSpPr>
          <p:nvPr>
            <p:ph type="body" idx="1"/>
          </p:nvPr>
        </p:nvSpPr>
        <p:spPr/>
        <p:txBody>
          <a:bodyPr>
            <a:normAutofit fontScale="92500" lnSpcReduction="10000"/>
          </a:bodyPr>
          <a:lstStyle/>
          <a:p>
            <a:pPr eaLnBrk="1" hangingPunct="1"/>
            <a:r>
              <a:rPr lang="en-US" altLang="en-US" sz="3000" dirty="0"/>
              <a:t>Performance of MCMC deteriorates:</a:t>
            </a:r>
          </a:p>
          <a:p>
            <a:pPr lvl="1"/>
            <a:r>
              <a:rPr lang="en-US" altLang="en-US" sz="2600" dirty="0"/>
              <a:t>as the number of parameters increases. Integrate out any nuisance parameters analytically.</a:t>
            </a:r>
          </a:p>
          <a:p>
            <a:pPr lvl="1"/>
            <a:r>
              <a:rPr lang="en-US" altLang="en-US" sz="2600" dirty="0"/>
              <a:t>if parameters are highly correlated. Examine the variance-covariance matrix to identify highly-correlated parameters (rho&gt;0.8) and re-parameterize the model to reduce correlations.</a:t>
            </a:r>
          </a:p>
          <a:p>
            <a:r>
              <a:rPr lang="en-US" altLang="en-US" sz="3000" dirty="0"/>
              <a:t>MCMC jumps may fall outside the allowable range if there are “hard” boundaries on parameters. Avoid these by working with transformations.</a:t>
            </a:r>
          </a:p>
          <a:p>
            <a:r>
              <a:rPr lang="en-US" altLang="en-US" sz="3000" dirty="0"/>
              <a:t>Always repeat the MCMC calculations for</a:t>
            </a:r>
          </a:p>
          <a:p>
            <a:pPr lvl="1"/>
            <a:r>
              <a:rPr lang="en-US" altLang="en-US" sz="2600" dirty="0"/>
              <a:t>different starting parameter vectors; and</a:t>
            </a:r>
          </a:p>
          <a:p>
            <a:pPr lvl="1"/>
            <a:r>
              <a:rPr lang="en-US" altLang="en-US" sz="2600" dirty="0"/>
              <a:t>different random number seeds.</a:t>
            </a:r>
          </a:p>
          <a:p>
            <a:endParaRPr lang="en-US" altLang="en-US" sz="3000" dirty="0"/>
          </a:p>
          <a:p>
            <a:endParaRPr lang="en-US" altLang="en-US" sz="3000" dirty="0"/>
          </a:p>
        </p:txBody>
      </p:sp>
    </p:spTree>
    <p:extLst>
      <p:ext uri="{BB962C8B-B14F-4D97-AF65-F5344CB8AC3E}">
        <p14:creationId xmlns:p14="http://schemas.microsoft.com/office/powerpoint/2010/main" val="33990598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Recommended textbook reading</a:t>
            </a:r>
          </a:p>
        </p:txBody>
      </p:sp>
      <p:sp>
        <p:nvSpPr>
          <p:cNvPr id="3" name="Content Placeholder 2"/>
          <p:cNvSpPr>
            <a:spLocks noGrp="1"/>
          </p:cNvSpPr>
          <p:nvPr>
            <p:ph idx="1"/>
          </p:nvPr>
        </p:nvSpPr>
        <p:spPr>
          <a:xfrm>
            <a:off x="457200" y="1051870"/>
            <a:ext cx="8229600" cy="6236697"/>
          </a:xfrm>
        </p:spPr>
        <p:txBody>
          <a:bodyPr>
            <a:normAutofit fontScale="92500"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2200" dirty="0" err="1"/>
              <a:t>Gelman</a:t>
            </a:r>
            <a:r>
              <a:rPr lang="en-US" sz="2200" dirty="0"/>
              <a:t>, A., Carlin, J. B., Stern, H. S., &amp; Rubin, D. B. (2004). Bayesian data analysis. Texts in statistical science series. CRC Press</a:t>
            </a:r>
          </a:p>
          <a:p>
            <a:r>
              <a:rPr lang="en-US" sz="2200" dirty="0" err="1"/>
              <a:t>McElreath</a:t>
            </a:r>
            <a:r>
              <a:rPr lang="en-US" sz="2200" dirty="0"/>
              <a:t>, R. 2022. </a:t>
            </a:r>
            <a:r>
              <a:rPr lang="en-US" sz="2200" dirty="0" err="1"/>
              <a:t>Statitstical</a:t>
            </a:r>
            <a:r>
              <a:rPr lang="en-US" sz="2200" dirty="0"/>
              <a:t> Rethinking: A Bayesian Course with Examples in R &amp; Stan. 2</a:t>
            </a:r>
            <a:r>
              <a:rPr lang="en-US" sz="2200" baseline="30000" dirty="0"/>
              <a:t>nd</a:t>
            </a:r>
            <a:r>
              <a:rPr lang="en-US" sz="2200" dirty="0"/>
              <a:t> Ed. CRC Press.</a:t>
            </a:r>
          </a:p>
          <a:p>
            <a:r>
              <a:rPr lang="en-US" sz="2200" dirty="0"/>
              <a:t>Hobbs, N. T., &amp; </a:t>
            </a:r>
            <a:r>
              <a:rPr lang="en-US" sz="2200" dirty="0" err="1"/>
              <a:t>Hooten</a:t>
            </a:r>
            <a:r>
              <a:rPr lang="en-US" sz="2200" dirty="0"/>
              <a:t>, M. B. (2015). Bayesian models: a statistical primer for ecologists. Princeton University Press.</a:t>
            </a:r>
          </a:p>
        </p:txBody>
      </p:sp>
      <p:pic>
        <p:nvPicPr>
          <p:cNvPr id="146434" name="Picture 2" descr="http://ecx.images-amazon.com/images/I/51mTTnd%2B7mL._SX325_BO1,204,203,200_.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235" y="1151949"/>
            <a:ext cx="2366261" cy="3610900"/>
          </a:xfrm>
          <a:prstGeom prst="rect">
            <a:avLst/>
          </a:prstGeom>
          <a:noFill/>
          <a:extLst>
            <a:ext uri="{909E8E84-426E-40dd-AFC4-6F175D3DCCD1}">
              <a14:hiddenFill xmlns:a14="http://schemas.microsoft.com/office/drawing/2010/main" xmlns="">
                <a:solidFill>
                  <a:srgbClr val="FFFFFF"/>
                </a:solidFill>
              </a14:hiddenFill>
            </a:ext>
          </a:extLst>
        </p:spPr>
      </p:pic>
      <p:pic>
        <p:nvPicPr>
          <p:cNvPr id="146438" name="Picture 6" descr="http://press.princeton.edu/images/k10523.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7744" y="1069657"/>
            <a:ext cx="2317903" cy="3693192"/>
          </a:xfrm>
          <a:prstGeom prst="rect">
            <a:avLst/>
          </a:prstGeom>
          <a:noFill/>
          <a:extLst>
            <a:ext uri="{909E8E84-426E-40dd-AFC4-6F175D3DCCD1}">
              <a14:hiddenFill xmlns:a14="http://schemas.microsoft.com/office/drawing/2010/main" xmlns="">
                <a:solidFill>
                  <a:srgbClr val="FFFFFF"/>
                </a:solidFill>
              </a14:hiddenFill>
            </a:ext>
          </a:extLst>
        </p:spPr>
      </p:pic>
      <p:pic>
        <p:nvPicPr>
          <p:cNvPr id="168966" name="Picture 6" descr="Amazon.com: Statistical Rethinking: A Bayesian Course with Examples in R  and STAN (Chapman &amp; Hall/CRC Texts in Statistical Science): 9780367139919:  McElreath, Richard: Books">
            <a:extLst>
              <a:ext uri="{FF2B5EF4-FFF2-40B4-BE49-F238E27FC236}">
                <a16:creationId xmlns:a16="http://schemas.microsoft.com/office/drawing/2014/main" id="{CC768147-9E83-78F3-6526-86F365708B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7699" y="1212856"/>
            <a:ext cx="3256301" cy="3256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55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Lighter reading</a:t>
            </a:r>
          </a:p>
        </p:txBody>
      </p:sp>
      <p:pic>
        <p:nvPicPr>
          <p:cNvPr id="4" name="Picture 3"/>
          <p:cNvPicPr>
            <a:picLocks noChangeAspect="1"/>
          </p:cNvPicPr>
          <p:nvPr/>
        </p:nvPicPr>
        <p:blipFill>
          <a:blip r:embed="rId3"/>
          <a:stretch>
            <a:fillRect/>
          </a:stretch>
        </p:blipFill>
        <p:spPr>
          <a:xfrm>
            <a:off x="5850296" y="961059"/>
            <a:ext cx="3160625" cy="4159308"/>
          </a:xfrm>
          <a:prstGeom prst="rect">
            <a:avLst/>
          </a:prstGeom>
          <a:ln w="12700">
            <a:solidFill>
              <a:schemeClr val="accent1"/>
            </a:solidFill>
          </a:ln>
        </p:spPr>
      </p:pic>
      <p:pic>
        <p:nvPicPr>
          <p:cNvPr id="144386" name="Picture 2" descr="http://ecx.images-amazon.com/images/I/51M1qZhLhCL._SY344_BO1,204,203,200_.jpg"/>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174198" y="3171616"/>
            <a:ext cx="2365860" cy="3559076"/>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2"/>
          <p:cNvSpPr/>
          <p:nvPr/>
        </p:nvSpPr>
        <p:spPr>
          <a:xfrm>
            <a:off x="5717217" y="5259970"/>
            <a:ext cx="3426781" cy="523220"/>
          </a:xfrm>
          <a:prstGeom prst="rect">
            <a:avLst/>
          </a:prstGeom>
        </p:spPr>
        <p:txBody>
          <a:bodyPr wrap="square">
            <a:spAutoFit/>
          </a:bodyPr>
          <a:lstStyle/>
          <a:p>
            <a:r>
              <a:rPr lang="en-US" sz="1400" dirty="0">
                <a:hlinkClick r:id="rId5"/>
              </a:rPr>
              <a:t>Simpson, E. (2010). Edward Simpson: Bayes at Bletchley Park. </a:t>
            </a:r>
            <a:r>
              <a:rPr lang="en-US" sz="1400" i="1" dirty="0">
                <a:hlinkClick r:id="rId5"/>
              </a:rPr>
              <a:t>Significance</a:t>
            </a:r>
            <a:r>
              <a:rPr lang="en-US" sz="1400" dirty="0">
                <a:hlinkClick r:id="rId5"/>
              </a:rPr>
              <a:t>, </a:t>
            </a:r>
            <a:r>
              <a:rPr lang="en-US" sz="1400" i="1" dirty="0">
                <a:hlinkClick r:id="rId5"/>
              </a:rPr>
              <a:t>7</a:t>
            </a:r>
            <a:r>
              <a:rPr lang="en-US" sz="1400" dirty="0">
                <a:hlinkClick r:id="rId5"/>
              </a:rPr>
              <a:t>(2), 76-80.</a:t>
            </a:r>
            <a:endParaRPr lang="en-US" sz="1400" dirty="0"/>
          </a:p>
        </p:txBody>
      </p:sp>
      <p:sp>
        <p:nvSpPr>
          <p:cNvPr id="7" name="Rectangle 6"/>
          <p:cNvSpPr/>
          <p:nvPr/>
        </p:nvSpPr>
        <p:spPr>
          <a:xfrm>
            <a:off x="233887" y="2743369"/>
            <a:ext cx="5193437" cy="276999"/>
          </a:xfrm>
          <a:prstGeom prst="rect">
            <a:avLst/>
          </a:prstGeom>
        </p:spPr>
        <p:txBody>
          <a:bodyPr wrap="square">
            <a:spAutoFit/>
          </a:bodyPr>
          <a:lstStyle/>
          <a:p>
            <a:r>
              <a:rPr lang="en-US" sz="1200" dirty="0">
                <a:hlinkClick r:id="rId6"/>
              </a:rPr>
              <a:t>https://www.countbayesie.com/blog/2015/2/18/hans-solo-and-bayesian-priors</a:t>
            </a:r>
            <a:endParaRPr lang="en-US" sz="1200" dirty="0"/>
          </a:p>
        </p:txBody>
      </p:sp>
      <p:pic>
        <p:nvPicPr>
          <p:cNvPr id="10" name="Picture 2" descr="https://static1.squarespace.com/static/54e50c15e4b058fc6806d068/t/54ec15d5e4b07c3f6569d697/1424758230562/?format=750w"/>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0070" y="1009686"/>
            <a:ext cx="2929988" cy="164490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96757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Readings:</a:t>
            </a:r>
          </a:p>
        </p:txBody>
      </p:sp>
      <p:sp>
        <p:nvSpPr>
          <p:cNvPr id="3" name="Content Placeholder 2"/>
          <p:cNvSpPr>
            <a:spLocks noGrp="1"/>
          </p:cNvSpPr>
          <p:nvPr>
            <p:ph idx="1"/>
          </p:nvPr>
        </p:nvSpPr>
        <p:spPr>
          <a:xfrm>
            <a:off x="457200" y="879594"/>
            <a:ext cx="8229600" cy="5588417"/>
          </a:xfrm>
        </p:spPr>
        <p:txBody>
          <a:bodyPr>
            <a:noAutofit/>
          </a:bodyPr>
          <a:lstStyle/>
          <a:p>
            <a:pPr marL="349250" indent="-349250">
              <a:spcBef>
                <a:spcPts val="0"/>
              </a:spcBef>
              <a:buNone/>
            </a:pPr>
            <a:r>
              <a:rPr lang="en-US" altLang="en-US" sz="1800" dirty="0"/>
              <a:t>Brooks, S. and A. </a:t>
            </a:r>
            <a:r>
              <a:rPr lang="en-US" altLang="en-US" sz="1800" dirty="0" err="1"/>
              <a:t>Gelman</a:t>
            </a:r>
            <a:r>
              <a:rPr lang="en-US" altLang="en-US" sz="1800" dirty="0"/>
              <a:t>. 1998. General methods for monitoring convergence of iterative simulations. </a:t>
            </a:r>
            <a:r>
              <a:rPr lang="en-US" altLang="en-US" sz="1800" i="1" dirty="0"/>
              <a:t>Journal of Computational and Graphical Statistics</a:t>
            </a:r>
            <a:r>
              <a:rPr lang="en-US" altLang="en-US" sz="1800" dirty="0"/>
              <a:t> 7: 434-55. </a:t>
            </a:r>
          </a:p>
          <a:p>
            <a:pPr marL="349250" indent="-349250">
              <a:spcBef>
                <a:spcPts val="0"/>
              </a:spcBef>
              <a:buNone/>
            </a:pPr>
            <a:r>
              <a:rPr lang="en-US" sz="1800" dirty="0"/>
              <a:t>Ellison, A.M. 2004.Ecology letters 7: 509-520. </a:t>
            </a:r>
          </a:p>
          <a:p>
            <a:pPr marL="349250" indent="-349250">
              <a:spcBef>
                <a:spcPts val="0"/>
              </a:spcBef>
              <a:buNone/>
            </a:pPr>
            <a:r>
              <a:rPr lang="en-US" altLang="en-US" sz="1800" dirty="0" err="1"/>
              <a:t>Gelman</a:t>
            </a:r>
            <a:r>
              <a:rPr lang="en-US" altLang="en-US" sz="1800" dirty="0"/>
              <a:t>, A. and D.B. Rubin. 1992. Inference from iterative simulation using multiple sequences (with discussion). </a:t>
            </a:r>
            <a:r>
              <a:rPr lang="en-US" altLang="en-US" sz="1800" i="1" dirty="0"/>
              <a:t>Statistical Science </a:t>
            </a:r>
            <a:r>
              <a:rPr lang="en-US" altLang="en-US" sz="1800" dirty="0"/>
              <a:t>7: 457-511.</a:t>
            </a:r>
          </a:p>
          <a:p>
            <a:pPr marL="349250" indent="-349250">
              <a:spcBef>
                <a:spcPts val="0"/>
              </a:spcBef>
              <a:buNone/>
            </a:pPr>
            <a:r>
              <a:rPr lang="en-US" altLang="en-US" sz="1800" dirty="0" err="1"/>
              <a:t>Geweke</a:t>
            </a:r>
            <a:r>
              <a:rPr lang="en-US" altLang="en-US" sz="1800" dirty="0"/>
              <a:t>, J. 1992. Evaluating the accuracy of sampling-based approaches to the calculation of posterior moments. pp. 169-93. In: Bayesian Statistics 4 (</a:t>
            </a:r>
            <a:r>
              <a:rPr lang="en-US" altLang="en-US" sz="1800" dirty="0" err="1"/>
              <a:t>eds</a:t>
            </a:r>
            <a:r>
              <a:rPr lang="en-US" altLang="en-US" sz="1800" dirty="0"/>
              <a:t> J.M. Bernardo, J. Berger, A.P. </a:t>
            </a:r>
            <a:r>
              <a:rPr lang="en-US" altLang="en-US" sz="1800" dirty="0" err="1"/>
              <a:t>Dawid</a:t>
            </a:r>
            <a:r>
              <a:rPr lang="en-US" altLang="en-US" sz="1800" dirty="0"/>
              <a:t> and A.F.M. Smith.) Oxford University Press, Oxford.</a:t>
            </a:r>
          </a:p>
          <a:p>
            <a:pPr marL="349250" indent="-349250">
              <a:spcBef>
                <a:spcPts val="0"/>
              </a:spcBef>
              <a:buNone/>
            </a:pPr>
            <a:r>
              <a:rPr lang="en-US" sz="1800" dirty="0" err="1"/>
              <a:t>Kass</a:t>
            </a:r>
            <a:r>
              <a:rPr lang="en-US" sz="1800" dirty="0"/>
              <a:t>, R.E. and A.E. </a:t>
            </a:r>
            <a:r>
              <a:rPr lang="en-US" sz="1800" dirty="0" err="1"/>
              <a:t>Raftery</a:t>
            </a:r>
            <a:r>
              <a:rPr lang="en-US" sz="1800" dirty="0"/>
              <a:t>. 1995. J. Am. Statist. Assoc. 90:773-795. </a:t>
            </a:r>
          </a:p>
          <a:p>
            <a:pPr marL="349250" indent="-349250">
              <a:spcBef>
                <a:spcPts val="0"/>
              </a:spcBef>
              <a:buNone/>
            </a:pPr>
            <a:r>
              <a:rPr lang="en-US" sz="1800" dirty="0"/>
              <a:t>McAllister, M. K., &amp; </a:t>
            </a:r>
            <a:r>
              <a:rPr lang="en-US" sz="1800" dirty="0" err="1"/>
              <a:t>Ianelli</a:t>
            </a:r>
            <a:r>
              <a:rPr lang="en-US" sz="1800" dirty="0"/>
              <a:t>, J. N. (1997). Bayesian stock assessment using catch-age data and the sampling-importance resampling algorithm. Canadian Journal of Fisheries and Aquatic Sciences, 54(2), 284-300.</a:t>
            </a:r>
          </a:p>
          <a:p>
            <a:pPr marL="349250" indent="-349250">
              <a:spcBef>
                <a:spcPts val="0"/>
              </a:spcBef>
              <a:buNone/>
            </a:pPr>
            <a:r>
              <a:rPr lang="en-US" sz="1800" dirty="0" err="1"/>
              <a:t>Monnahan</a:t>
            </a:r>
            <a:r>
              <a:rPr lang="en-US" sz="1800" dirty="0"/>
              <a:t>, C., Thorson, J., Branch, T. 2016. Faster estimation of Bayesian models in ecology using Hamiltonian Monte Carlo. Methods in Ecology &amp; Evolution  https://</a:t>
            </a:r>
            <a:r>
              <a:rPr lang="en-US" sz="1800" dirty="0" err="1"/>
              <a:t>doi.org</a:t>
            </a:r>
            <a:r>
              <a:rPr lang="en-US" sz="1800" dirty="0"/>
              <a:t>/10.1111/2041-210X.12681</a:t>
            </a:r>
          </a:p>
          <a:p>
            <a:pPr marL="349250" indent="-349250">
              <a:spcBef>
                <a:spcPts val="0"/>
              </a:spcBef>
              <a:buNone/>
            </a:pPr>
            <a:r>
              <a:rPr lang="en-US" sz="1800" dirty="0" err="1"/>
              <a:t>Monnahan</a:t>
            </a:r>
            <a:r>
              <a:rPr lang="en-US" sz="1800" dirty="0"/>
              <a:t> C &amp; Kristensen K 2018. No-U-turn sampling for fast Bayesian inference in ADMB and TMB: Introducing the </a:t>
            </a:r>
            <a:r>
              <a:rPr lang="en-US" sz="1800" dirty="0" err="1"/>
              <a:t>adnuts</a:t>
            </a:r>
            <a:r>
              <a:rPr lang="en-US" sz="1800" dirty="0"/>
              <a:t> and </a:t>
            </a:r>
            <a:r>
              <a:rPr lang="en-US" sz="1800" dirty="0" err="1"/>
              <a:t>tmbstan</a:t>
            </a:r>
            <a:r>
              <a:rPr lang="en-US" sz="1800" dirty="0"/>
              <a:t> R packages. PLOS One. https://</a:t>
            </a:r>
            <a:r>
              <a:rPr lang="en-US" sz="1800" dirty="0" err="1"/>
              <a:t>doi.org</a:t>
            </a:r>
            <a:r>
              <a:rPr lang="en-US" sz="1800" dirty="0"/>
              <a:t>/10.1371/journal.pone.0197954 </a:t>
            </a:r>
          </a:p>
          <a:p>
            <a:pPr marL="349250" indent="-349250">
              <a:spcBef>
                <a:spcPts val="0"/>
              </a:spcBef>
              <a:buNone/>
            </a:pPr>
            <a:r>
              <a:rPr lang="en-US" sz="1800" dirty="0"/>
              <a:t>Poole, D., Givens, G.H. and A.E. </a:t>
            </a:r>
            <a:r>
              <a:rPr lang="en-US" sz="1800" dirty="0" err="1"/>
              <a:t>Raftery</a:t>
            </a:r>
            <a:r>
              <a:rPr lang="en-US" sz="1800" dirty="0"/>
              <a:t>. 1999. Fish. Bull US. 97:144-152. </a:t>
            </a:r>
          </a:p>
          <a:p>
            <a:pPr marL="349250" indent="-349250">
              <a:spcBef>
                <a:spcPts val="0"/>
              </a:spcBef>
              <a:buNone/>
            </a:pPr>
            <a:r>
              <a:rPr lang="en-US" sz="1800" dirty="0"/>
              <a:t>Walters, C.[J.] and Ludwig, D. (1994) Calculation of Bayes posterior probability distributions for key population parameters. Can. J. Fish. </a:t>
            </a:r>
            <a:r>
              <a:rPr lang="en-US" sz="1800" dirty="0" err="1"/>
              <a:t>Aquat</a:t>
            </a:r>
            <a:r>
              <a:rPr lang="en-US" sz="1800" dirty="0"/>
              <a:t>. Sci. 51, 713-722.</a:t>
            </a:r>
          </a:p>
        </p:txBody>
      </p:sp>
    </p:spTree>
    <p:extLst>
      <p:ext uri="{BB962C8B-B14F-4D97-AF65-F5344CB8AC3E}">
        <p14:creationId xmlns:p14="http://schemas.microsoft.com/office/powerpoint/2010/main" val="510767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0206"/>
            <a:ext cx="8229600" cy="688359"/>
          </a:xfrm>
        </p:spPr>
        <p:txBody>
          <a:bodyPr>
            <a:normAutofit/>
          </a:bodyPr>
          <a:lstStyle/>
          <a:p>
            <a:r>
              <a:rPr lang="en-US" dirty="0"/>
              <a:t>And of course, there’s an </a:t>
            </a:r>
            <a:r>
              <a:rPr lang="en-US" dirty="0" err="1"/>
              <a:t>xkcd</a:t>
            </a:r>
            <a:r>
              <a:rPr lang="en-US" dirty="0"/>
              <a:t> for that…</a:t>
            </a:r>
          </a:p>
        </p:txBody>
      </p:sp>
      <p:sp>
        <p:nvSpPr>
          <p:cNvPr id="3" name="Content Placeholder 2"/>
          <p:cNvSpPr>
            <a:spLocks noGrp="1"/>
          </p:cNvSpPr>
          <p:nvPr>
            <p:ph idx="1"/>
          </p:nvPr>
        </p:nvSpPr>
        <p:spPr>
          <a:xfrm>
            <a:off x="457200" y="3027426"/>
            <a:ext cx="8229600" cy="5588417"/>
          </a:xfrm>
        </p:spPr>
        <p:txBody>
          <a:bodyPr/>
          <a:lstStyle/>
          <a:p>
            <a:pPr marL="0" indent="0">
              <a:buNone/>
            </a:pPr>
            <a:r>
              <a:rPr lang="en-US" i="1" dirty="0"/>
              <a:t>https://xkcd.com/1132/</a:t>
            </a:r>
            <a:endParaRPr lang="en-US" dirty="0"/>
          </a:p>
          <a:p>
            <a:endParaRPr lang="en-US" dirty="0"/>
          </a:p>
        </p:txBody>
      </p:sp>
      <p:pic>
        <p:nvPicPr>
          <p:cNvPr id="5" name="Picture 2" descr="http://imgs.xkcd.com/comics/frequentists_vs_bayesians.png"/>
          <p:cNvPicPr>
            <a:picLocks noChangeAspect="1" noChangeArrowheads="1"/>
          </p:cNvPicPr>
          <p:nvPr/>
        </p:nvPicPr>
        <p:blipFill rotWithShape="1">
          <a:blip r:embed="rId2">
            <a:extLst>
              <a:ext uri="{28A0092B-C50C-407E-A947-70E740481C1C}">
                <a14:useLocalDpi xmlns:a14="http://schemas.microsoft.com/office/drawing/2010/main" val="0"/>
              </a:ext>
            </a:extLst>
          </a:blip>
          <a:srcRect b="41960"/>
          <a:stretch/>
        </p:blipFill>
        <p:spPr bwMode="auto">
          <a:xfrm>
            <a:off x="656025" y="3956741"/>
            <a:ext cx="3223783" cy="2834640"/>
          </a:xfrm>
          <a:prstGeom prst="rect">
            <a:avLst/>
          </a:prstGeom>
          <a:noFill/>
          <a:extLst>
            <a:ext uri="{909E8E84-426E-40dd-AFC4-6F175D3DCCD1}">
              <a14:hiddenFill xmlns:a14="http://schemas.microsoft.com/office/drawing/2010/main" xmlns="">
                <a:solidFill>
                  <a:srgbClr val="FFFFFF"/>
                </a:solidFill>
              </a14:hiddenFill>
            </a:ext>
          </a:extLst>
        </p:spPr>
      </p:pic>
      <p:pic>
        <p:nvPicPr>
          <p:cNvPr id="161794" name="Picture 2" descr="http://imgs.xkcd.com/comics/frequentists_vs_bayesians.png"/>
          <p:cNvPicPr>
            <a:picLocks noChangeAspect="1" noChangeArrowheads="1"/>
          </p:cNvPicPr>
          <p:nvPr/>
        </p:nvPicPr>
        <p:blipFill rotWithShape="1">
          <a:blip r:embed="rId2">
            <a:extLst>
              <a:ext uri="{28A0092B-C50C-407E-A947-70E740481C1C}">
                <a14:useLocalDpi xmlns:a14="http://schemas.microsoft.com/office/drawing/2010/main" val="0"/>
              </a:ext>
            </a:extLst>
          </a:blip>
          <a:srcRect t="58068"/>
          <a:stretch/>
        </p:blipFill>
        <p:spPr bwMode="auto">
          <a:xfrm>
            <a:off x="3492696" y="4070480"/>
            <a:ext cx="4241251" cy="2694267"/>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itle 1"/>
          <p:cNvSpPr txBox="1">
            <a:spLocks/>
          </p:cNvSpPr>
          <p:nvPr/>
        </p:nvSpPr>
        <p:spPr>
          <a:xfrm>
            <a:off x="457200" y="521012"/>
            <a:ext cx="8229600" cy="688359"/>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stStyle>
          <a:p>
            <a:r>
              <a:rPr lang="en-US" dirty="0"/>
              <a:t>Questions?</a:t>
            </a:r>
          </a:p>
        </p:txBody>
      </p:sp>
      <p:pic>
        <p:nvPicPr>
          <p:cNvPr id="7" name="Picture 6"/>
          <p:cNvPicPr>
            <a:picLocks noChangeAspect="1"/>
          </p:cNvPicPr>
          <p:nvPr/>
        </p:nvPicPr>
        <p:blipFill>
          <a:blip r:embed="rId3"/>
          <a:stretch>
            <a:fillRect/>
          </a:stretch>
        </p:blipFill>
        <p:spPr>
          <a:xfrm>
            <a:off x="925512" y="1209371"/>
            <a:ext cx="7038975" cy="1057275"/>
          </a:xfrm>
          <a:prstGeom prst="rect">
            <a:avLst/>
          </a:prstGeom>
        </p:spPr>
      </p:pic>
    </p:spTree>
    <p:extLst>
      <p:ext uri="{BB962C8B-B14F-4D97-AF65-F5344CB8AC3E}">
        <p14:creationId xmlns:p14="http://schemas.microsoft.com/office/powerpoint/2010/main" val="11032469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6631-F29C-DA94-BCB5-90AB02FAFACC}"/>
              </a:ext>
            </a:extLst>
          </p:cNvPr>
          <p:cNvSpPr>
            <a:spLocks noGrp="1"/>
          </p:cNvSpPr>
          <p:nvPr>
            <p:ph type="title"/>
          </p:nvPr>
        </p:nvSpPr>
        <p:spPr/>
        <p:txBody>
          <a:bodyPr/>
          <a:lstStyle/>
          <a:p>
            <a:r>
              <a:rPr lang="en-US" dirty="0"/>
              <a:t>Bayesian estimation with TMB: </a:t>
            </a:r>
            <a:r>
              <a:rPr lang="en-US" dirty="0" err="1"/>
              <a:t>tmbstan</a:t>
            </a:r>
            <a:endParaRPr lang="en-US" dirty="0"/>
          </a:p>
        </p:txBody>
      </p:sp>
      <p:sp>
        <p:nvSpPr>
          <p:cNvPr id="3" name="Content Placeholder 2">
            <a:extLst>
              <a:ext uri="{FF2B5EF4-FFF2-40B4-BE49-F238E27FC236}">
                <a16:creationId xmlns:a16="http://schemas.microsoft.com/office/drawing/2014/main" id="{2660A56D-F125-733D-8866-DAC815432044}"/>
              </a:ext>
            </a:extLst>
          </p:cNvPr>
          <p:cNvSpPr>
            <a:spLocks noGrp="1"/>
          </p:cNvSpPr>
          <p:nvPr>
            <p:ph idx="1"/>
          </p:nvPr>
        </p:nvSpPr>
        <p:spPr>
          <a:xfrm>
            <a:off x="457200" y="3008352"/>
            <a:ext cx="8229600" cy="3631935"/>
          </a:xfrm>
        </p:spPr>
        <p:txBody>
          <a:bodyPr/>
          <a:lstStyle/>
          <a:p>
            <a:r>
              <a:rPr lang="en-US" dirty="0"/>
              <a:t>Use </a:t>
            </a:r>
            <a:r>
              <a:rPr lang="en-US" dirty="0" err="1"/>
              <a:t>tmbstan</a:t>
            </a:r>
            <a:r>
              <a:rPr lang="en-US" dirty="0"/>
              <a:t>() function</a:t>
            </a:r>
          </a:p>
          <a:p>
            <a:r>
              <a:rPr lang="en-US" dirty="0"/>
              <a:t>Does MCMC sampling on our model parameters and random effects</a:t>
            </a:r>
          </a:p>
          <a:p>
            <a:pPr lvl="1"/>
            <a:r>
              <a:rPr lang="en-US" dirty="0"/>
              <a:t>Can use TMB INLA to integrate random effects</a:t>
            </a:r>
          </a:p>
          <a:p>
            <a:r>
              <a:rPr lang="en-US" dirty="0"/>
              <a:t>Need to add priors to our TMB model</a:t>
            </a:r>
          </a:p>
          <a:p>
            <a:r>
              <a:rPr lang="en-US" dirty="0"/>
              <a:t>Linear regression example</a:t>
            </a:r>
          </a:p>
          <a:p>
            <a:endParaRPr lang="en-US" dirty="0"/>
          </a:p>
        </p:txBody>
      </p:sp>
      <p:pic>
        <p:nvPicPr>
          <p:cNvPr id="4" name="Picture 3">
            <a:extLst>
              <a:ext uri="{FF2B5EF4-FFF2-40B4-BE49-F238E27FC236}">
                <a16:creationId xmlns:a16="http://schemas.microsoft.com/office/drawing/2014/main" id="{A68A0ADA-8B75-7CE3-B525-F5B8A87138D8}"/>
              </a:ext>
            </a:extLst>
          </p:cNvPr>
          <p:cNvPicPr>
            <a:picLocks noChangeAspect="1"/>
          </p:cNvPicPr>
          <p:nvPr/>
        </p:nvPicPr>
        <p:blipFill>
          <a:blip r:embed="rId2"/>
          <a:stretch>
            <a:fillRect/>
          </a:stretch>
        </p:blipFill>
        <p:spPr>
          <a:xfrm>
            <a:off x="2474843" y="1065122"/>
            <a:ext cx="4880113" cy="1776894"/>
          </a:xfrm>
          <a:prstGeom prst="rect">
            <a:avLst/>
          </a:prstGeom>
        </p:spPr>
      </p:pic>
    </p:spTree>
    <p:extLst>
      <p:ext uri="{BB962C8B-B14F-4D97-AF65-F5344CB8AC3E}">
        <p14:creationId xmlns:p14="http://schemas.microsoft.com/office/powerpoint/2010/main" val="2510512607"/>
      </p:ext>
    </p:extLst>
  </p:cSld>
  <p:clrMapOvr>
    <a:masterClrMapping/>
  </p:clrMapOvr>
</p:sld>
</file>

<file path=ppt/theme/theme1.xml><?xml version="1.0" encoding="utf-8"?>
<a:theme xmlns:a="http://schemas.openxmlformats.org/drawingml/2006/main" name="NOAA Divider Slides">
  <a:themeElements>
    <a:clrScheme name="Custom 11">
      <a:dk1>
        <a:sysClr val="windowText" lastClr="000000"/>
      </a:dk1>
      <a:lt1>
        <a:sysClr val="window" lastClr="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NOAA Title Options">
  <a:themeElements>
    <a:clrScheme name="Custom 11">
      <a:dk1>
        <a:sysClr val="windowText" lastClr="000000"/>
      </a:dk1>
      <a:lt1>
        <a:sysClr val="window" lastClr="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GFAY_Cust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noaa_fisheries_presentation_template_final</Template>
  <TotalTime>10464</TotalTime>
  <Words>2849</Words>
  <Application>Microsoft Macintosh PowerPoint</Application>
  <PresentationFormat>On-screen Show (4:3)</PresentationFormat>
  <Paragraphs>290</Paragraphs>
  <Slides>40</Slides>
  <Notes>10</Notes>
  <HiddenSlides>6</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40</vt:i4>
      </vt:variant>
    </vt:vector>
  </HeadingPairs>
  <TitlesOfParts>
    <vt:vector size="51" baseType="lpstr">
      <vt:lpstr>Arial</vt:lpstr>
      <vt:lpstr>Arial Narrow</vt:lpstr>
      <vt:lpstr>Calibri</vt:lpstr>
      <vt:lpstr>Cambria Math</vt:lpstr>
      <vt:lpstr>Symbol</vt:lpstr>
      <vt:lpstr>Tahoma</vt:lpstr>
      <vt:lpstr>Wingdings</vt:lpstr>
      <vt:lpstr>NOAA Divider Slides</vt:lpstr>
      <vt:lpstr>NOAA Title Options</vt:lpstr>
      <vt:lpstr>GFAY_Custom</vt:lpstr>
      <vt:lpstr>Equation</vt:lpstr>
      <vt:lpstr>MAR 580: Advanced Population Modeling for Management of Living Marine Resources</vt:lpstr>
      <vt:lpstr>Outline</vt:lpstr>
      <vt:lpstr>PowerPoint Presentation</vt:lpstr>
      <vt:lpstr>Decision Analysis</vt:lpstr>
      <vt:lpstr>Frequentists vs Bayesians</vt:lpstr>
      <vt:lpstr>Confidence Intervals</vt:lpstr>
      <vt:lpstr>Thomas Bayes (1701-1761)</vt:lpstr>
      <vt:lpstr>Rise of the Bayesians</vt:lpstr>
      <vt:lpstr>Bayes’ Rule</vt:lpstr>
      <vt:lpstr>Conditional Probability and Bayes’ rule</vt:lpstr>
      <vt:lpstr>Bayesian estimation</vt:lpstr>
      <vt:lpstr>Like a Bayesian (Priors for the very first time)</vt:lpstr>
      <vt:lpstr>Example 2: Conjugate priors</vt:lpstr>
      <vt:lpstr>PowerPoint Presentation</vt:lpstr>
      <vt:lpstr>Example 2: Conjugate priors</vt:lpstr>
      <vt:lpstr>Assigning Probabilities to Models, Bayes Factors</vt:lpstr>
      <vt:lpstr>Assigning Probabilities to Models (DIC)</vt:lpstr>
      <vt:lpstr>Assigning Probabilities (Alternative approaches)</vt:lpstr>
      <vt:lpstr>Priors</vt:lpstr>
      <vt:lpstr>Numerical methods for Bayesian inference</vt:lpstr>
      <vt:lpstr>Markov Chain Monte Carlo (MCMC)</vt:lpstr>
      <vt:lpstr>PowerPoint Presentation</vt:lpstr>
      <vt:lpstr>MCMC algorithm overview</vt:lpstr>
      <vt:lpstr>MCMC algorithm</vt:lpstr>
      <vt:lpstr>MCMC algorithm: run for N cycles</vt:lpstr>
      <vt:lpstr>Proposal distribution (Jump function)</vt:lpstr>
      <vt:lpstr>“Burn-in” and “Thinning”</vt:lpstr>
      <vt:lpstr>MCMC and convergence</vt:lpstr>
      <vt:lpstr>Categorizing Convergence Diagnostics</vt:lpstr>
      <vt:lpstr>MCMC diagnostics (what to keep track of during a run)</vt:lpstr>
      <vt:lpstr>Visual Methods</vt:lpstr>
      <vt:lpstr>Numerical Statistics</vt:lpstr>
      <vt:lpstr>The CODA Package</vt:lpstr>
      <vt:lpstr>Software for Bayesian inference</vt:lpstr>
      <vt:lpstr>Tricks of the (MCMC) trade</vt:lpstr>
      <vt:lpstr>Recommended textbook reading</vt:lpstr>
      <vt:lpstr>Lighter reading</vt:lpstr>
      <vt:lpstr>Readings:</vt:lpstr>
      <vt:lpstr>And of course, there’s an xkcd for that…</vt:lpstr>
      <vt:lpstr>Bayesian estimation with TMB: tmbstan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mar530:EBFM Lecture 1</dc:title>
  <dc:subject>Introduction, Course Mechanics, What is EBFM?</dc:subject>
  <dc:creator>Gavin Fay</dc:creator>
  <cp:keywords/>
  <dc:description/>
  <cp:lastModifiedBy>Gavin Fay</cp:lastModifiedBy>
  <cp:revision>692</cp:revision>
  <dcterms:created xsi:type="dcterms:W3CDTF">2014-06-04T00:44:42Z</dcterms:created>
  <dcterms:modified xsi:type="dcterms:W3CDTF">2025-11-20T18:20:11Z</dcterms:modified>
  <cp:category/>
</cp:coreProperties>
</file>