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  <p:sldMasterId id="2147483662" r:id="rId2"/>
    <p:sldMasterId id="2147483688" r:id="rId3"/>
  </p:sldMasterIdLst>
  <p:notesMasterIdLst>
    <p:notesMasterId r:id="rId52"/>
  </p:notesMasterIdLst>
  <p:handoutMasterIdLst>
    <p:handoutMasterId r:id="rId53"/>
  </p:handoutMasterIdLst>
  <p:sldIdLst>
    <p:sldId id="326" r:id="rId4"/>
    <p:sldId id="780" r:id="rId5"/>
    <p:sldId id="760" r:id="rId6"/>
    <p:sldId id="781" r:id="rId7"/>
    <p:sldId id="744" r:id="rId8"/>
    <p:sldId id="745" r:id="rId9"/>
    <p:sldId id="610" r:id="rId10"/>
    <p:sldId id="737" r:id="rId11"/>
    <p:sldId id="782" r:id="rId12"/>
    <p:sldId id="783" r:id="rId13"/>
    <p:sldId id="747" r:id="rId14"/>
    <p:sldId id="750" r:id="rId15"/>
    <p:sldId id="798" r:id="rId16"/>
    <p:sldId id="748" r:id="rId17"/>
    <p:sldId id="749" r:id="rId18"/>
    <p:sldId id="795" r:id="rId19"/>
    <p:sldId id="799" r:id="rId20"/>
    <p:sldId id="751" r:id="rId21"/>
    <p:sldId id="740" r:id="rId22"/>
    <p:sldId id="772" r:id="rId23"/>
    <p:sldId id="752" r:id="rId24"/>
    <p:sldId id="753" r:id="rId25"/>
    <p:sldId id="758" r:id="rId26"/>
    <p:sldId id="793" r:id="rId27"/>
    <p:sldId id="776" r:id="rId28"/>
    <p:sldId id="794" r:id="rId29"/>
    <p:sldId id="785" r:id="rId30"/>
    <p:sldId id="786" r:id="rId31"/>
    <p:sldId id="741" r:id="rId32"/>
    <p:sldId id="779" r:id="rId33"/>
    <p:sldId id="769" r:id="rId34"/>
    <p:sldId id="771" r:id="rId35"/>
    <p:sldId id="754" r:id="rId36"/>
    <p:sldId id="755" r:id="rId37"/>
    <p:sldId id="759" r:id="rId38"/>
    <p:sldId id="756" r:id="rId39"/>
    <p:sldId id="796" r:id="rId40"/>
    <p:sldId id="757" r:id="rId41"/>
    <p:sldId id="743" r:id="rId42"/>
    <p:sldId id="767" r:id="rId43"/>
    <p:sldId id="797" r:id="rId44"/>
    <p:sldId id="792" r:id="rId45"/>
    <p:sldId id="763" r:id="rId46"/>
    <p:sldId id="764" r:id="rId47"/>
    <p:sldId id="746" r:id="rId48"/>
    <p:sldId id="784" r:id="rId49"/>
    <p:sldId id="718" r:id="rId50"/>
    <p:sldId id="788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orient="horz" pos="758">
          <p15:clr>
            <a:srgbClr val="A4A3A4"/>
          </p15:clr>
        </p15:guide>
        <p15:guide id="3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E5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2" autoAdjust="0"/>
    <p:restoredTop sz="99834" autoAdjust="0"/>
  </p:normalViewPr>
  <p:slideViewPr>
    <p:cSldViewPr snapToGrid="0" snapToObjects="1">
      <p:cViewPr varScale="1">
        <p:scale>
          <a:sx n="114" d="100"/>
          <a:sy n="114" d="100"/>
        </p:scale>
        <p:origin x="184" y="224"/>
      </p:cViewPr>
      <p:guideLst>
        <p:guide orient="horz" pos="1885"/>
        <p:guide orient="horz" pos="758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5BF4A-9CB1-5747-B319-707DA98CEC20}" type="datetime1">
              <a:rPr lang="en-US" smtClean="0"/>
              <a:pPr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2459-1A81-CA4B-89BB-FCE38A3AE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3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C7567-D5EA-874F-8815-73DC5E77631E}" type="datetime1">
              <a:rPr lang="en-US" smtClean="0"/>
              <a:pPr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C0E-7DBF-7C4A-B104-25FE08E3BB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34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DCC0E-7DBF-7C4A-B104-25FE08E3BB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6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D34939F-C244-9C4D-9C50-604AFD2CA801}" type="slidenum">
              <a:rPr lang="en-US"/>
              <a:pPr eaLnBrk="1" hangingPunct="1"/>
              <a:t>9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6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" y="-24487"/>
            <a:ext cx="9138586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169"/>
            <a:ext cx="82296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22"/>
            <a:ext cx="82296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4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9068" y="-30696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200"/>
            <a:ext cx="82296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53"/>
            <a:ext cx="82296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3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oa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5532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Tur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04455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eafoo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81763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ish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05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-9190" y="4417160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01988" y="3360605"/>
            <a:ext cx="5484812" cy="1224439"/>
          </a:xfrm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umasslogo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85" y="5658757"/>
            <a:ext cx="4953000" cy="1270000"/>
          </a:xfrm>
          <a:prstGeom prst="rect">
            <a:avLst/>
          </a:prstGeom>
        </p:spPr>
      </p:pic>
      <p:pic>
        <p:nvPicPr>
          <p:cNvPr id="12" name="Picture 11" descr="smast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01682" y="1613384"/>
            <a:ext cx="5485118" cy="139847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18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68835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58841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924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63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14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0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25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9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25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0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58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6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8" r:id="rId6"/>
  </p:sldLayoutIdLst>
  <p:hf hdr="0"/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1CB0-951D-8740-94E3-4A6F7DDA25E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39/cjfas-2015-0339" TargetMode="External"/><Relationship Id="rId2" Type="http://schemas.openxmlformats.org/officeDocument/2006/relationships/hyperlink" Target="https://doi.org/10.1111/fog.12236" TargetMode="Externa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11/1365-2664.13515" TargetMode="Externa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201988" y="3487606"/>
            <a:ext cx="5484812" cy="2517681"/>
          </a:xfrm>
        </p:spPr>
        <p:txBody>
          <a:bodyPr>
            <a:normAutofit/>
          </a:bodyPr>
          <a:lstStyle/>
          <a:p>
            <a:r>
              <a:rPr lang="en-US" sz="2800" b="1" dirty="0"/>
              <a:t>Including covariates in stock assessment models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01988" y="1431963"/>
            <a:ext cx="5485118" cy="1398472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MAR 580: Advanced Population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769" y="6295575"/>
            <a:ext cx="362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18 November 2025</a:t>
            </a:r>
          </a:p>
        </p:txBody>
      </p:sp>
    </p:spTree>
    <p:extLst>
      <p:ext uri="{BB962C8B-B14F-4D97-AF65-F5344CB8AC3E}">
        <p14:creationId xmlns:p14="http://schemas.microsoft.com/office/powerpoint/2010/main" val="89033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Including ecosystem covariates in stock assessment models</a:t>
            </a:r>
          </a:p>
          <a:p>
            <a:pPr lvl="1"/>
            <a:r>
              <a:rPr lang="en-US" dirty="0"/>
              <a:t>Approaches</a:t>
            </a:r>
          </a:p>
          <a:p>
            <a:pPr lvl="1"/>
            <a:r>
              <a:rPr lang="en-US" dirty="0"/>
              <a:t>Processes of interest:</a:t>
            </a:r>
            <a:br>
              <a:rPr lang="en-US" dirty="0"/>
            </a:br>
            <a:r>
              <a:rPr lang="en-US" dirty="0"/>
              <a:t>	Recruitment, Mortality, Growth, </a:t>
            </a:r>
            <a:r>
              <a:rPr lang="en-US" dirty="0" err="1"/>
              <a:t>Catchability</a:t>
            </a:r>
            <a:endParaRPr lang="en-US" dirty="0"/>
          </a:p>
          <a:p>
            <a:r>
              <a:rPr lang="en-US" dirty="0"/>
              <a:t>Do we already have this covered?</a:t>
            </a:r>
          </a:p>
          <a:p>
            <a:pPr lvl="1"/>
            <a:r>
              <a:rPr lang="en-US" dirty="0"/>
              <a:t>Time-varying parameters in stock assessments</a:t>
            </a:r>
          </a:p>
          <a:p>
            <a:r>
              <a:rPr lang="en-US" dirty="0"/>
              <a:t>Challenges with reference points</a:t>
            </a:r>
          </a:p>
          <a:p>
            <a:r>
              <a:rPr lang="en-US" dirty="0"/>
              <a:t>Exercise / example</a:t>
            </a:r>
          </a:p>
          <a:p>
            <a:pPr lvl="1"/>
            <a:r>
              <a:rPr lang="en-US" dirty="0"/>
              <a:t>Dynamic reference points for Atlantic herring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6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800"/>
            <a:ext cx="9144000" cy="44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4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582" y="183923"/>
            <a:ext cx="8708446" cy="688359"/>
          </a:xfrm>
        </p:spPr>
        <p:txBody>
          <a:bodyPr>
            <a:noAutofit/>
          </a:bodyPr>
          <a:lstStyle/>
          <a:p>
            <a:r>
              <a:rPr lang="en-US" dirty="0"/>
              <a:t>Ecosystem processes in single 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Ecosystem Approach to Fisheries Management</a:t>
            </a:r>
          </a:p>
          <a:p>
            <a:r>
              <a:rPr lang="en-US" dirty="0"/>
              <a:t>Terms in literature.</a:t>
            </a:r>
          </a:p>
          <a:p>
            <a:pPr lvl="1"/>
            <a:r>
              <a:rPr lang="en-US" dirty="0"/>
              <a:t>Extended stock assessment models</a:t>
            </a:r>
          </a:p>
          <a:p>
            <a:pPr lvl="1"/>
            <a:r>
              <a:rPr lang="en-US" dirty="0"/>
              <a:t>Assessment models with covariates</a:t>
            </a:r>
          </a:p>
          <a:p>
            <a:pPr lvl="1"/>
            <a:r>
              <a:rPr lang="en-US" dirty="0"/>
              <a:t>Single-species add-ons</a:t>
            </a:r>
          </a:p>
          <a:p>
            <a:r>
              <a:rPr lang="en-US" dirty="0"/>
              <a:t>Almost a false categorization, lots of assessments have been considering ecosystem variables for some time.</a:t>
            </a:r>
          </a:p>
          <a:p>
            <a:pPr lvl="1"/>
            <a:r>
              <a:rPr lang="en-US" dirty="0"/>
              <a:t>Frequently part of sensitivity tests and model diagnostic checks</a:t>
            </a:r>
          </a:p>
          <a:p>
            <a:pPr lvl="1"/>
            <a:r>
              <a:rPr lang="en-US" dirty="0"/>
              <a:t>e.g. do we have information that explains apparent changes in recruitment, surplus production, mortality, etc.?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rcRect l="-10484" r="-10484"/>
          <a:stretch>
            <a:fillRect/>
          </a:stretch>
        </p:blipFill>
        <p:spPr>
          <a:xfrm>
            <a:off x="205582" y="1556345"/>
            <a:ext cx="8576174" cy="582332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ounded Rectangle 4"/>
          <p:cNvSpPr/>
          <p:nvPr/>
        </p:nvSpPr>
        <p:spPr>
          <a:xfrm>
            <a:off x="985172" y="4878645"/>
            <a:ext cx="7003031" cy="1281981"/>
          </a:xfrm>
          <a:prstGeom prst="roundRect">
            <a:avLst/>
          </a:prstGeom>
          <a:noFill/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79BAA-7201-B104-F93F-C9D781284B56}"/>
              </a:ext>
            </a:extLst>
          </p:cNvPr>
          <p:cNvSpPr txBox="1"/>
          <p:nvPr/>
        </p:nvSpPr>
        <p:spPr>
          <a:xfrm>
            <a:off x="7867356" y="6526601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Dolan et al. 2016</a:t>
            </a:r>
          </a:p>
        </p:txBody>
      </p:sp>
    </p:spTree>
    <p:extLst>
      <p:ext uri="{BB962C8B-B14F-4D97-AF65-F5344CB8AC3E}">
        <p14:creationId xmlns:p14="http://schemas.microsoft.com/office/powerpoint/2010/main" val="391460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21" y="183923"/>
            <a:ext cx="8700376" cy="688359"/>
          </a:xfrm>
        </p:spPr>
        <p:txBody>
          <a:bodyPr>
            <a:noAutofit/>
          </a:bodyPr>
          <a:lstStyle/>
          <a:p>
            <a:r>
              <a:rPr lang="en-US" dirty="0"/>
              <a:t>Ecosystem processes in single 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Ecosystem Approach to Fisheries Management</a:t>
            </a:r>
          </a:p>
          <a:p>
            <a:r>
              <a:rPr lang="en-US" dirty="0"/>
              <a:t>Terms in literature:</a:t>
            </a:r>
          </a:p>
          <a:p>
            <a:pPr lvl="1"/>
            <a:r>
              <a:rPr lang="en-US" dirty="0"/>
              <a:t>Extended stock assessment models</a:t>
            </a:r>
          </a:p>
          <a:p>
            <a:pPr lvl="1"/>
            <a:r>
              <a:rPr lang="en-US" dirty="0"/>
              <a:t>Assessment models with covariates</a:t>
            </a:r>
          </a:p>
          <a:p>
            <a:pPr lvl="1"/>
            <a:r>
              <a:rPr lang="en-US" dirty="0"/>
              <a:t>Single-species add-ons</a:t>
            </a:r>
          </a:p>
          <a:p>
            <a:r>
              <a:rPr lang="en-US" dirty="0"/>
              <a:t>Almost a false categorization, lots of assessments have been considering ecosystem variables for some time.</a:t>
            </a:r>
          </a:p>
          <a:p>
            <a:pPr lvl="1"/>
            <a:r>
              <a:rPr lang="en-US" dirty="0"/>
              <a:t>Frequently part of sensitivity tests and model diagnostic checks</a:t>
            </a:r>
          </a:p>
          <a:p>
            <a:pPr marL="457200" lvl="1" indent="0">
              <a:buNone/>
            </a:pPr>
            <a:r>
              <a:rPr lang="en-US" dirty="0"/>
              <a:t>e.g. is there information that explains apparent changes in recruitment, surplus production, mortality, etc.?</a:t>
            </a:r>
          </a:p>
        </p:txBody>
      </p:sp>
    </p:spTree>
    <p:extLst>
      <p:ext uri="{BB962C8B-B14F-4D97-AF65-F5344CB8AC3E}">
        <p14:creationId xmlns:p14="http://schemas.microsoft.com/office/powerpoint/2010/main" val="330321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Including environmental variables</a:t>
            </a:r>
          </a:p>
          <a:p>
            <a:r>
              <a:rPr lang="en-US" dirty="0"/>
              <a:t>Effectively, including ‘ecosystem’ variables is saying you are willing to accept that population processes change over time / life history stage.</a:t>
            </a:r>
          </a:p>
          <a:p>
            <a:r>
              <a:rPr lang="en-US" dirty="0"/>
              <a:t>Time-varying parameters</a:t>
            </a:r>
          </a:p>
          <a:p>
            <a:r>
              <a:rPr lang="en-US" dirty="0"/>
              <a:t>The Question is how you implement this.</a:t>
            </a:r>
          </a:p>
        </p:txBody>
      </p:sp>
    </p:spTree>
    <p:extLst>
      <p:ext uri="{BB962C8B-B14F-4D97-AF65-F5344CB8AC3E}">
        <p14:creationId xmlns:p14="http://schemas.microsoft.com/office/powerpoint/2010/main" val="203992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Index-based methods</a:t>
            </a:r>
          </a:p>
          <a:p>
            <a:r>
              <a:rPr lang="en-US" dirty="0"/>
              <a:t>Equilibrium &amp; Generation methods</a:t>
            </a:r>
          </a:p>
          <a:p>
            <a:pPr lvl="1"/>
            <a:r>
              <a:rPr lang="en-US" dirty="0"/>
              <a:t>Yield-Per-Recruit / Stock-Recruitment</a:t>
            </a:r>
          </a:p>
          <a:p>
            <a:r>
              <a:rPr lang="en-US" dirty="0"/>
              <a:t>Population dynamics models</a:t>
            </a:r>
          </a:p>
          <a:p>
            <a:pPr lvl="1"/>
            <a:r>
              <a:rPr lang="en-US" dirty="0"/>
              <a:t>Biomass aggregated models</a:t>
            </a:r>
          </a:p>
          <a:p>
            <a:pPr lvl="2"/>
            <a:r>
              <a:rPr lang="en-US" dirty="0"/>
              <a:t>e.g. production models</a:t>
            </a:r>
          </a:p>
          <a:p>
            <a:pPr lvl="1"/>
            <a:r>
              <a:rPr lang="en-US" dirty="0"/>
              <a:t>Stage-Structured models</a:t>
            </a:r>
          </a:p>
          <a:p>
            <a:pPr lvl="2"/>
            <a:r>
              <a:rPr lang="en-US" dirty="0"/>
              <a:t>Delay difference models</a:t>
            </a:r>
          </a:p>
          <a:p>
            <a:pPr lvl="2"/>
            <a:r>
              <a:rPr lang="en-US" dirty="0"/>
              <a:t>Age structured models</a:t>
            </a:r>
          </a:p>
          <a:p>
            <a:pPr lvl="3"/>
            <a:r>
              <a:rPr lang="en-US" dirty="0"/>
              <a:t>virtual population analysis, statistical catch-at-age</a:t>
            </a:r>
          </a:p>
          <a:p>
            <a:pPr lvl="2"/>
            <a:r>
              <a:rPr lang="en-US" dirty="0"/>
              <a:t>Size-based models</a:t>
            </a:r>
          </a:p>
        </p:txBody>
      </p:sp>
    </p:spTree>
    <p:extLst>
      <p:ext uri="{BB962C8B-B14F-4D97-AF65-F5344CB8AC3E}">
        <p14:creationId xmlns:p14="http://schemas.microsoft.com/office/powerpoint/2010/main" val="229003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Extended Single Species Models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these models can be expanded to include ecosystem processes.</a:t>
            </a:r>
          </a:p>
          <a:p>
            <a:r>
              <a:rPr lang="en-US" dirty="0"/>
              <a:t>e.g. adding in predation: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Z = F + M</a:t>
            </a:r>
          </a:p>
          <a:p>
            <a:pPr marL="0" indent="0">
              <a:buNone/>
            </a:pPr>
            <a:r>
              <a:rPr lang="en-US" i="1" dirty="0"/>
              <a:t>	Z = F + M1 + M2 + ….</a:t>
            </a:r>
          </a:p>
          <a:p>
            <a:pPr marL="0" indent="0">
              <a:buNone/>
            </a:pPr>
            <a:r>
              <a:rPr lang="en-US" dirty="0"/>
              <a:t>	Predation treated as another “fleet”</a:t>
            </a:r>
          </a:p>
          <a:p>
            <a:r>
              <a:rPr lang="en-US" dirty="0"/>
              <a:t>adding in other effects:</a:t>
            </a:r>
          </a:p>
          <a:p>
            <a:pPr lvl="1"/>
            <a:r>
              <a:rPr lang="en-US" dirty="0"/>
              <a:t>Stock-recruitment relationship</a:t>
            </a:r>
          </a:p>
          <a:p>
            <a:pPr lvl="1"/>
            <a:r>
              <a:rPr lang="en-US" dirty="0"/>
              <a:t>Productivity</a:t>
            </a:r>
          </a:p>
          <a:p>
            <a:pPr lvl="1"/>
            <a:r>
              <a:rPr lang="en-US" dirty="0"/>
              <a:t>Model covariates on life history parameters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7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3923"/>
            <a:ext cx="8229600" cy="15728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900" dirty="0">
                <a:ea typeface="+mj-ea"/>
              </a:rPr>
              <a:t>Modifying the Graham-Schaefer production model (logistic growth)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865806"/>
              </p:ext>
            </p:extLst>
          </p:nvPr>
        </p:nvGraphicFramePr>
        <p:xfrm>
          <a:off x="1877335" y="2680578"/>
          <a:ext cx="5402263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431640" progId="Equation.3">
                  <p:embed/>
                </p:oleObj>
              </mc:Choice>
              <mc:Fallback>
                <p:oleObj name="Equation" r:id="rId3" imgW="1676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335" y="2680578"/>
                        <a:ext cx="5402263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Box 12"/>
          <p:cNvSpPr txBox="1">
            <a:spLocks noChangeArrowheads="1"/>
          </p:cNvSpPr>
          <p:nvPr/>
        </p:nvSpPr>
        <p:spPr bwMode="auto">
          <a:xfrm>
            <a:off x="2137124" y="4832507"/>
            <a:ext cx="43792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cs typeface="Calibri" charset="0"/>
              </a:rPr>
              <a:t>Make parameters time-varying or functions of environment / other species</a:t>
            </a: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156986" y="3626763"/>
            <a:ext cx="0" cy="1085714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>
            <a:off x="4961449" y="4050582"/>
            <a:ext cx="706052" cy="70485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7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the basic age-structured model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616320"/>
              </p:ext>
            </p:extLst>
          </p:nvPr>
        </p:nvGraphicFramePr>
        <p:xfrm>
          <a:off x="457200" y="1874838"/>
          <a:ext cx="8465183" cy="2977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200" imgH="1282700" progId="Equation.3">
                  <p:embed/>
                </p:oleObj>
              </mc:Choice>
              <mc:Fallback>
                <p:oleObj name="Equation" r:id="rId2" imgW="3759200" imgH="12827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874838"/>
                        <a:ext cx="8465183" cy="2977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498521" y="226720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 flipH="1">
            <a:off x="2397646" y="1768657"/>
            <a:ext cx="759653" cy="349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361531" y="1547956"/>
            <a:ext cx="25342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/>
              <a:t>Spawner</a:t>
            </a:r>
            <a:r>
              <a:rPr lang="en-US" dirty="0"/>
              <a:t>-recruit function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8422" y="5639667"/>
            <a:ext cx="43792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cs typeface="Calibri" charset="0"/>
              </a:rPr>
              <a:t>Make parameters time-varying or functions of environment / other species</a:t>
            </a: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177748" y="3572926"/>
            <a:ext cx="560536" cy="194671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3962400" y="4636725"/>
            <a:ext cx="430696" cy="88291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2100909" y="2433389"/>
            <a:ext cx="1448516" cy="31321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2100909" y="4636725"/>
            <a:ext cx="681320" cy="88291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9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approaches (1.)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dirty="0"/>
              <a:t>Modify assessment model parameters as a function of environmental variables</a:t>
            </a:r>
            <a:r>
              <a:rPr lang="en-US" sz="4000" dirty="0"/>
              <a:t> (Maunder &amp; Watters 2003).</a:t>
            </a:r>
          </a:p>
          <a:p>
            <a:endParaRPr lang="en-US" sz="4000" dirty="0"/>
          </a:p>
          <a:p>
            <a:endParaRPr lang="en-US" sz="4000" i="1" dirty="0"/>
          </a:p>
          <a:p>
            <a:endParaRPr lang="en-US" sz="4000" i="1" dirty="0"/>
          </a:p>
          <a:p>
            <a:r>
              <a:rPr lang="en-US" sz="4000" i="1" dirty="0" err="1"/>
              <a:t>I</a:t>
            </a:r>
            <a:r>
              <a:rPr lang="en-US" sz="4000" i="1" baseline="-25000" dirty="0" err="1"/>
              <a:t>i,</a:t>
            </a:r>
            <a:r>
              <a:rPr lang="en-US" sz="4000" baseline="-25000" dirty="0" err="1"/>
              <a:t>t</a:t>
            </a:r>
            <a:r>
              <a:rPr lang="en-US" sz="4000" dirty="0"/>
              <a:t> are the environmental variables influencing parameter </a:t>
            </a:r>
            <a:r>
              <a:rPr lang="en-US" sz="4000" dirty="0" err="1"/>
              <a:t>θ</a:t>
            </a:r>
            <a:r>
              <a:rPr lang="en-US" sz="4000" dirty="0"/>
              <a:t>,</a:t>
            </a:r>
          </a:p>
          <a:p>
            <a:r>
              <a:rPr lang="en-US" sz="4000" dirty="0"/>
              <a:t> β is coefficient that relates the environmental variable to the assessment parameter, </a:t>
            </a:r>
          </a:p>
          <a:p>
            <a:r>
              <a:rPr lang="en-US" sz="4000" dirty="0"/>
              <a:t> </a:t>
            </a:r>
            <a:r>
              <a:rPr lang="en-US" sz="4000" dirty="0" err="1"/>
              <a:t>ε</a:t>
            </a:r>
            <a:r>
              <a:rPr lang="en-US" sz="4000" dirty="0"/>
              <a:t> is a process error.</a:t>
            </a:r>
          </a:p>
          <a:p>
            <a:r>
              <a:rPr lang="en-US" sz="4000" dirty="0"/>
              <a:t> β’s &amp; </a:t>
            </a:r>
            <a:r>
              <a:rPr lang="en-US" sz="4000" dirty="0" err="1"/>
              <a:t>ε’s</a:t>
            </a:r>
            <a:r>
              <a:rPr lang="en-US" sz="4000" dirty="0"/>
              <a:t> would be estimated within the stock assessment.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</a:t>
            </a:r>
            <a:r>
              <a:rPr lang="en-US" sz="4000" dirty="0" err="1"/>
              <a:t>θ</a:t>
            </a:r>
            <a:r>
              <a:rPr lang="en-US" sz="4000" dirty="0"/>
              <a:t> could be any parameter (or a derived quantity, e.g. expected recruitment) that that was hypothesized to have temporal variation and be correlated with an environmental time series.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052362"/>
              </p:ext>
            </p:extLst>
          </p:nvPr>
        </p:nvGraphicFramePr>
        <p:xfrm>
          <a:off x="2779939" y="1795816"/>
          <a:ext cx="3509586" cy="102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482600" progId="Equation.3">
                  <p:embed/>
                </p:oleObj>
              </mc:Choice>
              <mc:Fallback>
                <p:oleObj name="Equation" r:id="rId2" imgW="16510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9939" y="1795816"/>
                        <a:ext cx="3509586" cy="1025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73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approaches (1.)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dirty="0"/>
              <a:t>Modify assessment model parameters as a function of environmental variables</a:t>
            </a:r>
            <a:r>
              <a:rPr lang="en-US" sz="4000" dirty="0"/>
              <a:t> (Maunder &amp; Watters 2003).</a:t>
            </a:r>
          </a:p>
          <a:p>
            <a:endParaRPr lang="en-US" sz="4000" dirty="0"/>
          </a:p>
          <a:p>
            <a:endParaRPr lang="en-US" sz="4000" i="1" dirty="0"/>
          </a:p>
          <a:p>
            <a:endParaRPr lang="en-US" sz="4000" i="1" dirty="0"/>
          </a:p>
          <a:p>
            <a:r>
              <a:rPr lang="en-US" sz="4000" i="1" dirty="0" err="1"/>
              <a:t>I</a:t>
            </a:r>
            <a:r>
              <a:rPr lang="en-US" sz="4000" i="1" baseline="-25000" dirty="0" err="1"/>
              <a:t>i,</a:t>
            </a:r>
            <a:r>
              <a:rPr lang="en-US" sz="4000" baseline="-25000" dirty="0" err="1"/>
              <a:t>t</a:t>
            </a:r>
            <a:r>
              <a:rPr lang="en-US" sz="4000" dirty="0"/>
              <a:t> are the environmental variables influencing parameter </a:t>
            </a:r>
            <a:r>
              <a:rPr lang="en-US" sz="4000" dirty="0" err="1"/>
              <a:t>θ</a:t>
            </a:r>
            <a:r>
              <a:rPr lang="en-US" sz="4000" dirty="0"/>
              <a:t>,</a:t>
            </a:r>
          </a:p>
          <a:p>
            <a:r>
              <a:rPr lang="en-US" sz="4000" dirty="0"/>
              <a:t> β is coefficient that relates the environmental variable to the assessment parameter, </a:t>
            </a:r>
          </a:p>
          <a:p>
            <a:r>
              <a:rPr lang="en-US" sz="4000" dirty="0"/>
              <a:t> </a:t>
            </a:r>
            <a:r>
              <a:rPr lang="en-US" sz="4000" dirty="0" err="1"/>
              <a:t>ε</a:t>
            </a:r>
            <a:r>
              <a:rPr lang="en-US" sz="4000" dirty="0"/>
              <a:t> is a process error.</a:t>
            </a:r>
          </a:p>
          <a:p>
            <a:r>
              <a:rPr lang="en-US" sz="4000" dirty="0"/>
              <a:t> β’s &amp; </a:t>
            </a:r>
            <a:r>
              <a:rPr lang="en-US" sz="4000" dirty="0" err="1"/>
              <a:t>ε’s</a:t>
            </a:r>
            <a:r>
              <a:rPr lang="en-US" sz="4000" dirty="0"/>
              <a:t> would be estimated within the stock assessment.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Note that setting β to 0 and estimating the </a:t>
            </a:r>
            <a:r>
              <a:rPr lang="en-US" sz="4000" dirty="0" err="1"/>
              <a:t>ε’s</a:t>
            </a:r>
            <a:r>
              <a:rPr lang="en-US" sz="4000" dirty="0"/>
              <a:t> assumes purely stochastic variation in </a:t>
            </a:r>
            <a:r>
              <a:rPr lang="en-US" sz="4000" dirty="0" err="1"/>
              <a:t>θ</a:t>
            </a:r>
            <a:r>
              <a:rPr lang="en-US" sz="4000" dirty="0"/>
              <a:t>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619759"/>
              </p:ext>
            </p:extLst>
          </p:nvPr>
        </p:nvGraphicFramePr>
        <p:xfrm>
          <a:off x="2779939" y="1795816"/>
          <a:ext cx="3509586" cy="102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482600" progId="Equation.3">
                  <p:embed/>
                </p:oleObj>
              </mc:Choice>
              <mc:Fallback>
                <p:oleObj name="Equation" r:id="rId2" imgW="16510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9939" y="1795816"/>
                        <a:ext cx="3509586" cy="1025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6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BCDC-F574-4697-F60C-4BC988B3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262"/>
            <a:ext cx="8229600" cy="688359"/>
          </a:xfrm>
        </p:spPr>
        <p:txBody>
          <a:bodyPr>
            <a:normAutofit fontScale="90000"/>
          </a:bodyPr>
          <a:lstStyle/>
          <a:p>
            <a:r>
              <a:rPr lang="en-US" dirty="0"/>
              <a:t>Choice of functional forms (see Bolker 2008 C3)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51F2A-E72D-7743-E13D-9673D6071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70" y="872282"/>
            <a:ext cx="3423424" cy="318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9073A5-9A27-20D0-F1BC-71A7B9BD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918" y="792070"/>
            <a:ext cx="3146658" cy="3261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CF044-9040-A452-9876-5B14DBCA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99" y="3889982"/>
            <a:ext cx="3384395" cy="2968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83514-A0EA-714D-026A-C20E36738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850" y="4053482"/>
            <a:ext cx="3382379" cy="308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30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e.g. Recruitment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Ricker stock-recruit relationship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Recruitment is the most common process for which environmental correlation has been modeled in fisheries.</a:t>
            </a:r>
          </a:p>
          <a:p>
            <a:r>
              <a:rPr lang="en-US" dirty="0"/>
              <a:t>The identification of correlations between environmental variables and recruitment and subsequent assessment modeling is often revisited frequently (e.g. Pacific sardine).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55" y="1578101"/>
            <a:ext cx="6772261" cy="138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63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approaches (2.)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“Environment as data”</a:t>
            </a:r>
            <a:endParaRPr lang="en-US" sz="2800" dirty="0"/>
          </a:p>
          <a:p>
            <a:r>
              <a:rPr lang="en-US" sz="2800" dirty="0"/>
              <a:t>Assume that the environmental variable is an observation ‘index’ of the state variable, treated as a survey and included in the likelihood function. (Brandon 2007)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The index is fitted to along with the rest of the assessment data - does not assume that environmental variable is measured without error.</a:t>
            </a:r>
          </a:p>
          <a:p>
            <a:r>
              <a:rPr lang="en-US" sz="2800" dirty="0"/>
              <a:t>Typically has been done with recruitment (environment treated the same as an age-0 survey). In principle could apply to any state variable.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351772"/>
              </p:ext>
            </p:extLst>
          </p:nvPr>
        </p:nvGraphicFramePr>
        <p:xfrm>
          <a:off x="3551238" y="3245753"/>
          <a:ext cx="196691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41300" progId="Equation.3">
                  <p:embed/>
                </p:oleObj>
              </mc:Choice>
              <mc:Fallback>
                <p:oleObj name="Equation" r:id="rId2" imgW="7366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51238" y="3245753"/>
                        <a:ext cx="1966912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778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approaches (3.)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“Environment as data &amp; covariate”</a:t>
            </a:r>
            <a:endParaRPr lang="en-US" sz="2800" dirty="0"/>
          </a:p>
          <a:p>
            <a:r>
              <a:rPr lang="en-US" sz="2800" dirty="0"/>
              <a:t>Include an environmental-dependent relationship in model predictions (as for 1).</a:t>
            </a:r>
          </a:p>
          <a:p>
            <a:r>
              <a:rPr lang="en-US" sz="2800" dirty="0"/>
              <a:t>Assume that the environmental variable monitored is an observation of the latent environmental process influencing the population. Include an observation model in the likelihood (e.g. </a:t>
            </a:r>
            <a:r>
              <a:rPr lang="en-US" sz="2800" dirty="0">
                <a:hlinkClick r:id="rId2"/>
              </a:rPr>
              <a:t>Xu et al. 2017</a:t>
            </a:r>
            <a:r>
              <a:rPr lang="en-US" sz="2800" dirty="0"/>
              <a:t>, </a:t>
            </a:r>
            <a:r>
              <a:rPr lang="en-US" sz="2800" dirty="0">
                <a:hlinkClick r:id="rId3"/>
              </a:rPr>
              <a:t>Miller et al. 2016</a:t>
            </a:r>
            <a:r>
              <a:rPr lang="en-US" sz="2800" dirty="0"/>
              <a:t>)</a:t>
            </a:r>
          </a:p>
          <a:p>
            <a:r>
              <a:rPr lang="en-US" sz="2800" dirty="0"/>
              <a:t>Allows for comparison of mechanistic effects of environment on population dynamics.</a:t>
            </a:r>
          </a:p>
          <a:p>
            <a:r>
              <a:rPr lang="en-US" sz="2800" dirty="0"/>
              <a:t>The environmental index is fitted to along with the rest of the assessment data - does not assume that environmental variable is measured without error.</a:t>
            </a:r>
          </a:p>
          <a:p>
            <a:r>
              <a:rPr lang="en-US" sz="2800" dirty="0"/>
              <a:t>(facilitated by the state-space modeling approach) </a:t>
            </a:r>
          </a:p>
        </p:txBody>
      </p:sp>
    </p:spTree>
    <p:extLst>
      <p:ext uri="{BB962C8B-B14F-4D97-AF65-F5344CB8AC3E}">
        <p14:creationId xmlns:p14="http://schemas.microsoft.com/office/powerpoint/2010/main" val="253776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526372-7789-0A63-EAD7-54D0730E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1" y="528102"/>
            <a:ext cx="5086309" cy="6513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187830-D5D0-8792-F6BE-6DE2C645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Identifying candidate covariates</a:t>
            </a:r>
            <a:br>
              <a:rPr lang="en-US" dirty="0"/>
            </a:br>
            <a:r>
              <a:rPr lang="en-US" dirty="0"/>
              <a:t>Conceptual modeling, Correlation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8CF3D-0A7E-C86A-5FEB-BB0DC691F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86" y="2921620"/>
            <a:ext cx="4444914" cy="2665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752A7-6EC6-C201-5C3E-ACBB0BC48372}"/>
              </a:ext>
            </a:extLst>
          </p:cNvPr>
          <p:cNvSpPr txBox="1"/>
          <p:nvPr/>
        </p:nvSpPr>
        <p:spPr>
          <a:xfrm>
            <a:off x="4850780" y="1349298"/>
            <a:ext cx="4060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Assemble plausible set of environmental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modeling to identify relationships, </a:t>
            </a:r>
            <a:br>
              <a:rPr lang="en-US" dirty="0"/>
            </a:br>
            <a:r>
              <a:rPr lang="en-US" dirty="0"/>
              <a:t>e.g.  American Plaice (Behan &amp; Kerr)</a:t>
            </a:r>
          </a:p>
        </p:txBody>
      </p:sp>
    </p:spTree>
    <p:extLst>
      <p:ext uri="{BB962C8B-B14F-4D97-AF65-F5344CB8AC3E}">
        <p14:creationId xmlns:p14="http://schemas.microsoft.com/office/powerpoint/2010/main" val="2312946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approaches (4.)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“Predation as a fishery”</a:t>
            </a:r>
            <a:endParaRPr lang="en-US" sz="2800" dirty="0"/>
          </a:p>
          <a:p>
            <a:r>
              <a:rPr lang="en-US" sz="2800" dirty="0"/>
              <a:t>Partition mortality to include mortality from predators.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i="1" dirty="0" err="1"/>
              <a:t>Z</a:t>
            </a:r>
            <a:r>
              <a:rPr lang="en-US" sz="2800" i="1" baseline="-25000" dirty="0" err="1"/>
              <a:t>a,t</a:t>
            </a:r>
            <a:r>
              <a:rPr lang="en-US" sz="2800" dirty="0"/>
              <a:t> is total mortality,</a:t>
            </a:r>
          </a:p>
          <a:p>
            <a:r>
              <a:rPr lang="en-US" sz="2800" i="1" dirty="0" err="1"/>
              <a:t>M</a:t>
            </a:r>
            <a:r>
              <a:rPr lang="en-US" sz="2800" i="1" baseline="-25000" dirty="0" err="1"/>
              <a:t>j,t</a:t>
            </a:r>
            <a:r>
              <a:rPr lang="en-US" sz="2800" dirty="0"/>
              <a:t> is the mortality from predator j,</a:t>
            </a:r>
          </a:p>
          <a:p>
            <a:r>
              <a:rPr lang="en-US" sz="2800" i="1" dirty="0" err="1"/>
              <a:t>s</a:t>
            </a:r>
            <a:r>
              <a:rPr lang="en-US" sz="2800" i="1" baseline="-25000" dirty="0" err="1"/>
              <a:t>j,a</a:t>
            </a:r>
            <a:r>
              <a:rPr lang="en-US" sz="2800" dirty="0"/>
              <a:t> is the relative mortality from predator </a:t>
            </a:r>
            <a:r>
              <a:rPr lang="en-US" sz="2800" i="1" dirty="0"/>
              <a:t>j </a:t>
            </a:r>
            <a:r>
              <a:rPr lang="en-US" sz="2800" dirty="0"/>
              <a:t>on age </a:t>
            </a:r>
            <a:r>
              <a:rPr lang="en-US" sz="2800" i="1" dirty="0"/>
              <a:t>a.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Requires an estimate of ‘removals’ by the predators.</a:t>
            </a:r>
          </a:p>
          <a:p>
            <a:r>
              <a:rPr lang="en-US" sz="2800" dirty="0"/>
              <a:t>Consumption can be estimated numerous ways.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4660"/>
              </p:ext>
            </p:extLst>
          </p:nvPr>
        </p:nvGraphicFramePr>
        <p:xfrm>
          <a:off x="2550054" y="2406959"/>
          <a:ext cx="3403494" cy="1478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723900" progId="Equation.3">
                  <p:embed/>
                </p:oleObj>
              </mc:Choice>
              <mc:Fallback>
                <p:oleObj name="Equation" r:id="rId2" imgW="1739900" imgH="723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0054" y="2406959"/>
                        <a:ext cx="3403494" cy="1478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4878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AU" sz="3200" b="1">
                <a:latin typeface="Arial" charset="0"/>
              </a:rPr>
              <a:t>Adding Predation</a:t>
            </a:r>
            <a:br>
              <a:rPr lang="en-AU" sz="3200">
                <a:latin typeface="Arial" charset="0"/>
              </a:rPr>
            </a:br>
            <a:r>
              <a:rPr lang="en-AU" sz="3200">
                <a:latin typeface="Arial" charset="0"/>
              </a:rPr>
              <a:t>Longspine thornyhead, U.S. West Coast</a:t>
            </a:r>
            <a:br>
              <a:rPr lang="en-AU" sz="2400">
                <a:latin typeface="Arial" charset="0"/>
              </a:rPr>
            </a:br>
            <a:endParaRPr lang="en-AU" sz="1800">
              <a:latin typeface="Arial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AU" sz="1800" dirty="0">
                <a:latin typeface="Arial" charset="0"/>
              </a:rPr>
              <a:t>Survey biomass estimates for </a:t>
            </a:r>
            <a:r>
              <a:rPr lang="en-AU" sz="1800" dirty="0" err="1">
                <a:latin typeface="Arial" charset="0"/>
              </a:rPr>
              <a:t>longspine</a:t>
            </a:r>
            <a:r>
              <a:rPr lang="en-AU" sz="1800" dirty="0">
                <a:latin typeface="Arial" charset="0"/>
              </a:rPr>
              <a:t> showed increasing trend</a:t>
            </a:r>
          </a:p>
          <a:p>
            <a:r>
              <a:rPr lang="en-AU" sz="1800" dirty="0">
                <a:latin typeface="Arial" charset="0"/>
              </a:rPr>
              <a:t>Assessment model with fixed </a:t>
            </a:r>
            <a:r>
              <a:rPr lang="en-AU" sz="1800" i="1" dirty="0">
                <a:latin typeface="Arial" charset="0"/>
              </a:rPr>
              <a:t>M</a:t>
            </a:r>
            <a:r>
              <a:rPr lang="en-AU" sz="1800" dirty="0">
                <a:latin typeface="Arial" charset="0"/>
              </a:rPr>
              <a:t> unable to capture increasing trend.</a:t>
            </a:r>
          </a:p>
          <a:p>
            <a:r>
              <a:rPr lang="en-AU" sz="1800" dirty="0">
                <a:latin typeface="Arial" charset="0"/>
              </a:rPr>
              <a:t>Sablefish and </a:t>
            </a:r>
            <a:r>
              <a:rPr lang="en-AU" sz="1800" dirty="0" err="1">
                <a:latin typeface="Arial" charset="0"/>
              </a:rPr>
              <a:t>Shortspine</a:t>
            </a:r>
            <a:r>
              <a:rPr lang="en-AU" sz="1800" dirty="0">
                <a:latin typeface="Arial" charset="0"/>
              </a:rPr>
              <a:t> prey heavily on </a:t>
            </a:r>
            <a:r>
              <a:rPr lang="en-AU" sz="1800" dirty="0" err="1">
                <a:latin typeface="Arial" charset="0"/>
              </a:rPr>
              <a:t>Longspine</a:t>
            </a:r>
            <a:endParaRPr lang="en-AU" sz="1800" dirty="0">
              <a:latin typeface="Arial" charset="0"/>
            </a:endParaRPr>
          </a:p>
          <a:p>
            <a:r>
              <a:rPr lang="en-AU" sz="1800" dirty="0">
                <a:latin typeface="Arial" charset="0"/>
              </a:rPr>
              <a:t>Biomass of both predators had declined substantially.</a:t>
            </a:r>
          </a:p>
          <a:p>
            <a:r>
              <a:rPr lang="en-AU" sz="1800" dirty="0">
                <a:latin typeface="Arial" charset="0"/>
              </a:rPr>
              <a:t>Including biomass of sablefish as a factor controlling the value of </a:t>
            </a:r>
            <a:r>
              <a:rPr lang="en-AU" sz="1800" i="1" dirty="0">
                <a:latin typeface="Arial" charset="0"/>
              </a:rPr>
              <a:t>M</a:t>
            </a:r>
            <a:r>
              <a:rPr lang="en-AU" sz="1800" dirty="0">
                <a:latin typeface="Arial" charset="0"/>
              </a:rPr>
              <a:t> improved model fit.</a:t>
            </a:r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200400"/>
            <a:ext cx="5829300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657600"/>
            <a:ext cx="2951162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Rectangle 12"/>
          <p:cNvSpPr>
            <a:spLocks noChangeArrowheads="1"/>
          </p:cNvSpPr>
          <p:nvPr/>
        </p:nvSpPr>
        <p:spPr bwMode="auto">
          <a:xfrm>
            <a:off x="0" y="6581775"/>
            <a:ext cx="457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AU" sz="1200" dirty="0"/>
              <a:t>Fay &amp; Field (2006) Pacific Fishery Management Council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76558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herring consumption by seals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8111"/>
            <a:ext cx="7252291" cy="18880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55" y="1022973"/>
            <a:ext cx="4259582" cy="3628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377" y="1386668"/>
            <a:ext cx="4627623" cy="302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9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already have this covered?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806130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/>
              <a:t>Stock assessment models implicitly include the environment, </a:t>
            </a:r>
            <a:br>
              <a:rPr lang="en-US" sz="3400" dirty="0"/>
            </a:br>
            <a:r>
              <a:rPr lang="en-US" sz="3400" dirty="0"/>
              <a:t>often it is ‘averaged’ out by assuming stationary processes.</a:t>
            </a:r>
          </a:p>
          <a:p>
            <a:pPr lvl="1"/>
            <a:r>
              <a:rPr lang="en-US" dirty="0"/>
              <a:t>This might be OK if relative importance is low and/or there is no long-term change.</a:t>
            </a:r>
          </a:p>
          <a:p>
            <a:pPr lvl="1"/>
            <a:r>
              <a:rPr lang="en-US" dirty="0"/>
              <a:t>Uncertainty in magnitude and functional form of effects can mean simple approaches perform as well or better (e.g. </a:t>
            </a:r>
            <a:r>
              <a:rPr lang="en-US" dirty="0" err="1"/>
              <a:t>Basson</a:t>
            </a:r>
            <a:r>
              <a:rPr lang="en-US" dirty="0"/>
              <a:t> 1999).</a:t>
            </a:r>
          </a:p>
          <a:p>
            <a:r>
              <a:rPr lang="en-US" sz="3400" dirty="0"/>
              <a:t>Habitat related environmental variables often included in index standardization methods.</a:t>
            </a:r>
          </a:p>
          <a:p>
            <a:r>
              <a:rPr lang="en-US" sz="3400" dirty="0"/>
              <a:t>Annual recruitments are typically estimated as model parameters.</a:t>
            </a:r>
          </a:p>
          <a:p>
            <a:pPr lvl="1"/>
            <a:r>
              <a:rPr lang="en-US" dirty="0"/>
              <a:t>Younger year classes are (often) the most vulnerable to predation, environmental variability.</a:t>
            </a:r>
          </a:p>
          <a:p>
            <a:pPr lvl="1"/>
            <a:r>
              <a:rPr lang="en-US" dirty="0"/>
              <a:t>If these processes occur pre-recruitment to the fishery we will likely not have data and assessments can ‘soak up’ this variability in recruitment estimates / process error.</a:t>
            </a:r>
          </a:p>
          <a:p>
            <a:r>
              <a:rPr lang="en-US" sz="3400" dirty="0"/>
              <a:t>Environmental correlations have often been known to ‘break down’ after more data are collected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Dangers of spurious relationships (</a:t>
            </a:r>
            <a:r>
              <a:rPr lang="en-US" dirty="0" err="1"/>
              <a:t>Haltuch</a:t>
            </a:r>
            <a:r>
              <a:rPr lang="en-US" dirty="0"/>
              <a:t> &amp; Punt 2011)</a:t>
            </a:r>
          </a:p>
        </p:txBody>
      </p:sp>
    </p:spTree>
    <p:extLst>
      <p:ext uri="{BB962C8B-B14F-4D97-AF65-F5344CB8AC3E}">
        <p14:creationId xmlns:p14="http://schemas.microsoft.com/office/powerpoint/2010/main" val="236880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already have this covered?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Often modeling time-varying or age-varying parameters can do as well at estimating abundance and stock status as models that explicitly include/relate these changes to the environment or predators.</a:t>
            </a:r>
          </a:p>
          <a:p>
            <a:r>
              <a:rPr lang="en-US" sz="2800" dirty="0"/>
              <a:t>This is because our assessment data is (possibly) informative about the effects of these processes.</a:t>
            </a:r>
          </a:p>
          <a:p>
            <a:pPr lvl="1"/>
            <a:r>
              <a:rPr lang="en-US" dirty="0"/>
              <a:t>Year class strength &amp; mortality reflected in age structure.</a:t>
            </a:r>
          </a:p>
          <a:p>
            <a:pPr lvl="1"/>
            <a:r>
              <a:rPr lang="en-US" dirty="0"/>
              <a:t>Growth changes affect size at age data.</a:t>
            </a:r>
          </a:p>
          <a:p>
            <a:pPr lvl="1"/>
            <a:r>
              <a:rPr lang="en-US" dirty="0"/>
              <a:t>Direct estimates of mortality (e.g. from tagging) may assist but intensive collection of these are less common.</a:t>
            </a:r>
          </a:p>
          <a:p>
            <a:r>
              <a:rPr lang="en-US" sz="2800" dirty="0"/>
              <a:t>Though note process error not sufficient to remove bias from trophic interactions (</a:t>
            </a:r>
            <a:r>
              <a:rPr lang="en-US" sz="2800" dirty="0" err="1">
                <a:hlinkClick r:id="rId2"/>
              </a:rPr>
              <a:t>Trijoulet</a:t>
            </a:r>
            <a:r>
              <a:rPr lang="en-US" sz="2800" dirty="0">
                <a:hlinkClick r:id="rId2"/>
              </a:rPr>
              <a:t> et al. 2020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00980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Time-varying parameters in assessment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2520"/>
            <a:ext cx="8229600" cy="5588417"/>
          </a:xfrm>
        </p:spPr>
        <p:txBody>
          <a:bodyPr/>
          <a:lstStyle/>
          <a:p>
            <a:r>
              <a:rPr lang="en-US" sz="2400" dirty="0"/>
              <a:t>Many modern stock assessment software have multiple options for modeling time-varying parameters. Not all options require correlations with environmental variables.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78" y="2239163"/>
            <a:ext cx="6599467" cy="461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24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96341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Growth</a:t>
            </a:r>
          </a:p>
          <a:p>
            <a:pPr lvl="1"/>
            <a:r>
              <a:rPr lang="en-US" dirty="0"/>
              <a:t>Use empirical weight at age to force accounting of changes (e.g. US/Canada Pacific hake assessment)</a:t>
            </a:r>
            <a:br>
              <a:rPr lang="en-US" dirty="0"/>
            </a:br>
            <a:r>
              <a:rPr lang="en-US" dirty="0"/>
              <a:t>This requires lots of data.</a:t>
            </a:r>
          </a:p>
          <a:p>
            <a:pPr lvl="1"/>
            <a:r>
              <a:rPr lang="en-US" dirty="0"/>
              <a:t>Model process error in growth curve parameters (e.g. adding a cohort effect on Von </a:t>
            </a:r>
            <a:r>
              <a:rPr lang="en-US" dirty="0" err="1"/>
              <a:t>Bertalanffy</a:t>
            </a:r>
            <a:r>
              <a:rPr lang="en-US" dirty="0"/>
              <a:t> </a:t>
            </a:r>
            <a:r>
              <a:rPr lang="en-US" i="1" dirty="0"/>
              <a:t>k</a:t>
            </a:r>
            <a:r>
              <a:rPr lang="en-US" dirty="0"/>
              <a:t>)</a:t>
            </a:r>
          </a:p>
          <a:p>
            <a:r>
              <a:rPr lang="en-US" dirty="0"/>
              <a:t>Natural Mortality</a:t>
            </a:r>
          </a:p>
          <a:p>
            <a:pPr lvl="1"/>
            <a:r>
              <a:rPr lang="en-US" dirty="0"/>
              <a:t>A multitude of estimators for relating </a:t>
            </a:r>
            <a:r>
              <a:rPr lang="en-US" i="1" dirty="0"/>
              <a:t>M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body size, temperature, etc.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Pauly</a:t>
            </a:r>
            <a:r>
              <a:rPr lang="en-US" dirty="0"/>
              <a:t>, </a:t>
            </a:r>
            <a:r>
              <a:rPr lang="en-US" dirty="0" err="1"/>
              <a:t>Hoenig</a:t>
            </a:r>
            <a:r>
              <a:rPr lang="en-US" dirty="0"/>
              <a:t>, </a:t>
            </a:r>
            <a:r>
              <a:rPr lang="en-US" dirty="0" err="1"/>
              <a:t>Lorenzen</a:t>
            </a:r>
            <a:r>
              <a:rPr lang="en-US" dirty="0"/>
              <a:t>, ….)</a:t>
            </a:r>
          </a:p>
          <a:p>
            <a:pPr lvl="1"/>
            <a:r>
              <a:rPr lang="en-US" dirty="0"/>
              <a:t>Coupling these approaches with expected changes in predation pressure can approximate mortality from more complex consumption estimators.</a:t>
            </a:r>
            <a:br>
              <a:rPr lang="en-US" dirty="0"/>
            </a:br>
            <a:r>
              <a:rPr lang="en-US" dirty="0"/>
              <a:t>(e.g. Atlantic Menhaden, Atlantic herring)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902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22" y="0"/>
            <a:ext cx="7697894" cy="38060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6" y="2838207"/>
            <a:ext cx="4066716" cy="4019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87949" y="4273848"/>
            <a:ext cx="3590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Southeast Australian blue grenadier assessment: stock status sensitive to inclusion of time varying growth.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016" y="5651082"/>
            <a:ext cx="3983984" cy="103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2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9634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Growth</a:t>
            </a:r>
          </a:p>
          <a:p>
            <a:pPr lvl="1"/>
            <a:r>
              <a:rPr lang="en-US" dirty="0"/>
              <a:t>Use empirical weight at age to force accounting of changes (e.g. US/Canada Pacific hake assessment)</a:t>
            </a:r>
            <a:br>
              <a:rPr lang="en-US" dirty="0"/>
            </a:br>
            <a:r>
              <a:rPr lang="en-US" dirty="0"/>
              <a:t>This requires lots of data.</a:t>
            </a:r>
          </a:p>
          <a:p>
            <a:pPr lvl="1"/>
            <a:r>
              <a:rPr lang="en-US" dirty="0"/>
              <a:t>Model process error in growth curve parameters (e.g. adding a cohort effect on von </a:t>
            </a:r>
            <a:r>
              <a:rPr lang="en-US" dirty="0" err="1"/>
              <a:t>Bertalanffy</a:t>
            </a:r>
            <a:r>
              <a:rPr lang="en-US" dirty="0"/>
              <a:t> </a:t>
            </a:r>
            <a:r>
              <a:rPr lang="en-US" i="1" dirty="0"/>
              <a:t>k</a:t>
            </a:r>
            <a:r>
              <a:rPr lang="en-US" dirty="0"/>
              <a:t>)</a:t>
            </a:r>
          </a:p>
          <a:p>
            <a:r>
              <a:rPr lang="en-US" b="1" dirty="0"/>
              <a:t>Natural Mortality</a:t>
            </a:r>
          </a:p>
          <a:p>
            <a:pPr lvl="1"/>
            <a:r>
              <a:rPr lang="en-US" dirty="0"/>
              <a:t>A multitude of estimators for relating </a:t>
            </a:r>
            <a:r>
              <a:rPr lang="en-US" i="1" dirty="0"/>
              <a:t>M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body size, temperature, etc.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Pauly</a:t>
            </a:r>
            <a:r>
              <a:rPr lang="en-US" dirty="0"/>
              <a:t>, </a:t>
            </a:r>
            <a:r>
              <a:rPr lang="en-US" dirty="0" err="1"/>
              <a:t>Hoenig</a:t>
            </a:r>
            <a:r>
              <a:rPr lang="en-US" dirty="0"/>
              <a:t>, </a:t>
            </a:r>
            <a:r>
              <a:rPr lang="en-US" dirty="0" err="1"/>
              <a:t>Lorenzen</a:t>
            </a:r>
            <a:r>
              <a:rPr lang="en-US" dirty="0"/>
              <a:t>, ….)</a:t>
            </a:r>
          </a:p>
          <a:p>
            <a:pPr lvl="1"/>
            <a:r>
              <a:rPr lang="en-US" dirty="0"/>
              <a:t>Coupling these approaches with expected changes in predation pressure can approximate mortality from more complex consumption estimators.</a:t>
            </a:r>
            <a:br>
              <a:rPr lang="en-US" dirty="0"/>
            </a:br>
            <a:r>
              <a:rPr lang="en-US" dirty="0"/>
              <a:t>(e.g. Atlantic Menhaden, Atlantic herring)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61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53" y="1216195"/>
            <a:ext cx="7774552" cy="47099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29" y="5765358"/>
            <a:ext cx="4624671" cy="1092642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4969" y="112703"/>
            <a:ext cx="9495635" cy="1032272"/>
          </a:xfrm>
        </p:spPr>
        <p:txBody>
          <a:bodyPr>
            <a:noAutofit/>
          </a:bodyPr>
          <a:lstStyle/>
          <a:p>
            <a:r>
              <a:rPr lang="en-US" sz="2400" dirty="0"/>
              <a:t>Sources of mortality likely to change throughout lifetime</a:t>
            </a:r>
            <a:br>
              <a:rPr lang="en-US" sz="2400" dirty="0"/>
            </a:br>
            <a:r>
              <a:rPr lang="en-US" sz="2400" dirty="0"/>
              <a:t>Relative influences may determine adequacy of ‘conventional’ approach</a:t>
            </a:r>
          </a:p>
        </p:txBody>
      </p:sp>
    </p:spTree>
    <p:extLst>
      <p:ext uri="{BB962C8B-B14F-4D97-AF65-F5344CB8AC3E}">
        <p14:creationId xmlns:p14="http://schemas.microsoft.com/office/powerpoint/2010/main" val="4165988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000"/>
            <a:ext cx="9144000" cy="53429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29" y="5860318"/>
            <a:ext cx="4624671" cy="1092642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Age-varying </a:t>
            </a:r>
            <a:r>
              <a:rPr lang="en-US" i="1" dirty="0"/>
              <a:t>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22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219200" y="6396038"/>
            <a:ext cx="792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1200"/>
              <a:t>Overholtz &amp; Link (2007) Consumption impacts by marine mammals, fish, and seabirds on the Gulf of Maine–Georges Bank Atlantic herring (</a:t>
            </a:r>
            <a:r>
              <a:rPr lang="en-US" sz="1200" i="1"/>
              <a:t>Clupea harengus</a:t>
            </a:r>
            <a:r>
              <a:rPr lang="en-US" sz="1200"/>
              <a:t>) complex during the years 1977–2002. </a:t>
            </a:r>
            <a:r>
              <a:rPr lang="en-US" sz="1200" i="1"/>
              <a:t>ICES Journal of Marine Science, 64: 83–96.</a:t>
            </a:r>
          </a:p>
        </p:txBody>
      </p:sp>
      <p:pic>
        <p:nvPicPr>
          <p:cNvPr id="430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647825"/>
            <a:ext cx="884872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533400" y="5867400"/>
            <a:ext cx="861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1200"/>
              <a:t>W. J. Overholtz , L. D. Jacobson &amp; J. S. Link (2008): An Ecosystem Approach for Assessment Advice and Biological Reference Points for the Gulf of Maine–Georges Bank Atlantic Herring Complex, North American Journal of Fisheries Management, 28:1, 247-257</a:t>
            </a:r>
          </a:p>
        </p:txBody>
      </p:sp>
      <p:sp>
        <p:nvSpPr>
          <p:cNvPr id="43013" name="Title 6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Gulf of Maine-Georges Bank Atlantic herring</a:t>
            </a:r>
            <a:br>
              <a:rPr lang="en-US" dirty="0">
                <a:latin typeface="Arial" charset="0"/>
              </a:rPr>
            </a:br>
            <a:r>
              <a:rPr lang="en-US" sz="2700" dirty="0">
                <a:latin typeface="Arial" charset="0"/>
              </a:rPr>
              <a:t>Estimates of mortality by explicit modeling of consumption</a:t>
            </a:r>
          </a:p>
        </p:txBody>
      </p:sp>
    </p:spTree>
    <p:extLst>
      <p:ext uri="{BB962C8B-B14F-4D97-AF65-F5344CB8AC3E}">
        <p14:creationId xmlns:p14="http://schemas.microsoft.com/office/powerpoint/2010/main" val="1428030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234375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GoM</a:t>
            </a:r>
            <a:r>
              <a:rPr lang="en-US" dirty="0"/>
              <a:t>-GB Atlantic herring assessment</a:t>
            </a:r>
            <a:br>
              <a:rPr lang="en-US" dirty="0"/>
            </a:br>
            <a:r>
              <a:rPr lang="en-US" sz="3100" dirty="0"/>
              <a:t>2012 assessment changed to scaled </a:t>
            </a:r>
            <a:r>
              <a:rPr lang="en-US" sz="3100" dirty="0" err="1"/>
              <a:t>Lorenzen</a:t>
            </a:r>
            <a:r>
              <a:rPr lang="en-US" sz="3100" dirty="0"/>
              <a:t> approach</a:t>
            </a:r>
            <a:br>
              <a:rPr lang="en-US" sz="3100" dirty="0"/>
            </a:br>
            <a:r>
              <a:rPr lang="en-US" sz="3100" dirty="0"/>
              <a:t>2015 operational update: alternative suggested </a:t>
            </a:r>
            <a:r>
              <a:rPr lang="en-US" sz="3100" dirty="0" err="1"/>
              <a:t>Lorenzen</a:t>
            </a:r>
            <a:r>
              <a:rPr lang="en-US" sz="3100" dirty="0"/>
              <a:t> mortality too high for consumption estimates.</a:t>
            </a:r>
          </a:p>
        </p:txBody>
      </p:sp>
      <p:pic>
        <p:nvPicPr>
          <p:cNvPr id="4" name="Picture 3" descr="Screen Shot 2016-02-11 at 10.24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32" y="2780417"/>
            <a:ext cx="4689246" cy="3385794"/>
          </a:xfrm>
          <a:prstGeom prst="rect">
            <a:avLst/>
          </a:prstGeom>
        </p:spPr>
      </p:pic>
      <p:pic>
        <p:nvPicPr>
          <p:cNvPr id="6" name="Picture 5" descr="Screen Shot 2016-02-11 at 10.26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124" y="2913544"/>
            <a:ext cx="4611477" cy="3240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6266" y="6410772"/>
            <a:ext cx="2796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Deroba</a:t>
            </a:r>
            <a:r>
              <a:rPr lang="en-US" dirty="0"/>
              <a:t>, NEFSC (2015)</a:t>
            </a:r>
          </a:p>
        </p:txBody>
      </p:sp>
    </p:spTree>
    <p:extLst>
      <p:ext uri="{BB962C8B-B14F-4D97-AF65-F5344CB8AC3E}">
        <p14:creationId xmlns:p14="http://schemas.microsoft.com/office/powerpoint/2010/main" val="3439427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66" y="5878286"/>
            <a:ext cx="5295900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3422"/>
            <a:ext cx="9144000" cy="1987327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Atlantic Menhaden assessment (SEDAR 2014)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221" y="953528"/>
            <a:ext cx="6300287" cy="408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64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simulation studies on </a:t>
            </a:r>
            <a:r>
              <a:rPr lang="en-US" i="1" dirty="0"/>
              <a:t>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Biases induced by not accounting for age-variation in </a:t>
            </a:r>
            <a:r>
              <a:rPr lang="en-US" sz="2400" i="1" dirty="0"/>
              <a:t>M</a:t>
            </a:r>
            <a:r>
              <a:rPr lang="en-US" sz="2400" dirty="0"/>
              <a:t> are likely secondary to those caused by the misspecification of temporal trends.</a:t>
            </a:r>
          </a:p>
          <a:p>
            <a:r>
              <a:rPr lang="en-US" sz="2400" dirty="0"/>
              <a:t>More time should be dedicated to accounting for temporal shifts in </a:t>
            </a:r>
            <a:r>
              <a:rPr lang="en-US" sz="2400" i="1" dirty="0"/>
              <a:t>M</a:t>
            </a:r>
            <a:r>
              <a:rPr lang="en-US" sz="2400" dirty="0"/>
              <a:t> than accounting for age-variation in </a:t>
            </a:r>
            <a:r>
              <a:rPr lang="en-US" sz="2400" i="1" dirty="0"/>
              <a:t>M</a:t>
            </a:r>
            <a:r>
              <a:rPr lang="en-US" sz="2400" dirty="0"/>
              <a:t>.</a:t>
            </a:r>
          </a:p>
          <a:p>
            <a:r>
              <a:rPr lang="en-US" sz="2400" dirty="0"/>
              <a:t>The consequences of misspecification of </a:t>
            </a:r>
            <a:r>
              <a:rPr lang="en-US" sz="2400" i="1" dirty="0"/>
              <a:t>M</a:t>
            </a:r>
            <a:r>
              <a:rPr lang="en-US" sz="2400" dirty="0"/>
              <a:t> may also partially depend on life history.</a:t>
            </a:r>
          </a:p>
          <a:p>
            <a:pPr marL="0" indent="0" algn="r">
              <a:buNone/>
            </a:pPr>
            <a:r>
              <a:rPr lang="en-US" sz="2400" dirty="0"/>
              <a:t>(</a:t>
            </a:r>
            <a:r>
              <a:rPr lang="en-US" sz="2400" dirty="0" err="1"/>
              <a:t>Deroba</a:t>
            </a:r>
            <a:r>
              <a:rPr lang="en-US" sz="2400" dirty="0"/>
              <a:t> &amp; </a:t>
            </a:r>
            <a:r>
              <a:rPr lang="en-US" sz="2400" dirty="0" err="1"/>
              <a:t>Schueller</a:t>
            </a:r>
            <a:r>
              <a:rPr lang="en-US" sz="2400" dirty="0"/>
              <a:t> 2013)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most suitable approach to specifying </a:t>
            </a:r>
            <a:r>
              <a:rPr lang="en-US" sz="2400" i="1" dirty="0"/>
              <a:t>M</a:t>
            </a:r>
            <a:r>
              <a:rPr lang="en-US" sz="2400" dirty="0"/>
              <a:t> when it is thought to vary across time was to estimate </a:t>
            </a:r>
            <a:r>
              <a:rPr lang="en-US" sz="2400" i="1" dirty="0"/>
              <a:t>M</a:t>
            </a:r>
            <a:r>
              <a:rPr lang="en-US" sz="2400" dirty="0"/>
              <a:t>.</a:t>
            </a:r>
          </a:p>
          <a:p>
            <a:pPr marL="0" indent="0" algn="r">
              <a:buNone/>
            </a:pPr>
            <a:r>
              <a:rPr lang="en-US" sz="2400" dirty="0"/>
              <a:t>(Johnson et al. 2015)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Also see special issue of Fisheries Research on Natural Mortality from CAPAM workshop </a:t>
            </a:r>
          </a:p>
        </p:txBody>
      </p:sp>
    </p:spTree>
    <p:extLst>
      <p:ext uri="{BB962C8B-B14F-4D97-AF65-F5344CB8AC3E}">
        <p14:creationId xmlns:p14="http://schemas.microsoft.com/office/powerpoint/2010/main" val="291105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about projections?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environmental correlations may be important is in forecasts/projections.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</a:t>
            </a:r>
          </a:p>
          <a:p>
            <a:r>
              <a:rPr lang="en-US" dirty="0"/>
              <a:t>Expectations for recruitment or growth under different climate scenarios.</a:t>
            </a:r>
          </a:p>
          <a:p>
            <a:r>
              <a:rPr lang="en-US" dirty="0"/>
              <a:t>Expected production given different levels of consumption by predators.</a:t>
            </a:r>
          </a:p>
        </p:txBody>
      </p:sp>
    </p:spTree>
    <p:extLst>
      <p:ext uri="{BB962C8B-B14F-4D97-AF65-F5344CB8AC3E}">
        <p14:creationId xmlns:p14="http://schemas.microsoft.com/office/powerpoint/2010/main" val="1651070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18700" y="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Arial" charset="0"/>
              </a:rPr>
              <a:t>Climate effect on Recruitment</a:t>
            </a:r>
            <a:br>
              <a:rPr lang="en-US" sz="3600" dirty="0">
                <a:latin typeface="Arial" charset="0"/>
              </a:rPr>
            </a:br>
            <a:r>
              <a:rPr lang="en-US" sz="3600" dirty="0">
                <a:latin typeface="Arial" charset="0"/>
              </a:rPr>
              <a:t>Bering Sea Walleye </a:t>
            </a:r>
            <a:r>
              <a:rPr lang="en-US" sz="3600" dirty="0" err="1">
                <a:latin typeface="Arial" charset="0"/>
              </a:rPr>
              <a:t>pollock</a:t>
            </a:r>
            <a:endParaRPr lang="en-US" sz="3600" dirty="0"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3962400" cy="51816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>
                <a:ea typeface="+mn-ea"/>
              </a:rPr>
              <a:t>Recruitment modeled as a function of a </a:t>
            </a:r>
            <a:r>
              <a:rPr lang="en-US" sz="2800" dirty="0">
                <a:ea typeface="+mn-ea"/>
              </a:rPr>
              <a:t>climate index.</a:t>
            </a:r>
          </a:p>
          <a:p>
            <a:pPr>
              <a:defRPr/>
            </a:pPr>
            <a:endParaRPr lang="en-US" sz="2800" dirty="0">
              <a:ea typeface="+mn-ea"/>
            </a:endParaRPr>
          </a:p>
          <a:p>
            <a:pPr>
              <a:defRPr/>
            </a:pPr>
            <a:endParaRPr lang="en-US" sz="2800" dirty="0">
              <a:ea typeface="+mn-ea"/>
            </a:endParaRPr>
          </a:p>
          <a:p>
            <a:pPr>
              <a:defRPr/>
            </a:pPr>
            <a:endParaRPr lang="en-US" sz="2800" dirty="0">
              <a:ea typeface="+mn-ea"/>
            </a:endParaRPr>
          </a:p>
          <a:p>
            <a:pPr>
              <a:defRPr/>
            </a:pPr>
            <a:r>
              <a:rPr lang="en-US" sz="2800" dirty="0">
                <a:ea typeface="+mn-ea"/>
              </a:rPr>
              <a:t>Stock assessment model projections under different IPCC scenarios and fishing strategies.</a:t>
            </a:r>
          </a:p>
          <a:p>
            <a:pPr>
              <a:defRPr/>
            </a:pPr>
            <a:r>
              <a:rPr lang="en-US" sz="2800" dirty="0">
                <a:ea typeface="+mn-ea"/>
              </a:rPr>
              <a:t>Status quo management very sensitive to the IPCC model used.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362200" y="6396038"/>
            <a:ext cx="685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Calibri" charset="0"/>
              </a:rPr>
              <a:t>A</a:t>
            </a:r>
            <a:r>
              <a:rPr lang="ja-JP" altLang="en-US" sz="1200">
                <a:latin typeface="Calibri" charset="0"/>
              </a:rPr>
              <a:t>’</a:t>
            </a:r>
            <a:r>
              <a:rPr lang="en-US" sz="1200">
                <a:latin typeface="Calibri" charset="0"/>
              </a:rPr>
              <a:t>mar, Z. T., Punt, A. E., and Dorn, M. W. 2009. The evaluation of two management strategies for the Gulf of Alaska walleye pollock fishery under climate change. – ICES Journal of Marine Science, 66: 1614–1632.</a:t>
            </a:r>
          </a:p>
        </p:txBody>
      </p:sp>
      <p:pic>
        <p:nvPicPr>
          <p:cNvPr id="4403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57"/>
          <a:stretch>
            <a:fillRect/>
          </a:stretch>
        </p:blipFill>
        <p:spPr bwMode="auto">
          <a:xfrm>
            <a:off x="219075" y="2924175"/>
            <a:ext cx="42767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00"/>
          <a:stretch>
            <a:fillRect/>
          </a:stretch>
        </p:blipFill>
        <p:spPr bwMode="auto">
          <a:xfrm>
            <a:off x="6556375" y="76200"/>
            <a:ext cx="230346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33400"/>
            <a:ext cx="6858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47800"/>
            <a:ext cx="4284663" cy="494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/>
          <p:nvPr/>
        </p:nvSpPr>
        <p:spPr>
          <a:xfrm rot="2492894">
            <a:off x="1938338" y="2659063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86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Changes in population forcing or characteristics may influence modeled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2256"/>
            <a:ext cx="9144000" cy="3015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227" y="5469994"/>
            <a:ext cx="5661773" cy="13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34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Nonstationarity</a:t>
            </a:r>
            <a:r>
              <a:rPr lang="en-US" dirty="0"/>
              <a:t> and Reference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Once we accept that we are in a world that changes, we have to make decisions about how to define reference points.</a:t>
            </a:r>
          </a:p>
          <a:p>
            <a:r>
              <a:rPr lang="en-US" dirty="0"/>
              <a:t>Specifically,</a:t>
            </a:r>
          </a:p>
          <a:p>
            <a:pPr lvl="1"/>
            <a:r>
              <a:rPr lang="en-US" dirty="0"/>
              <a:t>What set of conditions should reference points be based on?</a:t>
            </a:r>
          </a:p>
          <a:p>
            <a:pPr lvl="1"/>
            <a:r>
              <a:rPr lang="en-US" dirty="0"/>
              <a:t>How are these to be determined?</a:t>
            </a:r>
          </a:p>
          <a:p>
            <a:pPr lvl="1"/>
            <a:r>
              <a:rPr lang="en-US" dirty="0"/>
              <a:t>Should management reference points change with changing productivity? How fast? How important are timely forecasts for effective management?</a:t>
            </a:r>
          </a:p>
          <a:p>
            <a:r>
              <a:rPr lang="en-US" dirty="0"/>
              <a:t>Approaches include ‘dynamic B0’, moving window, regime shift analysis, and others.</a:t>
            </a:r>
          </a:p>
          <a:p>
            <a:r>
              <a:rPr lang="en-US" dirty="0"/>
              <a:t>After a time-period has been decided, the mathematical way in which reference points are implemented also has an influence.</a:t>
            </a:r>
          </a:p>
          <a:p>
            <a:pPr marL="457200" lvl="1" indent="0">
              <a:buNone/>
            </a:pPr>
            <a:r>
              <a:rPr lang="en-US" dirty="0"/>
              <a:t>e.g. </a:t>
            </a:r>
            <a:r>
              <a:rPr lang="en-US" dirty="0" err="1"/>
              <a:t>spawner</a:t>
            </a:r>
            <a:r>
              <a:rPr lang="en-US" dirty="0"/>
              <a:t>-per-recruit analyses </a:t>
            </a:r>
            <a:r>
              <a:rPr lang="en-US" dirty="0" err="1"/>
              <a:t>vs</a:t>
            </a:r>
            <a:r>
              <a:rPr lang="en-US" dirty="0"/>
              <a:t> total mortality</a:t>
            </a:r>
          </a:p>
          <a:p>
            <a:pPr marL="457200" lvl="1" indent="0">
              <a:buNone/>
            </a:pPr>
            <a:r>
              <a:rPr lang="en-US" dirty="0"/>
              <a:t>       (</a:t>
            </a:r>
            <a:r>
              <a:rPr lang="en-US" dirty="0" err="1"/>
              <a:t>Legault</a:t>
            </a:r>
            <a:r>
              <a:rPr lang="en-US" dirty="0"/>
              <a:t> &amp; Palmer 2015)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0" t="20070" r="13152"/>
          <a:stretch>
            <a:fillRect/>
          </a:stretch>
        </p:blipFill>
        <p:spPr bwMode="auto">
          <a:xfrm>
            <a:off x="2074321" y="2237930"/>
            <a:ext cx="4402138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32367" y="6217743"/>
            <a:ext cx="670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200" dirty="0">
                <a:latin typeface="Calibri" charset="0"/>
              </a:rPr>
              <a:t>Munch et al. Environmental regimes and density-dependence: </a:t>
            </a:r>
            <a:br>
              <a:rPr lang="en-US" sz="1200" dirty="0">
                <a:latin typeface="Calibri" charset="0"/>
              </a:rPr>
            </a:br>
            <a:r>
              <a:rPr lang="en-US" sz="1200" dirty="0">
                <a:latin typeface="Calibri" charset="0"/>
              </a:rPr>
              <a:t>a Bayesian modeling approach for identifying recruitment regimes.</a:t>
            </a:r>
          </a:p>
        </p:txBody>
      </p:sp>
    </p:spTree>
    <p:extLst>
      <p:ext uri="{BB962C8B-B14F-4D97-AF65-F5344CB8AC3E}">
        <p14:creationId xmlns:p14="http://schemas.microsoft.com/office/powerpoint/2010/main" val="39856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36DF-2AA6-2369-76C3-E08A4AFD5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9391"/>
            <a:ext cx="8229600" cy="688359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changing reference points, alternative time horizons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59B4-37A9-6281-4EC7-923F725B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17588-2EFC-7AA4-A2BD-147E61619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5" y="1383728"/>
            <a:ext cx="8830150" cy="49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37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</a:t>
            </a:r>
            <a:r>
              <a:rPr lang="en-US" i="1" dirty="0"/>
              <a:t>B0</a:t>
            </a:r>
            <a:r>
              <a:rPr lang="en-US" dirty="0"/>
              <a:t> (</a:t>
            </a:r>
            <a:r>
              <a:rPr lang="en-US" dirty="0" err="1"/>
              <a:t>MacCall</a:t>
            </a:r>
            <a:r>
              <a:rPr lang="en-US" dirty="0"/>
              <a:t> 1985)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Provides an estimate of the size of the stock had fishing not occurred.</a:t>
            </a:r>
          </a:p>
          <a:p>
            <a:r>
              <a:rPr lang="en-US" dirty="0"/>
              <a:t>Estimate the parameters of the stock assessment model with the process error / environmental conditions etc. as usual.</a:t>
            </a:r>
          </a:p>
          <a:p>
            <a:r>
              <a:rPr lang="en-US" dirty="0"/>
              <a:t>Given the final parameter estimates, run the model over the historic period with catches set to zero.</a:t>
            </a:r>
          </a:p>
          <a:p>
            <a:r>
              <a:rPr lang="en-US" dirty="0"/>
              <a:t>Not clear that this is a good approach for models with predation, as consumption likely a result of a functional response determined by the biomass of the prey.</a:t>
            </a:r>
          </a:p>
        </p:txBody>
      </p:sp>
    </p:spTree>
    <p:extLst>
      <p:ext uri="{BB962C8B-B14F-4D97-AF65-F5344CB8AC3E}">
        <p14:creationId xmlns:p14="http://schemas.microsoft.com/office/powerpoint/2010/main" val="1935021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implementing extended single-species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7110"/>
            <a:ext cx="8229600" cy="60818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Result-driven or data-driven?</a:t>
            </a:r>
          </a:p>
          <a:p>
            <a:r>
              <a:rPr lang="en-US" dirty="0"/>
              <a:t>Difficulty in defining relationships with covariates.</a:t>
            </a:r>
          </a:p>
          <a:p>
            <a:r>
              <a:rPr lang="en-US" dirty="0"/>
              <a:t>Gain in performance sometimes uncertain.</a:t>
            </a:r>
          </a:p>
          <a:p>
            <a:r>
              <a:rPr lang="en-US" dirty="0"/>
              <a:t>What to do about Reference points?</a:t>
            </a:r>
          </a:p>
          <a:p>
            <a:r>
              <a:rPr lang="en-US" dirty="0"/>
              <a:t>Difficult to choose one approach for modeling the effects of the environment over another.</a:t>
            </a:r>
          </a:p>
          <a:p>
            <a:r>
              <a:rPr lang="en-US" dirty="0"/>
              <a:t>Uncertainty about the performance of model selection tools.</a:t>
            </a:r>
          </a:p>
          <a:p>
            <a:pPr marL="0" indent="0">
              <a:buNone/>
            </a:pPr>
            <a:r>
              <a:rPr lang="en-US" dirty="0"/>
              <a:t>e.g. 2012 Gulf of Maine Cod assessment</a:t>
            </a:r>
          </a:p>
          <a:p>
            <a:r>
              <a:rPr lang="en-US" dirty="0"/>
              <a:t>2 models, one with time-varying natural mortality</a:t>
            </a:r>
          </a:p>
          <a:p>
            <a:r>
              <a:rPr lang="en-US" dirty="0"/>
              <a:t>Results in (at least) four options for setting quota:</a:t>
            </a:r>
          </a:p>
          <a:p>
            <a:pPr lvl="1"/>
            <a:r>
              <a:rPr lang="en-US" sz="2400" dirty="0"/>
              <a:t>M</a:t>
            </a:r>
            <a:r>
              <a:rPr lang="en-US" sz="2400" baseline="-25000" dirty="0"/>
              <a:t>0.2</a:t>
            </a:r>
            <a:r>
              <a:rPr lang="en-US" sz="2400" dirty="0"/>
              <a:t> model with M=0.2 for projections: standard procedures</a:t>
            </a:r>
          </a:p>
          <a:p>
            <a:pPr lvl="1"/>
            <a:r>
              <a:rPr lang="en-US" sz="2400" dirty="0" err="1"/>
              <a:t>M</a:t>
            </a:r>
            <a:r>
              <a:rPr lang="en-US" sz="2400" baseline="-25000" dirty="0" err="1"/>
              <a:t>Ramp</a:t>
            </a:r>
            <a:r>
              <a:rPr lang="en-US" sz="2400" dirty="0"/>
              <a:t> model with M=0.2 for projections: standard procedures</a:t>
            </a:r>
          </a:p>
          <a:p>
            <a:pPr lvl="1"/>
            <a:r>
              <a:rPr lang="en-US" sz="2400" dirty="0" err="1"/>
              <a:t>M</a:t>
            </a:r>
            <a:r>
              <a:rPr lang="en-US" sz="2400" baseline="-25000" dirty="0" err="1"/>
              <a:t>Ramp</a:t>
            </a:r>
            <a:r>
              <a:rPr lang="en-US" sz="2400" dirty="0"/>
              <a:t> model with M=0.4 for some period then reverting to M=0.2</a:t>
            </a:r>
          </a:p>
          <a:p>
            <a:pPr lvl="1"/>
            <a:r>
              <a:rPr lang="en-US" sz="2400" dirty="0" err="1"/>
              <a:t>M</a:t>
            </a:r>
            <a:r>
              <a:rPr lang="en-US" sz="2400" baseline="-25000" dirty="0" err="1"/>
              <a:t>Ramp</a:t>
            </a:r>
            <a:r>
              <a:rPr lang="en-US" sz="2400" dirty="0"/>
              <a:t> model with M=0.4 in perpetuity (regime shift scenario)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0519"/>
            <a:ext cx="8325556" cy="2378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0" y="5332589"/>
            <a:ext cx="3314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29032"/>
            <a:ext cx="8229600" cy="2711255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Often significant effort spent during technical reviews to evaluate the effect/ability of including environment/predators.</a:t>
            </a:r>
          </a:p>
          <a:p>
            <a:r>
              <a:rPr lang="en-US" dirty="0"/>
              <a:t>Gains in assessment performance of including these processes are not always clear.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50" y="269797"/>
            <a:ext cx="7560900" cy="367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45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29032"/>
            <a:ext cx="8229600" cy="2711255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Lots of uses of ecosystem information even if not directly </a:t>
            </a:r>
            <a:r>
              <a:rPr lang="en-US" dirty="0" err="1"/>
              <a:t>incorpoarated</a:t>
            </a:r>
            <a:r>
              <a:rPr lang="en-US" dirty="0"/>
              <a:t> into models used for advice.</a:t>
            </a:r>
          </a:p>
          <a:p>
            <a:r>
              <a:rPr lang="en-US" strike="sngStrike" dirty="0"/>
              <a:t>Current</a:t>
            </a:r>
            <a:r>
              <a:rPr lang="en-US" dirty="0"/>
              <a:t> Northeast US research track assessments have a dedicated “ecosystem” </a:t>
            </a:r>
            <a:r>
              <a:rPr lang="en-US" dirty="0" err="1"/>
              <a:t>ToR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50" y="269797"/>
            <a:ext cx="7560900" cy="3678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AE04A1-2D32-8441-CD0D-EE077824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58156"/>
            <a:ext cx="7772400" cy="358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38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Much focus on “forage fish”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Short-lived, population productivity changes appear to be dependent on environment, or at least not only related to fishing.</a:t>
            </a:r>
          </a:p>
          <a:p>
            <a:r>
              <a:rPr lang="en-US" dirty="0"/>
              <a:t>Also have high levels of predation, often for other managed species.</a:t>
            </a:r>
          </a:p>
          <a:p>
            <a:endParaRPr lang="en-US" dirty="0"/>
          </a:p>
          <a:p>
            <a:endParaRPr lang="en-US" dirty="0"/>
          </a:p>
          <a:p>
            <a:pPr marL="347663" indent="-347663">
              <a:buNone/>
            </a:pPr>
            <a:r>
              <a:rPr lang="en-US" sz="2400" dirty="0"/>
              <a:t>Essington, T.E., Moriarty, P.E., Froehlich, H.E., Hodgson, E.E., Koehn, L.E., </a:t>
            </a:r>
            <a:r>
              <a:rPr lang="en-US" sz="2400" dirty="0" err="1"/>
              <a:t>Oken</a:t>
            </a:r>
            <a:r>
              <a:rPr lang="en-US" sz="2400" dirty="0"/>
              <a:t>, K.L., </a:t>
            </a:r>
            <a:r>
              <a:rPr lang="en-US" sz="2400" dirty="0" err="1"/>
              <a:t>Siple</a:t>
            </a:r>
            <a:r>
              <a:rPr lang="en-US" sz="2400" dirty="0"/>
              <a:t>, M.C. and </a:t>
            </a:r>
            <a:r>
              <a:rPr lang="en-US" sz="2400" dirty="0" err="1"/>
              <a:t>Stawitz</a:t>
            </a:r>
            <a:r>
              <a:rPr lang="en-US" sz="2400" dirty="0"/>
              <a:t>, C.C., 2015. Fishing amplifies forage fish population collapses. Proceedings of the National Academy of Sciences, 112(21), pp.6648-6652.</a:t>
            </a:r>
          </a:p>
          <a:p>
            <a:pPr marL="347663" indent="-347663">
              <a:buNone/>
            </a:pPr>
            <a:r>
              <a:rPr lang="en-US" sz="2400" dirty="0" err="1"/>
              <a:t>Hilborn</a:t>
            </a:r>
            <a:r>
              <a:rPr lang="en-US" sz="2400" dirty="0"/>
              <a:t>, R., Buratti, C.C., Díaz </a:t>
            </a:r>
            <a:r>
              <a:rPr lang="en-US" sz="2400" dirty="0" err="1"/>
              <a:t>Acuña</a:t>
            </a:r>
            <a:r>
              <a:rPr lang="en-US" sz="2400" dirty="0"/>
              <a:t>, E., Hively, D., Kolding, J., </a:t>
            </a:r>
            <a:r>
              <a:rPr lang="en-US" sz="2400" dirty="0" err="1"/>
              <a:t>Kurota</a:t>
            </a:r>
            <a:r>
              <a:rPr lang="en-US" sz="2400" dirty="0"/>
              <a:t>, H., Baker, N., Mace, P.M., de Moor, C.L., </a:t>
            </a:r>
            <a:r>
              <a:rPr lang="en-US" sz="2400" dirty="0" err="1"/>
              <a:t>Muko</a:t>
            </a:r>
            <a:r>
              <a:rPr lang="en-US" sz="2400" dirty="0"/>
              <a:t>, S. and </a:t>
            </a:r>
            <a:r>
              <a:rPr lang="en-US" sz="2400" dirty="0" err="1"/>
              <a:t>Osio</a:t>
            </a:r>
            <a:r>
              <a:rPr lang="en-US" sz="2400" dirty="0"/>
              <a:t>, G.C., 2022. Recent trends in abundance and fishing pressure of agency‐assessed small pelagic fish stocks. </a:t>
            </a:r>
            <a:r>
              <a:rPr lang="en-US" sz="2400" i="1" dirty="0"/>
              <a:t>Fish and Fisheries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25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25" y="0"/>
            <a:ext cx="7905603" cy="64365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854644" y="6436501"/>
            <a:ext cx="3952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Skern-Mauritzen</a:t>
            </a:r>
            <a:r>
              <a:rPr lang="en-US" dirty="0"/>
              <a:t> et al. (2015)</a:t>
            </a:r>
          </a:p>
        </p:txBody>
      </p:sp>
    </p:spTree>
    <p:extLst>
      <p:ext uri="{BB962C8B-B14F-4D97-AF65-F5344CB8AC3E}">
        <p14:creationId xmlns:p14="http://schemas.microsoft.com/office/powerpoint/2010/main" val="2981578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Maunder + Watters (2003)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Integrating environmental relationships in a statistical stock assessment model is an improvement over the traditional statistical model when there are large gaps in the data. </a:t>
            </a:r>
          </a:p>
          <a:p>
            <a:r>
              <a:rPr lang="en-US" dirty="0"/>
              <a:t>However, it is important to include process error to avoid the high probability of detecting spurious correlations seen in the environmental model….</a:t>
            </a:r>
          </a:p>
          <a:p>
            <a:r>
              <a:rPr lang="en-US" dirty="0"/>
              <a:t>Therefore, the environmental model with process error is the model of choice because</a:t>
            </a:r>
          </a:p>
          <a:p>
            <a:pPr lvl="1"/>
            <a:r>
              <a:rPr lang="en-US" dirty="0"/>
              <a:t>1) there is no bias in the estimates, </a:t>
            </a:r>
          </a:p>
          <a:p>
            <a:pPr lvl="1"/>
            <a:r>
              <a:rPr lang="en-US" dirty="0"/>
              <a:t>2) when there is no relationship with the environmental series, it is equivalent to the traditional model, </a:t>
            </a:r>
          </a:p>
          <a:p>
            <a:pPr lvl="1"/>
            <a:r>
              <a:rPr lang="en-US" dirty="0"/>
              <a:t>3) when such a relationship exists, the recruitment estimates are improved, particularly if there are important gaps in the data, </a:t>
            </a:r>
          </a:p>
          <a:p>
            <a:pPr lvl="1"/>
            <a:r>
              <a:rPr lang="en-US" dirty="0"/>
              <a:t>4) it may be used for prediction, and </a:t>
            </a:r>
          </a:p>
          <a:p>
            <a:pPr lvl="1"/>
            <a:r>
              <a:rPr lang="en-US" dirty="0"/>
              <a:t>5) uncertainty about the relationship can be modeled. </a:t>
            </a:r>
          </a:p>
        </p:txBody>
      </p:sp>
    </p:spTree>
    <p:extLst>
      <p:ext uri="{BB962C8B-B14F-4D97-AF65-F5344CB8AC3E}">
        <p14:creationId xmlns:p14="http://schemas.microsoft.com/office/powerpoint/2010/main" val="13513791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9990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Single-species assessment models can be easily ‘extended’ to include ecosystem processes.</a:t>
            </a:r>
          </a:p>
          <a:p>
            <a:r>
              <a:rPr lang="en-US" dirty="0"/>
              <a:t>The effects of these processes can be modeled implicitly or made explicit</a:t>
            </a:r>
          </a:p>
          <a:p>
            <a:pPr lvl="1"/>
            <a:r>
              <a:rPr lang="en-US" dirty="0"/>
              <a:t>Relative benefit of specific approach may vary</a:t>
            </a:r>
          </a:p>
          <a:p>
            <a:r>
              <a:rPr lang="en-US" dirty="0"/>
              <a:t>Information on ecosystem processes can be included for context, validation, diagnostics.</a:t>
            </a:r>
          </a:p>
          <a:p>
            <a:r>
              <a:rPr lang="en-US" dirty="0"/>
              <a:t>Continued emphasis on understanding performance of assessment &amp; management procedures to these effects.</a:t>
            </a:r>
          </a:p>
          <a:p>
            <a:r>
              <a:rPr lang="en-US" dirty="0"/>
              <a:t>Conducting and evaluating empirical/mechanistic projections of environmental effects likely very important.</a:t>
            </a:r>
          </a:p>
        </p:txBody>
      </p:sp>
    </p:spTree>
    <p:extLst>
      <p:ext uri="{BB962C8B-B14F-4D97-AF65-F5344CB8AC3E}">
        <p14:creationId xmlns:p14="http://schemas.microsoft.com/office/powerpoint/2010/main" val="667753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410" y="41482"/>
            <a:ext cx="8229600" cy="468936"/>
          </a:xfrm>
        </p:spPr>
        <p:txBody>
          <a:bodyPr>
            <a:normAutofit/>
          </a:bodyPr>
          <a:lstStyle/>
          <a:p>
            <a:r>
              <a:rPr lang="en-US" sz="2400" dirty="0"/>
              <a:t>Recommended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259" y="462938"/>
            <a:ext cx="8724115" cy="6129869"/>
          </a:xfrm>
        </p:spPr>
        <p:txBody>
          <a:bodyPr>
            <a:noAutofit/>
          </a:bodyPr>
          <a:lstStyle/>
          <a:p>
            <a:pPr marL="225425" indent="-225425">
              <a:buNone/>
            </a:pPr>
            <a:r>
              <a:rPr lang="en-US" sz="1200" dirty="0" err="1"/>
              <a:t>Basson</a:t>
            </a:r>
            <a:r>
              <a:rPr lang="en-US" sz="1200" dirty="0"/>
              <a:t>, M., 1999. The importance of environmental factors in the design of management procedures. </a:t>
            </a:r>
            <a:r>
              <a:rPr lang="en-US" sz="1200" i="1" dirty="0"/>
              <a:t>ICES Journal of Marine Science: Journal du </a:t>
            </a:r>
            <a:r>
              <a:rPr lang="en-US" sz="1200" i="1" dirty="0" err="1"/>
              <a:t>Conseil</a:t>
            </a:r>
            <a:r>
              <a:rPr lang="en-US" sz="1200" dirty="0"/>
              <a:t>, </a:t>
            </a:r>
            <a:r>
              <a:rPr lang="en-US" sz="1200" i="1" dirty="0"/>
              <a:t>56</a:t>
            </a:r>
            <a:r>
              <a:rPr lang="en-US" sz="1200" dirty="0"/>
              <a:t>(6), pp.933-942.</a:t>
            </a:r>
          </a:p>
          <a:p>
            <a:pPr marL="225425" indent="-225425">
              <a:buNone/>
            </a:pPr>
            <a:r>
              <a:rPr lang="en-US" sz="1200" dirty="0"/>
              <a:t>Bell, R.J., Hare, J.A., </a:t>
            </a:r>
            <a:r>
              <a:rPr lang="en-US" sz="1200" dirty="0" err="1"/>
              <a:t>Manderson</a:t>
            </a:r>
            <a:r>
              <a:rPr lang="en-US" sz="1200" dirty="0"/>
              <a:t>, J.P. and Richardson, D.E., 2014. Externally driven changes in the abundance of summer and winter flounder. </a:t>
            </a:r>
            <a:r>
              <a:rPr lang="en-US" sz="1200" i="1" dirty="0"/>
              <a:t>ICES Journal of Marine Science: Journal du </a:t>
            </a:r>
            <a:r>
              <a:rPr lang="en-US" sz="1200" i="1" dirty="0" err="1"/>
              <a:t>Conseil</a:t>
            </a:r>
            <a:r>
              <a:rPr lang="en-US" sz="1200" dirty="0"/>
              <a:t>, </a:t>
            </a:r>
            <a:r>
              <a:rPr lang="en-US" sz="1200" i="1" dirty="0"/>
              <a:t>71</a:t>
            </a:r>
            <a:r>
              <a:rPr lang="en-US" sz="1200" dirty="0"/>
              <a:t>(9), pp.2416-2428.</a:t>
            </a:r>
          </a:p>
          <a:p>
            <a:pPr marL="225425" indent="-225425">
              <a:buNone/>
            </a:pPr>
            <a:r>
              <a:rPr lang="en-US" sz="1200" dirty="0" err="1"/>
              <a:t>Deriso</a:t>
            </a:r>
            <a:r>
              <a:rPr lang="en-US" sz="1200" dirty="0"/>
              <a:t>, R.B., Maunder, M.N. and Pearson, W.H., 2008. Incorporating covariates into fisheries stock assessment models with application to Pacific herring. </a:t>
            </a:r>
            <a:r>
              <a:rPr lang="en-US" sz="1200" i="1" dirty="0"/>
              <a:t>Ecological Applications</a:t>
            </a:r>
            <a:r>
              <a:rPr lang="en-US" sz="1200" dirty="0"/>
              <a:t>, </a:t>
            </a:r>
            <a:r>
              <a:rPr lang="en-US" sz="1200" i="1" dirty="0"/>
              <a:t>18</a:t>
            </a:r>
            <a:r>
              <a:rPr lang="en-US" sz="1200" dirty="0"/>
              <a:t>(5), pp.1270-1286.</a:t>
            </a:r>
          </a:p>
          <a:p>
            <a:pPr marL="225425" indent="-225425">
              <a:buNone/>
            </a:pPr>
            <a:r>
              <a:rPr lang="en-US" sz="1200" dirty="0" err="1"/>
              <a:t>Deroba</a:t>
            </a:r>
            <a:r>
              <a:rPr lang="en-US" sz="1200" dirty="0"/>
              <a:t>, J.J. and </a:t>
            </a:r>
            <a:r>
              <a:rPr lang="en-US" sz="1200" dirty="0" err="1"/>
              <a:t>Schueller</a:t>
            </a:r>
            <a:r>
              <a:rPr lang="en-US" sz="1200" dirty="0"/>
              <a:t>, A.M., 2013. Performance of stock assessments with </a:t>
            </a:r>
            <a:r>
              <a:rPr lang="en-US" sz="1200" dirty="0" err="1"/>
              <a:t>misspecified</a:t>
            </a:r>
            <a:r>
              <a:rPr lang="en-US" sz="1200" dirty="0"/>
              <a:t> age-and time-varying natural mortality. </a:t>
            </a:r>
            <a:r>
              <a:rPr lang="en-US" sz="1200" i="1" dirty="0"/>
              <a:t>Fisheries Research</a:t>
            </a:r>
            <a:r>
              <a:rPr lang="en-US" sz="1200" dirty="0"/>
              <a:t>, </a:t>
            </a:r>
            <a:r>
              <a:rPr lang="en-US" sz="1200" i="1" dirty="0"/>
              <a:t>146</a:t>
            </a:r>
            <a:r>
              <a:rPr lang="en-US" sz="1200" dirty="0"/>
              <a:t>, pp.27-40.</a:t>
            </a:r>
          </a:p>
          <a:p>
            <a:pPr marL="225425" indent="-225425">
              <a:buNone/>
            </a:pPr>
            <a:r>
              <a:rPr lang="en-US" sz="1200" dirty="0" err="1"/>
              <a:t>Gårdmark</a:t>
            </a:r>
            <a:r>
              <a:rPr lang="en-US" sz="1200" dirty="0"/>
              <a:t>, A., </a:t>
            </a:r>
            <a:r>
              <a:rPr lang="en-US" sz="1200" dirty="0" err="1"/>
              <a:t>Östman</a:t>
            </a:r>
            <a:r>
              <a:rPr lang="en-US" sz="1200" dirty="0"/>
              <a:t>, </a:t>
            </a:r>
            <a:r>
              <a:rPr lang="en-US" sz="1200" dirty="0" err="1"/>
              <a:t>Ö</a:t>
            </a:r>
            <a:r>
              <a:rPr lang="en-US" sz="1200" dirty="0"/>
              <a:t>., Nielsen, A., </a:t>
            </a:r>
            <a:r>
              <a:rPr lang="en-US" sz="1200" dirty="0" err="1"/>
              <a:t>Lundström</a:t>
            </a:r>
            <a:r>
              <a:rPr lang="en-US" sz="1200" dirty="0"/>
              <a:t>, K., </a:t>
            </a:r>
            <a:r>
              <a:rPr lang="en-US" sz="1200" dirty="0" err="1"/>
              <a:t>Karlsson</a:t>
            </a:r>
            <a:r>
              <a:rPr lang="en-US" sz="1200" dirty="0"/>
              <a:t>, O., </a:t>
            </a:r>
            <a:r>
              <a:rPr lang="en-US" sz="1200" dirty="0" err="1"/>
              <a:t>Pönni</a:t>
            </a:r>
            <a:r>
              <a:rPr lang="en-US" sz="1200" dirty="0"/>
              <a:t>, J. and </a:t>
            </a:r>
            <a:r>
              <a:rPr lang="en-US" sz="1200" dirty="0" err="1"/>
              <a:t>Aho</a:t>
            </a:r>
            <a:r>
              <a:rPr lang="en-US" sz="1200" dirty="0"/>
              <a:t>, T., 2012. Does predation by grey seals (</a:t>
            </a:r>
            <a:r>
              <a:rPr lang="en-US" sz="1200" dirty="0" err="1"/>
              <a:t>Halichoerus</a:t>
            </a:r>
            <a:r>
              <a:rPr lang="en-US" sz="1200" dirty="0"/>
              <a:t> </a:t>
            </a:r>
            <a:r>
              <a:rPr lang="en-US" sz="1200" dirty="0" err="1"/>
              <a:t>grypus</a:t>
            </a:r>
            <a:r>
              <a:rPr lang="en-US" sz="1200" dirty="0"/>
              <a:t>) affect </a:t>
            </a:r>
            <a:r>
              <a:rPr lang="en-US" sz="1200" dirty="0" err="1"/>
              <a:t>Bothnian</a:t>
            </a:r>
            <a:r>
              <a:rPr lang="en-US" sz="1200" dirty="0"/>
              <a:t> Sea herring stock estimates?. </a:t>
            </a:r>
            <a:r>
              <a:rPr lang="en-US" sz="1200" i="1" dirty="0"/>
              <a:t>ICES Journal of Marine Science: Journal du </a:t>
            </a:r>
            <a:r>
              <a:rPr lang="en-US" sz="1200" i="1" dirty="0" err="1"/>
              <a:t>Conseil</a:t>
            </a:r>
            <a:r>
              <a:rPr lang="en-US" sz="1200" dirty="0"/>
              <a:t>, </a:t>
            </a:r>
            <a:r>
              <a:rPr lang="en-US" sz="1200" i="1" dirty="0"/>
              <a:t>69</a:t>
            </a:r>
            <a:r>
              <a:rPr lang="en-US" sz="1200" dirty="0"/>
              <a:t>(8), pp.1448-1456.</a:t>
            </a:r>
          </a:p>
          <a:p>
            <a:pPr marL="225425" indent="-225425">
              <a:buNone/>
            </a:pPr>
            <a:r>
              <a:rPr lang="en-US" sz="1200" dirty="0" err="1"/>
              <a:t>Haltuch</a:t>
            </a:r>
            <a:r>
              <a:rPr lang="en-US" sz="1200" dirty="0"/>
              <a:t>, M.A. and Punt, A.E., 2011. The promises and pitfalls of including decadal-scale climate forcing of recruitment in </a:t>
            </a:r>
            <a:r>
              <a:rPr lang="en-US" sz="1200" dirty="0" err="1"/>
              <a:t>groundfish</a:t>
            </a:r>
            <a:r>
              <a:rPr lang="en-US" sz="1200" dirty="0"/>
              <a:t> stock assessment. </a:t>
            </a:r>
            <a:r>
              <a:rPr lang="en-US" sz="1200" i="1" dirty="0"/>
              <a:t>Canadian Journal of Fisheries and Aquatic Sciences</a:t>
            </a:r>
            <a:r>
              <a:rPr lang="en-US" sz="1200" dirty="0"/>
              <a:t>, </a:t>
            </a:r>
            <a:r>
              <a:rPr lang="en-US" sz="1200" i="1" dirty="0"/>
              <a:t>68</a:t>
            </a:r>
            <a:r>
              <a:rPr lang="en-US" sz="1200" dirty="0"/>
              <a:t>(5), pp.912-926.</a:t>
            </a:r>
          </a:p>
          <a:p>
            <a:pPr marL="225425" indent="-225425">
              <a:buNone/>
            </a:pPr>
            <a:r>
              <a:rPr lang="en-US" sz="1200" dirty="0"/>
              <a:t>Hollowed, A.B., </a:t>
            </a:r>
            <a:r>
              <a:rPr lang="en-US" sz="1200" dirty="0" err="1"/>
              <a:t>Ianelli</a:t>
            </a:r>
            <a:r>
              <a:rPr lang="en-US" sz="1200" dirty="0"/>
              <a:t>, J.N. and Livingston, P.A., 2000. Including predation mortality in stock assessments: a case study for Gulf of Alaska walleye </a:t>
            </a:r>
            <a:r>
              <a:rPr lang="en-US" sz="1200" dirty="0" err="1"/>
              <a:t>pollock</a:t>
            </a:r>
            <a:r>
              <a:rPr lang="en-US" sz="1200" dirty="0"/>
              <a:t>. </a:t>
            </a:r>
            <a:r>
              <a:rPr lang="en-US" sz="1200" i="1" dirty="0"/>
              <a:t>ICES Journal of Marine Science: Journal du </a:t>
            </a:r>
            <a:r>
              <a:rPr lang="en-US" sz="1200" i="1" dirty="0" err="1"/>
              <a:t>Conseil</a:t>
            </a:r>
            <a:r>
              <a:rPr lang="en-US" sz="1200" dirty="0"/>
              <a:t>, </a:t>
            </a:r>
            <a:r>
              <a:rPr lang="en-US" sz="1200" i="1" dirty="0"/>
              <a:t>57</a:t>
            </a:r>
            <a:r>
              <a:rPr lang="en-US" sz="1200" dirty="0"/>
              <a:t>(2), pp.279-293.</a:t>
            </a:r>
          </a:p>
          <a:p>
            <a:pPr marL="225425" indent="-225425">
              <a:buNone/>
            </a:pPr>
            <a:r>
              <a:rPr lang="en-US" sz="1200" dirty="0"/>
              <a:t>Hollowed, A.B., Bond, N.A., </a:t>
            </a:r>
            <a:r>
              <a:rPr lang="en-US" sz="1200" dirty="0" err="1"/>
              <a:t>Wilderbuer</a:t>
            </a:r>
            <a:r>
              <a:rPr lang="en-US" sz="1200" dirty="0"/>
              <a:t>, T.K., Stockhausen, W.T., </a:t>
            </a:r>
            <a:r>
              <a:rPr lang="en-US" sz="1200" dirty="0" err="1"/>
              <a:t>A'mar</a:t>
            </a:r>
            <a:r>
              <a:rPr lang="en-US" sz="1200" dirty="0"/>
              <a:t>, Z.T., Beamish, R.J., Overland, J.E. and </a:t>
            </a:r>
            <a:r>
              <a:rPr lang="en-US" sz="1200" dirty="0" err="1"/>
              <a:t>Schirripa</a:t>
            </a:r>
            <a:r>
              <a:rPr lang="en-US" sz="1200" dirty="0"/>
              <a:t>, M.J., 2009. A framework for </a:t>
            </a:r>
            <a:r>
              <a:rPr lang="en-US" sz="1200" dirty="0" err="1"/>
              <a:t>modelling</a:t>
            </a:r>
            <a:r>
              <a:rPr lang="en-US" sz="1200" dirty="0"/>
              <a:t> fish and shellfish responses to future climate change. </a:t>
            </a:r>
            <a:r>
              <a:rPr lang="en-US" sz="1200" i="1" dirty="0"/>
              <a:t>ICES Journal of Marine Science: Journal du </a:t>
            </a:r>
            <a:r>
              <a:rPr lang="en-US" sz="1200" i="1" dirty="0" err="1"/>
              <a:t>Conseil</a:t>
            </a:r>
            <a:r>
              <a:rPr lang="en-US" sz="1200" dirty="0"/>
              <a:t>, </a:t>
            </a:r>
            <a:r>
              <a:rPr lang="en-US" sz="1200" i="1" dirty="0"/>
              <a:t>66</a:t>
            </a:r>
            <a:r>
              <a:rPr lang="en-US" sz="1200" dirty="0"/>
              <a:t>(7), pp.1584-1594.</a:t>
            </a:r>
          </a:p>
          <a:p>
            <a:pPr marL="225425" indent="-225425">
              <a:buNone/>
            </a:pPr>
            <a:r>
              <a:rPr lang="en-US" sz="1200" dirty="0"/>
              <a:t>King, J.R., McFarlane, G.A. and Punt, A.E., 2015. Shifts in fisheries management: adapting to regime shifts. </a:t>
            </a:r>
            <a:r>
              <a:rPr lang="en-US" sz="1200" i="1" dirty="0"/>
              <a:t>Philosophical Transactions of the Royal Society of London B: Biological Sciences</a:t>
            </a:r>
            <a:r>
              <a:rPr lang="en-US" sz="1200" dirty="0"/>
              <a:t>, </a:t>
            </a:r>
            <a:r>
              <a:rPr lang="en-US" sz="1200" i="1" dirty="0"/>
              <a:t>370</a:t>
            </a:r>
            <a:r>
              <a:rPr lang="en-US" sz="1200" dirty="0"/>
              <a:t>(1659), p.20130277.</a:t>
            </a:r>
          </a:p>
          <a:p>
            <a:pPr marL="225425" indent="-225425">
              <a:buNone/>
            </a:pPr>
            <a:r>
              <a:rPr lang="en-US" sz="1200" dirty="0" err="1"/>
              <a:t>Legault</a:t>
            </a:r>
            <a:r>
              <a:rPr lang="en-US" sz="1200" dirty="0"/>
              <a:t>, C.M. and Palmer, M.C., 2015. In what direction should the fishing mortality target change when natural mortality increases within an assessment?. </a:t>
            </a:r>
            <a:r>
              <a:rPr lang="en-US" sz="1200" i="1" dirty="0"/>
              <a:t>Canadian Journal of Fisheries and Aquatic Sciences</a:t>
            </a:r>
            <a:r>
              <a:rPr lang="en-US" sz="1200" dirty="0"/>
              <a:t>, </a:t>
            </a:r>
            <a:r>
              <a:rPr lang="en-US" sz="1200" i="1" dirty="0"/>
              <a:t>73</a:t>
            </a:r>
            <a:r>
              <a:rPr lang="en-US" sz="1200" dirty="0"/>
              <a:t>(999), pp.1-9.</a:t>
            </a:r>
          </a:p>
          <a:p>
            <a:pPr marL="225425" indent="-225425">
              <a:buNone/>
            </a:pPr>
            <a:r>
              <a:rPr lang="en-US" sz="1200" dirty="0"/>
              <a:t>Maunder, M.N. and Watters, G.M., 2003. A general framework for integrating environmental time series into stock assessment models: model description, simulation testing, and example. Fishery Bulletin, 101(1), pp.89-99.</a:t>
            </a:r>
          </a:p>
          <a:p>
            <a:pPr marL="225425" indent="-225425">
              <a:buNone/>
            </a:pPr>
            <a:r>
              <a:rPr lang="en-US" sz="1200" dirty="0" err="1"/>
              <a:t>Plagányi</a:t>
            </a:r>
            <a:r>
              <a:rPr lang="en-US" sz="1200" dirty="0"/>
              <a:t>, É.E., Weeks, S.J., </a:t>
            </a:r>
            <a:r>
              <a:rPr lang="en-US" sz="1200" dirty="0" err="1"/>
              <a:t>Skewes</a:t>
            </a:r>
            <a:r>
              <a:rPr lang="en-US" sz="1200" dirty="0"/>
              <a:t>, T.D., Gibbs, M.T., </a:t>
            </a:r>
            <a:r>
              <a:rPr lang="en-US" sz="1200" dirty="0" err="1"/>
              <a:t>Poloczanska</a:t>
            </a:r>
            <a:r>
              <a:rPr lang="en-US" sz="1200" dirty="0"/>
              <a:t>, E.S., Norman-</a:t>
            </a:r>
            <a:r>
              <a:rPr lang="en-US" sz="1200" dirty="0" err="1"/>
              <a:t>López</a:t>
            </a:r>
            <a:r>
              <a:rPr lang="en-US" sz="1200" dirty="0"/>
              <a:t>, A., Blamey, L.K., </a:t>
            </a:r>
            <a:r>
              <a:rPr lang="en-US" sz="1200" dirty="0" err="1"/>
              <a:t>Soares</a:t>
            </a:r>
            <a:r>
              <a:rPr lang="en-US" sz="1200" dirty="0"/>
              <a:t>, M. and Robinson, W.M., 2011. Assessing the adequacy of current fisheries management under changing climate: a southern synopsis. – ICES Journal of Marine Science, 68: 1305–1317.</a:t>
            </a:r>
          </a:p>
          <a:p>
            <a:pPr marL="225425" indent="-225425">
              <a:buNone/>
            </a:pPr>
            <a:r>
              <a:rPr lang="en-US" sz="1200" dirty="0" err="1"/>
              <a:t>Schirripa</a:t>
            </a:r>
            <a:r>
              <a:rPr lang="en-US" sz="1200" dirty="0"/>
              <a:t>, M. J., Goodyear, C. P., and </a:t>
            </a:r>
            <a:r>
              <a:rPr lang="en-US" sz="1200" dirty="0" err="1"/>
              <a:t>Methot</a:t>
            </a:r>
            <a:r>
              <a:rPr lang="en-US" sz="1200" dirty="0"/>
              <a:t>, R. M. 2009. Testing different methods of incorporating climate data into the assessment of US West Coast sablefish. – ICES Journal of Marine Science, 66: 1605–1613.</a:t>
            </a:r>
          </a:p>
          <a:p>
            <a:pPr marL="225425" indent="-225425">
              <a:buNone/>
            </a:pPr>
            <a:r>
              <a:rPr lang="en-US" sz="1200" dirty="0" err="1"/>
              <a:t>Skern‐Mauritzen</a:t>
            </a:r>
            <a:r>
              <a:rPr lang="en-US" sz="1200" dirty="0"/>
              <a:t>, M., </a:t>
            </a:r>
            <a:r>
              <a:rPr lang="en-US" sz="1200" dirty="0" err="1"/>
              <a:t>Ottersen</a:t>
            </a:r>
            <a:r>
              <a:rPr lang="en-US" sz="1200" dirty="0"/>
              <a:t>, G., </a:t>
            </a:r>
            <a:r>
              <a:rPr lang="en-US" sz="1200" dirty="0" err="1"/>
              <a:t>Handegard</a:t>
            </a:r>
            <a:r>
              <a:rPr lang="en-US" sz="1200" dirty="0"/>
              <a:t>, N.O., </a:t>
            </a:r>
            <a:r>
              <a:rPr lang="en-US" sz="1200" dirty="0" err="1"/>
              <a:t>Huse</a:t>
            </a:r>
            <a:r>
              <a:rPr lang="en-US" sz="1200" dirty="0"/>
              <a:t>, G., </a:t>
            </a:r>
            <a:r>
              <a:rPr lang="en-US" sz="1200" dirty="0" err="1"/>
              <a:t>Dingsør</a:t>
            </a:r>
            <a:r>
              <a:rPr lang="en-US" sz="1200" dirty="0"/>
              <a:t>, G.E., </a:t>
            </a:r>
            <a:r>
              <a:rPr lang="en-US" sz="1200" dirty="0" err="1"/>
              <a:t>Stenseth</a:t>
            </a:r>
            <a:r>
              <a:rPr lang="en-US" sz="1200" dirty="0"/>
              <a:t>, N.C. and </a:t>
            </a:r>
            <a:r>
              <a:rPr lang="en-US" sz="1200" dirty="0" err="1"/>
              <a:t>Kjesbu</a:t>
            </a:r>
            <a:r>
              <a:rPr lang="en-US" sz="1200" dirty="0"/>
              <a:t>, O.S., 2015. Ecosystem processes are rarely included in tactical fisheries management. </a:t>
            </a:r>
            <a:r>
              <a:rPr lang="en-US" sz="1200" i="1" dirty="0"/>
              <a:t>Fish and Fisheries</a:t>
            </a:r>
            <a:r>
              <a:rPr lang="en-US" sz="1200" dirty="0"/>
              <a:t>.</a:t>
            </a:r>
          </a:p>
          <a:p>
            <a:pPr marL="225425" indent="-225425">
              <a:buNone/>
            </a:pPr>
            <a:r>
              <a:rPr lang="en-US" sz="1200" dirty="0" err="1"/>
              <a:t>Wilberg</a:t>
            </a:r>
            <a:r>
              <a:rPr lang="en-US" sz="1200" dirty="0"/>
              <a:t>, M.J., Thorson, J.T., Linton, B.C. and </a:t>
            </a:r>
            <a:r>
              <a:rPr lang="en-US" sz="1200" dirty="0" err="1"/>
              <a:t>Berkson</a:t>
            </a:r>
            <a:r>
              <a:rPr lang="en-US" sz="1200" dirty="0"/>
              <a:t>, J., 2009. Incorporating time-varying </a:t>
            </a:r>
            <a:r>
              <a:rPr lang="en-US" sz="1200" dirty="0" err="1"/>
              <a:t>catchability</a:t>
            </a:r>
            <a:r>
              <a:rPr lang="en-US" sz="1200" dirty="0"/>
              <a:t> into population dynamic stock assessment models. </a:t>
            </a:r>
            <a:r>
              <a:rPr lang="en-US" sz="1200" i="1" dirty="0"/>
              <a:t>Reviews in Fisheries Science</a:t>
            </a:r>
            <a:r>
              <a:rPr lang="en-US" sz="1200" dirty="0"/>
              <a:t>, </a:t>
            </a:r>
            <a:r>
              <a:rPr lang="en-US" sz="1200" i="1" dirty="0"/>
              <a:t>18</a:t>
            </a:r>
            <a:r>
              <a:rPr lang="en-US" sz="1200" dirty="0"/>
              <a:t>(1), pp.7-24.</a:t>
            </a:r>
          </a:p>
        </p:txBody>
      </p:sp>
    </p:spTree>
    <p:extLst>
      <p:ext uri="{BB962C8B-B14F-4D97-AF65-F5344CB8AC3E}">
        <p14:creationId xmlns:p14="http://schemas.microsoft.com/office/powerpoint/2010/main" val="3471177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Ecosystem processes in stock 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52178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96813"/>
            <a:ext cx="8229600" cy="688359"/>
          </a:xfrm>
        </p:spPr>
        <p:txBody>
          <a:bodyPr>
            <a:normAutofit fontScale="90000"/>
          </a:bodyPr>
          <a:lstStyle/>
          <a:p>
            <a:r>
              <a:rPr lang="en-US" dirty="0"/>
              <a:t>Lab: Dynamic reference points in stock recruit models for Northeast US Atlantic herring</a:t>
            </a:r>
          </a:p>
        </p:txBody>
      </p:sp>
      <p:pic>
        <p:nvPicPr>
          <p:cNvPr id="49154" name="Picture 2" descr="Learn about Atlantic herring | Mass.gov">
            <a:extLst>
              <a:ext uri="{FF2B5EF4-FFF2-40B4-BE49-F238E27FC236}">
                <a16:creationId xmlns:a16="http://schemas.microsoft.com/office/drawing/2014/main" id="{CEFD24FE-8D10-0633-5518-6261C0ADE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580" y="1343378"/>
            <a:ext cx="4005398" cy="225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CBC403-E3E4-6664-F73F-E5C0E163A3FF}"/>
              </a:ext>
            </a:extLst>
          </p:cNvPr>
          <p:cNvSpPr txBox="1"/>
          <p:nvPr/>
        </p:nvSpPr>
        <p:spPr>
          <a:xfrm>
            <a:off x="8353778" y="3597805"/>
            <a:ext cx="1072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Mass.gov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7ACE11-DEEC-AC3E-CD53-C0AF6C5F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35" y="2877073"/>
            <a:ext cx="3516812" cy="39809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3D370D-387B-45FE-A013-B8AEA6A37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82" y="3358928"/>
            <a:ext cx="2801639" cy="2146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0F24BA-C83B-43D8-F22E-1A3EE8A037B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534" r="3817"/>
          <a:stretch/>
        </p:blipFill>
        <p:spPr>
          <a:xfrm>
            <a:off x="4432300" y="3874804"/>
            <a:ext cx="4455865" cy="30336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A7A357-107C-BFAC-95A0-66334DDE0064}"/>
              </a:ext>
            </a:extLst>
          </p:cNvPr>
          <p:cNvSpPr txBox="1"/>
          <p:nvPr/>
        </p:nvSpPr>
        <p:spPr>
          <a:xfrm>
            <a:off x="445911" y="1343378"/>
            <a:ext cx="4351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Fit state-space model of stock-recruit dynamics for herring that includes time-varying productivity</a:t>
            </a:r>
          </a:p>
        </p:txBody>
      </p:sp>
    </p:spTree>
    <p:extLst>
      <p:ext uri="{BB962C8B-B14F-4D97-AF65-F5344CB8AC3E}">
        <p14:creationId xmlns:p14="http://schemas.microsoft.com/office/powerpoint/2010/main" val="3345433470"/>
      </p:ext>
    </p:extLst>
  </p:cSld>
  <p:clrMapOvr>
    <a:masterClrMapping/>
  </p:clrMapOvr>
</p:sld>
</file>

<file path=ppt/theme/theme1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AA Title Option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GFAY_Cust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noaa_fisheries_presentation_template_final</Template>
  <TotalTime>3187</TotalTime>
  <Words>3658</Words>
  <Application>Microsoft Macintosh PowerPoint</Application>
  <PresentationFormat>On-screen Show (4:3)</PresentationFormat>
  <Paragraphs>286</Paragraphs>
  <Slides>48</Slides>
  <Notes>2</Notes>
  <HiddenSlides>3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Arial Narrow</vt:lpstr>
      <vt:lpstr>Calibri</vt:lpstr>
      <vt:lpstr>NOAA Divider Slides</vt:lpstr>
      <vt:lpstr>NOAA Title Options</vt:lpstr>
      <vt:lpstr>GFAY_Custom</vt:lpstr>
      <vt:lpstr>Equation</vt:lpstr>
      <vt:lpstr>MAR 580: Advanced Population Modeling</vt:lpstr>
      <vt:lpstr>Objectives</vt:lpstr>
      <vt:lpstr>Rationale</vt:lpstr>
      <vt:lpstr>Ecosystem processes in single species models</vt:lpstr>
      <vt:lpstr>Ecosystem processes in single species models</vt:lpstr>
      <vt:lpstr>Approaches</vt:lpstr>
      <vt:lpstr>Single Species Models</vt:lpstr>
      <vt:lpstr>Extended Single Species Models</vt:lpstr>
      <vt:lpstr>Modifying the Graham-Schaefer production model (logistic growth)</vt:lpstr>
      <vt:lpstr>Modifying the basic age-structured model</vt:lpstr>
      <vt:lpstr>General approaches (1.)</vt:lpstr>
      <vt:lpstr>General approaches (1.)</vt:lpstr>
      <vt:lpstr>Choice of functional forms (see Bolker 2008 C3)</vt:lpstr>
      <vt:lpstr>e.g. Recruitment</vt:lpstr>
      <vt:lpstr>General approaches (2.)</vt:lpstr>
      <vt:lpstr>General approaches (3.)</vt:lpstr>
      <vt:lpstr>Identifying candidate covariates Conceptual modeling, Correlation analysis</vt:lpstr>
      <vt:lpstr>General approaches (4.)</vt:lpstr>
      <vt:lpstr>Adding Predation Longspine thornyhead, U.S. West Coast </vt:lpstr>
      <vt:lpstr>Modeling herring consumption by seals</vt:lpstr>
      <vt:lpstr>Do we already have this covered?</vt:lpstr>
      <vt:lpstr>Do we already have this covered?</vt:lpstr>
      <vt:lpstr>Time-varying parameters in assessment models</vt:lpstr>
      <vt:lpstr>Demographic processes</vt:lpstr>
      <vt:lpstr>PowerPoint Presentation</vt:lpstr>
      <vt:lpstr>Demographic processes</vt:lpstr>
      <vt:lpstr>Sources of mortality likely to change throughout lifetime Relative influences may determine adequacy of ‘conventional’ approach</vt:lpstr>
      <vt:lpstr>Age-varying M</vt:lpstr>
      <vt:lpstr>Gulf of Maine-Georges Bank Atlantic herring Estimates of mortality by explicit modeling of consumption</vt:lpstr>
      <vt:lpstr>GoM-GB Atlantic herring assessment 2012 assessment changed to scaled Lorenzen approach 2015 operational update: alternative suggested Lorenzen mortality too high for consumption estimates.</vt:lpstr>
      <vt:lpstr>Atlantic Menhaden assessment (SEDAR 2014)</vt:lpstr>
      <vt:lpstr>Some simulation studies on M</vt:lpstr>
      <vt:lpstr>But what about projections?</vt:lpstr>
      <vt:lpstr>Climate effect on Recruitment Bering Sea Walleye pollock</vt:lpstr>
      <vt:lpstr>Changes in population forcing or characteristics may influence modeled relationships</vt:lpstr>
      <vt:lpstr>Nonstationarity and Reference points</vt:lpstr>
      <vt:lpstr>Modeling changing reference points, alternative time horizons</vt:lpstr>
      <vt:lpstr>Dynamic B0 (MacCall 1985) </vt:lpstr>
      <vt:lpstr>Challenges in implementing extended single-species approaches</vt:lpstr>
      <vt:lpstr>PowerPoint Presentation</vt:lpstr>
      <vt:lpstr>PowerPoint Presentation</vt:lpstr>
      <vt:lpstr>Much focus on “forage fish”</vt:lpstr>
      <vt:lpstr>PowerPoint Presentation</vt:lpstr>
      <vt:lpstr>Maunder + Watters (2003) conclusion</vt:lpstr>
      <vt:lpstr>Take home messages</vt:lpstr>
      <vt:lpstr>Recommended Reading</vt:lpstr>
      <vt:lpstr>Ecosystem processes in stock assessments</vt:lpstr>
      <vt:lpstr>Lab: Dynamic reference points in stock recruit models for Northeast US Atlantic herring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mar530:EBFM Lecture 1</dc:title>
  <dc:subject>Introduction, Course Mechanics, What is EBFM? </dc:subject>
  <dc:creator>Gavin Fay</dc:creator>
  <cp:keywords/>
  <dc:description/>
  <cp:lastModifiedBy>Gavin Fay</cp:lastModifiedBy>
  <cp:revision>409</cp:revision>
  <dcterms:created xsi:type="dcterms:W3CDTF">2014-06-04T00:44:42Z</dcterms:created>
  <dcterms:modified xsi:type="dcterms:W3CDTF">2025-11-18T17:59:52Z</dcterms:modified>
  <cp:category/>
</cp:coreProperties>
</file>