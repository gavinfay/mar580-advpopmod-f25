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260" r:id="rId3"/>
    <p:sldId id="393" r:id="rId4"/>
    <p:sldId id="395" r:id="rId5"/>
    <p:sldId id="394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404" r:id="rId15"/>
    <p:sldId id="405" r:id="rId16"/>
    <p:sldId id="406" r:id="rId17"/>
    <p:sldId id="407" r:id="rId18"/>
    <p:sldId id="408" r:id="rId19"/>
    <p:sldId id="409" r:id="rId20"/>
    <p:sldId id="410" r:id="rId21"/>
    <p:sldId id="411" r:id="rId22"/>
    <p:sldId id="412" r:id="rId23"/>
    <p:sldId id="413" r:id="rId24"/>
    <p:sldId id="414" r:id="rId25"/>
    <p:sldId id="415" r:id="rId26"/>
    <p:sldId id="416" r:id="rId27"/>
    <p:sldId id="417" r:id="rId28"/>
    <p:sldId id="418" r:id="rId29"/>
    <p:sldId id="419" r:id="rId30"/>
    <p:sldId id="420" r:id="rId31"/>
    <p:sldId id="422" r:id="rId32"/>
    <p:sldId id="42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3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4" y="2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10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17B84-6269-4CEA-BC96-411381D51FC6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C2AF63-0760-424E-B6C6-BC8FE99A5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45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8DCC0E-7DBF-7C4A-B104-25FE08E3BB8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66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1C876-33E8-4C7A-84E0-A8646BE07B4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4F1FA-CFE8-403B-B11F-AA1E21F5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52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00" y="0"/>
            <a:ext cx="11811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35088"/>
            <a:ext cx="12192000" cy="5522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1C876-33E8-4C7A-84E0-A8646BE07B4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4F1FA-CFE8-403B-B11F-AA1E21F5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66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1C876-33E8-4C7A-84E0-A8646BE07B4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4F1FA-CFE8-403B-B11F-AA1E21F5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68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1C876-33E8-4C7A-84E0-A8646BE07B4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4F1FA-CFE8-403B-B11F-AA1E21F5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89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1C876-33E8-4C7A-84E0-A8646BE07B4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4F1FA-CFE8-403B-B11F-AA1E21F5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05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9525"/>
            <a:ext cx="116078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1C876-33E8-4C7A-84E0-A8646BE07B4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4F1FA-CFE8-403B-B11F-AA1E21F5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00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1C876-33E8-4C7A-84E0-A8646BE07B4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4F1FA-CFE8-403B-B11F-AA1E21F5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770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1C876-33E8-4C7A-84E0-A8646BE07B4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4F1FA-CFE8-403B-B11F-AA1E21F5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05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1C876-33E8-4C7A-84E0-A8646BE07B4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4F1FA-CFE8-403B-B11F-AA1E21F5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76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1C876-33E8-4C7A-84E0-A8646BE07B4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4F1FA-CFE8-403B-B11F-AA1E21F5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9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1C876-33E8-4C7A-84E0-A8646BE07B4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4F1FA-CFE8-403B-B11F-AA1E21F5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04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1C876-33E8-4C7A-84E0-A8646BE07B4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4F1FA-CFE8-403B-B11F-AA1E21F5B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31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3562350" y="3487607"/>
            <a:ext cx="6648450" cy="251768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Biomass Dynamics Models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(Acknowledgements: Steve </a:t>
            </a:r>
            <a:r>
              <a:rPr lang="en-US" b="1" dirty="0" err="1"/>
              <a:t>Cadrin</a:t>
            </a:r>
            <a:r>
              <a:rPr lang="en-US" b="1" dirty="0"/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725988" y="1431963"/>
            <a:ext cx="5485118" cy="1398472"/>
          </a:xfrm>
        </p:spPr>
        <p:txBody>
          <a:bodyPr>
            <a:noAutofit/>
          </a:bodyPr>
          <a:lstStyle/>
          <a:p>
            <a:pPr algn="r"/>
            <a:r>
              <a:rPr lang="en-US" sz="3200" dirty="0"/>
              <a:t>MAR 580: Advanced Population Modeling for Management of Living Marine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73770" y="6295575"/>
            <a:ext cx="362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07 </a:t>
            </a:r>
            <a:r>
              <a:rPr lang="en-US"/>
              <a:t>October 2025</a:t>
            </a:r>
            <a:endParaRPr lang="en-US" dirty="0"/>
          </a:p>
        </p:txBody>
      </p:sp>
      <p:pic>
        <p:nvPicPr>
          <p:cNvPr id="5" name="Picture 4" descr="umasslogo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285" y="5658757"/>
            <a:ext cx="4953000" cy="1270000"/>
          </a:xfrm>
          <a:prstGeom prst="rect">
            <a:avLst/>
          </a:prstGeom>
        </p:spPr>
      </p:pic>
      <p:pic>
        <p:nvPicPr>
          <p:cNvPr id="7" name="Picture 6" descr="smast-logo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76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308" y="723900"/>
            <a:ext cx="9683383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19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99" y="526927"/>
            <a:ext cx="10439401" cy="580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509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514683"/>
            <a:ext cx="10344150" cy="582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34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343" y="503898"/>
            <a:ext cx="10433313" cy="585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22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480908"/>
            <a:ext cx="10531803" cy="589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64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13" y="587523"/>
            <a:ext cx="10577574" cy="590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88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0" y="482878"/>
            <a:ext cx="10511220" cy="589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42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579290"/>
            <a:ext cx="10261600" cy="569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844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557870"/>
            <a:ext cx="10236200" cy="574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00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221" y="488950"/>
            <a:ext cx="10489558" cy="588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301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04" y="515725"/>
            <a:ext cx="10370191" cy="582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408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535045"/>
            <a:ext cx="10325100" cy="578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209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77" y="501650"/>
            <a:ext cx="10409845" cy="585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442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397" y="546100"/>
            <a:ext cx="10215206" cy="576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671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496704"/>
            <a:ext cx="10464800" cy="586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46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40" y="465080"/>
            <a:ext cx="10574720" cy="592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33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00" y="523940"/>
            <a:ext cx="10303561" cy="576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3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25" y="637777"/>
            <a:ext cx="10242550" cy="576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079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549656"/>
            <a:ext cx="10236200" cy="575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21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21" y="550819"/>
            <a:ext cx="10302957" cy="575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113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49225"/>
            <a:ext cx="10198100" cy="575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1344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213" y="548776"/>
            <a:ext cx="10323574" cy="576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95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50" y="548800"/>
            <a:ext cx="10299700" cy="576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87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" y="-492"/>
            <a:ext cx="12191127" cy="685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420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0" y="548479"/>
            <a:ext cx="10274299" cy="576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35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549809"/>
            <a:ext cx="10172700" cy="575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6634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50" y="548800"/>
            <a:ext cx="10299700" cy="576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034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554424"/>
            <a:ext cx="10337800" cy="574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6388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68" y="549787"/>
            <a:ext cx="10259264" cy="575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011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19F8B-2948-3C25-4DA3-5436388C3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0"/>
            <a:ext cx="11811000" cy="1714500"/>
          </a:xfrm>
        </p:spPr>
        <p:txBody>
          <a:bodyPr>
            <a:normAutofit/>
          </a:bodyPr>
          <a:lstStyle/>
          <a:p>
            <a:r>
              <a:rPr lang="en-US" sz="2700" dirty="0"/>
              <a:t>Lots of modern applications of biomass dynamics models, &amp; packages</a:t>
            </a:r>
            <a:br>
              <a:rPr lang="en-US" sz="2700" dirty="0"/>
            </a:br>
            <a:r>
              <a:rPr lang="en-US" dirty="0"/>
              <a:t>e.g. JABBA </a:t>
            </a:r>
            <a:br>
              <a:rPr lang="en-US" dirty="0"/>
            </a:br>
            <a:r>
              <a:rPr lang="en-US" sz="2800" dirty="0"/>
              <a:t>(Just Another Bayesian Biomass Assessment)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C47F5-4A4E-6A94-D43F-8B39B44AA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03900"/>
            <a:ext cx="12192000" cy="10541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Winker et al. 2018, Fish Res</a:t>
            </a:r>
          </a:p>
          <a:p>
            <a:pPr marL="0" indent="0">
              <a:buNone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jabbamodel</a:t>
            </a:r>
            <a:r>
              <a:rPr lang="en-US" dirty="0"/>
              <a:t>/JABBA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C41626-E19C-2263-632B-00D29D33D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450" y="4559882"/>
            <a:ext cx="4603750" cy="20057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97EE33-CBAA-10BC-F56D-7883540C2AED}"/>
              </a:ext>
            </a:extLst>
          </p:cNvPr>
          <p:cNvSpPr txBox="1"/>
          <p:nvPr/>
        </p:nvSpPr>
        <p:spPr>
          <a:xfrm>
            <a:off x="177800" y="1714500"/>
            <a:ext cx="72326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an integrated state-space tool for averaging and automatically fitting multiple catch-per-unit-effort (CPUE) time series; </a:t>
            </a:r>
          </a:p>
          <a:p>
            <a:pPr marL="342900" indent="-342900">
              <a:buAutoNum type="arabicParenR"/>
            </a:pPr>
            <a:r>
              <a:rPr lang="en-US" dirty="0"/>
              <a:t>data-weighting through an estimation of additional observation variance for individual or grouped CPUE; </a:t>
            </a:r>
          </a:p>
          <a:p>
            <a:pPr marL="342900" indent="-342900">
              <a:buAutoNum type="arabicParenR"/>
            </a:pPr>
            <a:r>
              <a:rPr lang="en-US" dirty="0"/>
              <a:t>selection between Fox, Schaefer, or Pella-Tomlinson production functions, with the option to estimate the function as </a:t>
            </a:r>
            <a:r>
              <a:rPr lang="en-US" i="1" dirty="0"/>
              <a:t>BMSY</a:t>
            </a:r>
            <a:r>
              <a:rPr lang="en-US" dirty="0"/>
              <a:t>/</a:t>
            </a:r>
            <a:r>
              <a:rPr lang="en-US" i="1" dirty="0"/>
              <a:t>K</a:t>
            </a:r>
            <a:r>
              <a:rPr lang="en-US" dirty="0"/>
              <a:t>; </a:t>
            </a:r>
          </a:p>
          <a:p>
            <a:pPr marL="342900" indent="-342900">
              <a:buAutoNum type="arabicParenR"/>
            </a:pPr>
            <a:r>
              <a:rPr lang="en-US" dirty="0"/>
              <a:t>options to fix or estimate the process and observation variance components; </a:t>
            </a:r>
          </a:p>
          <a:p>
            <a:pPr marL="342900" indent="-342900">
              <a:buAutoNum type="arabicParenR"/>
            </a:pPr>
            <a:r>
              <a:rPr lang="en-US" dirty="0"/>
              <a:t>model diagnostics tools; </a:t>
            </a:r>
          </a:p>
          <a:p>
            <a:pPr marL="342900" indent="-342900">
              <a:buAutoNum type="arabicParenR"/>
            </a:pPr>
            <a:r>
              <a:rPr lang="en-US" dirty="0"/>
              <a:t>future projections for alternative catch regimes; and </a:t>
            </a:r>
          </a:p>
          <a:p>
            <a:pPr marL="342900" indent="-342900">
              <a:buAutoNum type="arabicParenR"/>
            </a:pPr>
            <a:r>
              <a:rPr lang="en-US" dirty="0"/>
              <a:t>a suite of inbuilt graphics illustrating model fits and diagnostics, surplus production estimates, historical stock status trajectories, Kobe plot, and future projections.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159926-E2F3-796F-1AA6-F4BB78ADF5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490"/>
          <a:stretch/>
        </p:blipFill>
        <p:spPr bwMode="auto">
          <a:xfrm>
            <a:off x="7088187" y="2156698"/>
            <a:ext cx="2492375" cy="2298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D7DBF37-124D-8FEC-A03F-614ED917BD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8" b="31548"/>
          <a:stretch/>
        </p:blipFill>
        <p:spPr bwMode="auto">
          <a:xfrm>
            <a:off x="9610725" y="2051632"/>
            <a:ext cx="2492375" cy="250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abba the Hutt | StarWars.com">
            <a:extLst>
              <a:ext uri="{FF2B5EF4-FFF2-40B4-BE49-F238E27FC236}">
                <a16:creationId xmlns:a16="http://schemas.microsoft.com/office/drawing/2014/main" id="{6241F934-311B-2E4B-860A-87A363E52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5225" y="223895"/>
            <a:ext cx="1933575" cy="145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051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50" y="548012"/>
            <a:ext cx="10299699" cy="576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701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172</Words>
  <Application>Microsoft Macintosh PowerPoint</Application>
  <PresentationFormat>Widescreen</PresentationFormat>
  <Paragraphs>16</Paragraphs>
  <Slides>32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MAR 580: Advanced Population Modeling for Management of Living Marine Resources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Lots of modern applications of biomass dynamics models, &amp; packages e.g. JABBA  (Just Another Bayesian Biomass Assessment)</vt:lpstr>
      <vt:lpstr>PowerPoint Presentation</vt:lpstr>
    </vt:vector>
  </TitlesOfParts>
  <Company>University of Massachusetts Dartmouth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Maximum Likelihood</dc:title>
  <dc:creator>Steve Cadrin</dc:creator>
  <cp:lastModifiedBy>Gavin Fay</cp:lastModifiedBy>
  <cp:revision>73</cp:revision>
  <dcterms:created xsi:type="dcterms:W3CDTF">2015-09-04T15:05:03Z</dcterms:created>
  <dcterms:modified xsi:type="dcterms:W3CDTF">2025-10-07T17:41:57Z</dcterms:modified>
</cp:coreProperties>
</file>