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2" r:id="rId1"/>
    <p:sldMasterId id="2147483662" r:id="rId2"/>
    <p:sldMasterId id="2147483688" r:id="rId3"/>
  </p:sldMasterIdLst>
  <p:notesMasterIdLst>
    <p:notesMasterId r:id="rId31"/>
  </p:notesMasterIdLst>
  <p:handoutMasterIdLst>
    <p:handoutMasterId r:id="rId32"/>
  </p:handoutMasterIdLst>
  <p:sldIdLst>
    <p:sldId id="326" r:id="rId4"/>
    <p:sldId id="813" r:id="rId5"/>
    <p:sldId id="762" r:id="rId6"/>
    <p:sldId id="763" r:id="rId7"/>
    <p:sldId id="764" r:id="rId8"/>
    <p:sldId id="775" r:id="rId9"/>
    <p:sldId id="774" r:id="rId10"/>
    <p:sldId id="776" r:id="rId11"/>
    <p:sldId id="766" r:id="rId12"/>
    <p:sldId id="767" r:id="rId13"/>
    <p:sldId id="768" r:id="rId14"/>
    <p:sldId id="769" r:id="rId15"/>
    <p:sldId id="770" r:id="rId16"/>
    <p:sldId id="771" r:id="rId17"/>
    <p:sldId id="772" r:id="rId18"/>
    <p:sldId id="773" r:id="rId19"/>
    <p:sldId id="777" r:id="rId20"/>
    <p:sldId id="778" r:id="rId21"/>
    <p:sldId id="779" r:id="rId22"/>
    <p:sldId id="780" r:id="rId23"/>
    <p:sldId id="781" r:id="rId24"/>
    <p:sldId id="808" r:id="rId25"/>
    <p:sldId id="805" r:id="rId26"/>
    <p:sldId id="814" r:id="rId27"/>
    <p:sldId id="806" r:id="rId28"/>
    <p:sldId id="812" r:id="rId29"/>
    <p:sldId id="810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85">
          <p15:clr>
            <a:srgbClr val="A4A3A4"/>
          </p15:clr>
        </p15:guide>
        <p15:guide id="2" orient="horz" pos="758">
          <p15:clr>
            <a:srgbClr val="A4A3A4"/>
          </p15:clr>
        </p15:guide>
        <p15:guide id="3" pos="28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1E5C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30" autoAdjust="0"/>
    <p:restoredTop sz="86412" autoAdjust="0"/>
  </p:normalViewPr>
  <p:slideViewPr>
    <p:cSldViewPr snapToGrid="0" snapToObjects="1">
      <p:cViewPr varScale="1">
        <p:scale>
          <a:sx n="93" d="100"/>
          <a:sy n="93" d="100"/>
        </p:scale>
        <p:origin x="216" y="504"/>
      </p:cViewPr>
      <p:guideLst>
        <p:guide orient="horz" pos="1885"/>
        <p:guide orient="horz" pos="758"/>
        <p:guide pos="28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5BF4A-9CB1-5747-B319-707DA98CEC20}" type="datetime1">
              <a:rPr lang="en-US" smtClean="0"/>
              <a:pPr/>
              <a:t>10/17/23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22459-1A81-CA4B-89BB-FCE38A3AE1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0304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BC7567-D5EA-874F-8815-73DC5E77631E}" type="datetime1">
              <a:rPr lang="en-US" smtClean="0"/>
              <a:pPr/>
              <a:t>10/17/23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C0E-7DBF-7C4A-B104-25FE08E3BB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32343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8DCC0E-7DBF-7C4A-B104-25FE08E3BB8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116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gif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rgbClr val="1E5C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 userDrawn="1"/>
        </p:nvSpPr>
        <p:spPr>
          <a:xfrm flipH="1" flipV="1">
            <a:off x="-1" y="-24487"/>
            <a:ext cx="9138586" cy="2515079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  <a:gd name="connsiteX0" fmla="*/ 2887 w 9170673"/>
              <a:gd name="connsiteY0" fmla="*/ 2375696 h 2508024"/>
              <a:gd name="connsiteX1" fmla="*/ 9170673 w 9170673"/>
              <a:gd name="connsiteY1" fmla="*/ 0 h 2508024"/>
              <a:gd name="connsiteX2" fmla="*/ 9169295 w 9170673"/>
              <a:gd name="connsiteY2" fmla="*/ 2508024 h 2508024"/>
              <a:gd name="connsiteX3" fmla="*/ 0 w 9170673"/>
              <a:gd name="connsiteY3" fmla="*/ 2457785 h 2508024"/>
              <a:gd name="connsiteX4" fmla="*/ 2887 w 9170673"/>
              <a:gd name="connsiteY4" fmla="*/ 2375696 h 2508024"/>
              <a:gd name="connsiteX0" fmla="*/ 0 w 9167786"/>
              <a:gd name="connsiteY0" fmla="*/ 2375696 h 2508024"/>
              <a:gd name="connsiteX1" fmla="*/ 9167786 w 9167786"/>
              <a:gd name="connsiteY1" fmla="*/ 0 h 2508024"/>
              <a:gd name="connsiteX2" fmla="*/ 9166408 w 9167786"/>
              <a:gd name="connsiteY2" fmla="*/ 2508024 h 2508024"/>
              <a:gd name="connsiteX3" fmla="*/ 4169 w 9167786"/>
              <a:gd name="connsiteY3" fmla="*/ 2500118 h 2508024"/>
              <a:gd name="connsiteX4" fmla="*/ 0 w 9167786"/>
              <a:gd name="connsiteY4" fmla="*/ 2375696 h 2508024"/>
              <a:gd name="connsiteX0" fmla="*/ 0 w 9166452"/>
              <a:gd name="connsiteY0" fmla="*/ 2375696 h 2508024"/>
              <a:gd name="connsiteX1" fmla="*/ 9061952 w 9166452"/>
              <a:gd name="connsiteY1" fmla="*/ 0 h 2508024"/>
              <a:gd name="connsiteX2" fmla="*/ 9166408 w 9166452"/>
              <a:gd name="connsiteY2" fmla="*/ 2508024 h 2508024"/>
              <a:gd name="connsiteX3" fmla="*/ 4169 w 9166452"/>
              <a:gd name="connsiteY3" fmla="*/ 2500118 h 2508024"/>
              <a:gd name="connsiteX4" fmla="*/ 0 w 9166452"/>
              <a:gd name="connsiteY4" fmla="*/ 2375696 h 2508024"/>
              <a:gd name="connsiteX0" fmla="*/ 0 w 9166808"/>
              <a:gd name="connsiteY0" fmla="*/ 2382751 h 2515079"/>
              <a:gd name="connsiteX1" fmla="*/ 9160729 w 9166808"/>
              <a:gd name="connsiteY1" fmla="*/ 0 h 2515079"/>
              <a:gd name="connsiteX2" fmla="*/ 9166408 w 9166808"/>
              <a:gd name="connsiteY2" fmla="*/ 2515079 h 2515079"/>
              <a:gd name="connsiteX3" fmla="*/ 4169 w 9166808"/>
              <a:gd name="connsiteY3" fmla="*/ 2507173 h 2515079"/>
              <a:gd name="connsiteX4" fmla="*/ 0 w 9166808"/>
              <a:gd name="connsiteY4" fmla="*/ 2382751 h 2515079"/>
              <a:gd name="connsiteX0" fmla="*/ 9943 w 9162640"/>
              <a:gd name="connsiteY0" fmla="*/ 2382751 h 2515079"/>
              <a:gd name="connsiteX1" fmla="*/ 9156561 w 9162640"/>
              <a:gd name="connsiteY1" fmla="*/ 0 h 2515079"/>
              <a:gd name="connsiteX2" fmla="*/ 9162240 w 9162640"/>
              <a:gd name="connsiteY2" fmla="*/ 2515079 h 2515079"/>
              <a:gd name="connsiteX3" fmla="*/ 1 w 9162640"/>
              <a:gd name="connsiteY3" fmla="*/ 2507173 h 2515079"/>
              <a:gd name="connsiteX4" fmla="*/ 9943 w 9162640"/>
              <a:gd name="connsiteY4" fmla="*/ 2382751 h 2515079"/>
              <a:gd name="connsiteX0" fmla="*/ 0 w 9152697"/>
              <a:gd name="connsiteY0" fmla="*/ 2382751 h 2515079"/>
              <a:gd name="connsiteX1" fmla="*/ 9146618 w 9152697"/>
              <a:gd name="connsiteY1" fmla="*/ 0 h 2515079"/>
              <a:gd name="connsiteX2" fmla="*/ 9152297 w 9152697"/>
              <a:gd name="connsiteY2" fmla="*/ 2515079 h 2515079"/>
              <a:gd name="connsiteX3" fmla="*/ 187614 w 9152697"/>
              <a:gd name="connsiteY3" fmla="*/ 2507173 h 2515079"/>
              <a:gd name="connsiteX4" fmla="*/ 0 w 9152697"/>
              <a:gd name="connsiteY4" fmla="*/ 2382751 h 2515079"/>
              <a:gd name="connsiteX0" fmla="*/ 0 w 9068030"/>
              <a:gd name="connsiteY0" fmla="*/ 2382751 h 2515079"/>
              <a:gd name="connsiteX1" fmla="*/ 9061951 w 9068030"/>
              <a:gd name="connsiteY1" fmla="*/ 0 h 2515079"/>
              <a:gd name="connsiteX2" fmla="*/ 9067630 w 9068030"/>
              <a:gd name="connsiteY2" fmla="*/ 2515079 h 2515079"/>
              <a:gd name="connsiteX3" fmla="*/ 102947 w 9068030"/>
              <a:gd name="connsiteY3" fmla="*/ 2507173 h 2515079"/>
              <a:gd name="connsiteX4" fmla="*/ 0 w 9068030"/>
              <a:gd name="connsiteY4" fmla="*/ 2382751 h 2515079"/>
              <a:gd name="connsiteX0" fmla="*/ 0 w 9138586"/>
              <a:gd name="connsiteY0" fmla="*/ 2382751 h 2515079"/>
              <a:gd name="connsiteX1" fmla="*/ 9132507 w 9138586"/>
              <a:gd name="connsiteY1" fmla="*/ 0 h 2515079"/>
              <a:gd name="connsiteX2" fmla="*/ 9138186 w 9138586"/>
              <a:gd name="connsiteY2" fmla="*/ 2515079 h 2515079"/>
              <a:gd name="connsiteX3" fmla="*/ 173503 w 9138586"/>
              <a:gd name="connsiteY3" fmla="*/ 2507173 h 2515079"/>
              <a:gd name="connsiteX4" fmla="*/ 0 w 9138586"/>
              <a:gd name="connsiteY4" fmla="*/ 2382751 h 2515079"/>
              <a:gd name="connsiteX0" fmla="*/ 0 w 9138586"/>
              <a:gd name="connsiteY0" fmla="*/ 2382751 h 2515079"/>
              <a:gd name="connsiteX1" fmla="*/ 9132507 w 9138586"/>
              <a:gd name="connsiteY1" fmla="*/ 0 h 2515079"/>
              <a:gd name="connsiteX2" fmla="*/ 9138186 w 9138586"/>
              <a:gd name="connsiteY2" fmla="*/ 2515079 h 2515079"/>
              <a:gd name="connsiteX3" fmla="*/ 4170 w 9138586"/>
              <a:gd name="connsiteY3" fmla="*/ 2507173 h 2515079"/>
              <a:gd name="connsiteX4" fmla="*/ 0 w 9138586"/>
              <a:gd name="connsiteY4" fmla="*/ 2382751 h 251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38586" h="2515079">
                <a:moveTo>
                  <a:pt x="0" y="2382751"/>
                </a:moveTo>
                <a:cubicBezTo>
                  <a:pt x="20661" y="2379422"/>
                  <a:pt x="7306149" y="2502055"/>
                  <a:pt x="9132507" y="0"/>
                </a:cubicBezTo>
                <a:cubicBezTo>
                  <a:pt x="9129925" y="819774"/>
                  <a:pt x="9140768" y="1695305"/>
                  <a:pt x="9138186" y="2515079"/>
                </a:cubicBezTo>
                <a:lnTo>
                  <a:pt x="4170" y="2507173"/>
                </a:lnTo>
                <a:cubicBezTo>
                  <a:pt x="4169" y="2465011"/>
                  <a:pt x="1" y="2424913"/>
                  <a:pt x="0" y="238275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457169"/>
            <a:ext cx="8229600" cy="772250"/>
          </a:xfrm>
        </p:spPr>
        <p:txBody>
          <a:bodyPr anchor="t"/>
          <a:lstStyle>
            <a:lvl1pPr algn="l">
              <a:defRPr sz="4000" b="1" cap="none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5622"/>
            <a:ext cx="8229600" cy="1500187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285999" y="6355080"/>
            <a:ext cx="6400801" cy="5029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048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 userDrawn="1"/>
        </p:nvSpPr>
        <p:spPr>
          <a:xfrm flipH="1" flipV="1">
            <a:off x="-19068" y="-30696"/>
            <a:ext cx="9170673" cy="2457785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673" h="2457785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457200"/>
            <a:ext cx="8229600" cy="7722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algn="l">
              <a:defRPr sz="4000" b="1" cap="none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5653"/>
            <a:ext cx="8229600" cy="150018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 anchorCtr="0"/>
          <a:lstStyle>
            <a:lvl1pPr marL="0" indent="0" algn="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>
          <a:xfrm>
            <a:off x="2285999" y="6355080"/>
            <a:ext cx="6400801" cy="5029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136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10/17/23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285999" y="6355080"/>
            <a:ext cx="6400801" cy="502919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No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201988" y="2707457"/>
            <a:ext cx="5484812" cy="122443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01988" y="4282303"/>
            <a:ext cx="5484812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2186107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Boats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201988" y="2707457"/>
            <a:ext cx="5484812" cy="122443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3550" y="3118590"/>
            <a:ext cx="1293813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01988" y="4282303"/>
            <a:ext cx="5484812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415532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Tur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201988" y="2707457"/>
            <a:ext cx="5484812" cy="122443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3550" y="3118590"/>
            <a:ext cx="1293813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01988" y="4282303"/>
            <a:ext cx="5484812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2044555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eafoo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201988" y="2707457"/>
            <a:ext cx="5484812" cy="122443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3550" y="3118590"/>
            <a:ext cx="1293813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01988" y="4282303"/>
            <a:ext cx="5484812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2817638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Fish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201988" y="2707457"/>
            <a:ext cx="5484812" cy="122443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3550" y="3118590"/>
            <a:ext cx="1293813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01988" y="4282303"/>
            <a:ext cx="5484812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41051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Dar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201988" y="2707457"/>
            <a:ext cx="5484812" cy="1224439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3550" y="3118590"/>
            <a:ext cx="1293813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01988" y="4282303"/>
            <a:ext cx="5484812" cy="577850"/>
          </a:xfrm>
        </p:spPr>
        <p:txBody>
          <a:bodyPr>
            <a:normAutofit/>
          </a:bodyPr>
          <a:lstStyle>
            <a:lvl1pPr>
              <a:defRPr sz="1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July 19, 2012</a:t>
            </a:r>
          </a:p>
        </p:txBody>
      </p:sp>
      <p:sp>
        <p:nvSpPr>
          <p:cNvPr id="7" name="Freeform 6"/>
          <p:cNvSpPr/>
          <p:nvPr userDrawn="1"/>
        </p:nvSpPr>
        <p:spPr>
          <a:xfrm>
            <a:off x="-9190" y="4417160"/>
            <a:ext cx="9170673" cy="2457785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673" h="2457785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07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3201988" y="3360605"/>
            <a:ext cx="5484812" cy="1224439"/>
          </a:xfrm>
        </p:spPr>
        <p:txBody>
          <a:bodyPr/>
          <a:lstStyle>
            <a:lvl1pPr marL="0" indent="0" algn="r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0" name="Picture 9" descr="umasslogo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285" y="5658757"/>
            <a:ext cx="4953000" cy="1270000"/>
          </a:xfrm>
          <a:prstGeom prst="rect">
            <a:avLst/>
          </a:prstGeom>
        </p:spPr>
      </p:pic>
      <p:pic>
        <p:nvPicPr>
          <p:cNvPr id="12" name="Picture 11" descr="smast-logo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57500" cy="2857500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201682" y="1613384"/>
            <a:ext cx="5485118" cy="1398472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6188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3923"/>
            <a:ext cx="8229600" cy="688359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1870"/>
            <a:ext cx="8229600" cy="558841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1924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10/17/23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963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10/17/23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714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10/17/23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9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10/17/23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59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10/17/23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207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10/17/23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1258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10/17/23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899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10/17/23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5258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10/17/23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02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7601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7293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33586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7" r:id="rId3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b="1" i="0" kern="1200">
          <a:solidFill>
            <a:srgbClr val="FFFFFF"/>
          </a:solidFill>
          <a:latin typeface="+mj-lt"/>
          <a:ea typeface="+mj-ea"/>
          <a:cs typeface="Arial Narrow Bold"/>
        </a:defRPr>
      </a:lvl1pPr>
    </p:titleStyle>
    <p:bodyStyle>
      <a:lvl1pPr marL="0" indent="0" algn="r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rgbClr val="FFFFFF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01682" y="1141666"/>
            <a:ext cx="5485118" cy="139847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1682" y="2631403"/>
            <a:ext cx="5485117" cy="1277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0462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8" r:id="rId6"/>
  </p:sldLayoutIdLst>
  <p:hf hdr="0"/>
  <p:txStyles>
    <p:titleStyle>
      <a:lvl1pPr algn="r" defTabSz="457200" rtl="0" eaLnBrk="1" latinLnBrk="0" hangingPunct="1">
        <a:lnSpc>
          <a:spcPct val="80000"/>
        </a:lnSpc>
        <a:spcBef>
          <a:spcPct val="0"/>
        </a:spcBef>
        <a:buNone/>
        <a:defRPr sz="4400" b="1" i="0" kern="1200">
          <a:solidFill>
            <a:schemeClr val="accent1"/>
          </a:solidFill>
          <a:latin typeface="+mj-lt"/>
          <a:ea typeface="+mj-ea"/>
          <a:cs typeface="Arial Narrow Bold"/>
        </a:defRPr>
      </a:lvl1pPr>
    </p:titleStyle>
    <p:bodyStyle>
      <a:lvl1pPr marL="0" indent="0" algn="r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F1CB0-951D-8740-94E3-4A6F7DDA25E2}" type="datetimeFigureOut">
              <a:rPr lang="en-US" smtClean="0"/>
              <a:t>10/17/23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74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2.emf"/><Relationship Id="rId7" Type="http://schemas.openxmlformats.org/officeDocument/2006/relationships/image" Target="../media/image1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15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12.emf"/><Relationship Id="rId7" Type="http://schemas.openxmlformats.org/officeDocument/2006/relationships/image" Target="../media/image14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3.e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15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image" Target="../media/image12.emf"/><Relationship Id="rId7" Type="http://schemas.openxmlformats.org/officeDocument/2006/relationships/image" Target="../media/image14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5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21.emf"/><Relationship Id="rId7" Type="http://schemas.openxmlformats.org/officeDocument/2006/relationships/image" Target="../media/image23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2.e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24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7" Type="http://schemas.openxmlformats.org/officeDocument/2006/relationships/image" Target="../media/image28.e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6.emf"/><Relationship Id="rId4" Type="http://schemas.openxmlformats.org/officeDocument/2006/relationships/oleObject" Target="../embeddings/oleObject19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image" Target="../media/image29.emf"/><Relationship Id="rId7" Type="http://schemas.openxmlformats.org/officeDocument/2006/relationships/image" Target="../media/image28.e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6.e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30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7" Type="http://schemas.openxmlformats.org/officeDocument/2006/relationships/image" Target="../media/image32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31.emf"/><Relationship Id="rId4" Type="http://schemas.openxmlformats.org/officeDocument/2006/relationships/oleObject" Target="../embeddings/oleObject26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4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418649" y="3487606"/>
            <a:ext cx="8268151" cy="2517681"/>
          </a:xfrm>
        </p:spPr>
        <p:txBody>
          <a:bodyPr>
            <a:normAutofit/>
          </a:bodyPr>
          <a:lstStyle/>
          <a:p>
            <a:r>
              <a:rPr lang="en-US" sz="2800" b="1" dirty="0"/>
              <a:t>TMB workshop</a:t>
            </a:r>
          </a:p>
          <a:p>
            <a:r>
              <a:rPr lang="en-US" sz="2800" b="1" dirty="0"/>
              <a:t>Session III: State-space models</a:t>
            </a:r>
          </a:p>
          <a:p>
            <a:endParaRPr lang="en-US" sz="25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01988" y="1431963"/>
            <a:ext cx="5485118" cy="1398472"/>
          </a:xfrm>
        </p:spPr>
        <p:txBody>
          <a:bodyPr>
            <a:noAutofit/>
          </a:bodyPr>
          <a:lstStyle/>
          <a:p>
            <a:pPr algn="r"/>
            <a:r>
              <a:rPr lang="en-US" sz="3200" dirty="0"/>
              <a:t>MAR 580: Advanced Population Modeling for Management of Living Marine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49769" y="6295575"/>
            <a:ext cx="3627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12 October 2023</a:t>
            </a:r>
          </a:p>
        </p:txBody>
      </p:sp>
    </p:spTree>
    <p:extLst>
      <p:ext uri="{BB962C8B-B14F-4D97-AF65-F5344CB8AC3E}">
        <p14:creationId xmlns:p14="http://schemas.microsoft.com/office/powerpoint/2010/main" val="890331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D743B-72E2-0943-BE0B-06EC7D7FC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BA33C-8192-F347-8D56-358CA9115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Mixed effects models</a:t>
            </a:r>
          </a:p>
          <a:p>
            <a:pPr lvl="1"/>
            <a:r>
              <a:rPr lang="en-US" dirty="0"/>
              <a:t>Growth estimation</a:t>
            </a:r>
          </a:p>
        </p:txBody>
      </p:sp>
    </p:spTree>
    <p:extLst>
      <p:ext uri="{BB962C8B-B14F-4D97-AF65-F5344CB8AC3E}">
        <p14:creationId xmlns:p14="http://schemas.microsoft.com/office/powerpoint/2010/main" val="866062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Most of the estimation models we have discussed so far have been measurement error models</a:t>
            </a:r>
          </a:p>
          <a:p>
            <a:pPr lvl="1"/>
            <a:r>
              <a:rPr lang="en-US" dirty="0"/>
              <a:t>Deterministic population dynamics</a:t>
            </a:r>
          </a:p>
          <a:p>
            <a:pPr lvl="1"/>
            <a:r>
              <a:rPr lang="en-US" dirty="0"/>
              <a:t>Variation solely due to observation error</a:t>
            </a:r>
          </a:p>
          <a:p>
            <a:r>
              <a:rPr lang="en-US" dirty="0"/>
              <a:t>Our modeled observation error can account for multiple effects:</a:t>
            </a:r>
          </a:p>
          <a:p>
            <a:pPr lvl="1"/>
            <a:r>
              <a:rPr lang="en-US" dirty="0"/>
              <a:t>sampling error</a:t>
            </a:r>
          </a:p>
          <a:p>
            <a:pPr lvl="1"/>
            <a:r>
              <a:rPr lang="en-US" dirty="0"/>
              <a:t>Random variation in availability to sampling gear</a:t>
            </a:r>
          </a:p>
          <a:p>
            <a:pPr lvl="1"/>
            <a:endParaRPr lang="en-US" dirty="0"/>
          </a:p>
          <a:p>
            <a:r>
              <a:rPr lang="en-US" dirty="0"/>
              <a:t>But, it is reasonable to assume that additional sources of variability in dynamics occur. e.g.</a:t>
            </a:r>
          </a:p>
          <a:p>
            <a:pPr lvl="1"/>
            <a:r>
              <a:rPr lang="en-US" dirty="0"/>
              <a:t>Stochastic variability in births/deaths,</a:t>
            </a:r>
          </a:p>
          <a:p>
            <a:pPr lvl="1"/>
            <a:r>
              <a:rPr lang="en-US" dirty="0"/>
              <a:t>Environmental drivers on growth, recruitment, etc.</a:t>
            </a:r>
          </a:p>
          <a:p>
            <a:endParaRPr lang="en-US" dirty="0"/>
          </a:p>
          <a:p>
            <a:r>
              <a:rPr lang="en-US" dirty="0"/>
              <a:t>This variability in the population dynamics process is termed ‘process error’.</a:t>
            </a:r>
          </a:p>
        </p:txBody>
      </p:sp>
    </p:spTree>
    <p:extLst>
      <p:ext uri="{BB962C8B-B14F-4D97-AF65-F5344CB8AC3E}">
        <p14:creationId xmlns:p14="http://schemas.microsoft.com/office/powerpoint/2010/main" val="3771364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error modeling in fisheries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Measurement </a:t>
            </a:r>
            <a:r>
              <a:rPr lang="en-US" b="1" dirty="0"/>
              <a:t>OR</a:t>
            </a:r>
            <a:r>
              <a:rPr lang="en-US" dirty="0"/>
              <a:t> Process error estimators</a:t>
            </a:r>
          </a:p>
          <a:p>
            <a:r>
              <a:rPr lang="en-US" dirty="0"/>
              <a:t>Total error estimators (errors in variables models)</a:t>
            </a:r>
          </a:p>
          <a:p>
            <a:pPr lvl="1"/>
            <a:r>
              <a:rPr lang="en-US" dirty="0"/>
              <a:t>e.g. linear model: error in both the X’s and the Y’s</a:t>
            </a:r>
          </a:p>
          <a:p>
            <a:r>
              <a:rPr lang="en-US" dirty="0"/>
              <a:t>Penalized likelihood models</a:t>
            </a:r>
          </a:p>
          <a:p>
            <a:pPr lvl="1"/>
            <a:r>
              <a:rPr lang="en-US" dirty="0"/>
              <a:t>Penalty added to likelihood function that describes the deviation of a parameter from distribution, estimated like a normal parameter.</a:t>
            </a:r>
          </a:p>
          <a:p>
            <a:pPr lvl="1"/>
            <a:r>
              <a:rPr lang="en-US" dirty="0"/>
              <a:t>e.g. recruitment deviations around a stock-recruit curve.</a:t>
            </a:r>
          </a:p>
          <a:p>
            <a:pPr lvl="1"/>
            <a:r>
              <a:rPr lang="en-US" dirty="0"/>
              <a:t>Most modern statistical stock assessment models use this approach to obtain MLEs (integration over the random effects is achieved when doing Bayesian estimation).</a:t>
            </a:r>
          </a:p>
          <a:p>
            <a:r>
              <a:rPr lang="en-US" dirty="0"/>
              <a:t>State-space models</a:t>
            </a:r>
          </a:p>
          <a:p>
            <a:pPr lvl="1"/>
            <a:r>
              <a:rPr lang="en-US" dirty="0"/>
              <a:t>Formally account for both process and observation error.</a:t>
            </a:r>
          </a:p>
          <a:p>
            <a:endParaRPr lang="en-US" dirty="0"/>
          </a:p>
          <a:p>
            <a:r>
              <a:rPr lang="en-US" dirty="0"/>
              <a:t>Reading: Comparing among error models, Punt (2003)</a:t>
            </a:r>
          </a:p>
        </p:txBody>
      </p:sp>
    </p:spTree>
    <p:extLst>
      <p:ext uri="{BB962C8B-B14F-4D97-AF65-F5344CB8AC3E}">
        <p14:creationId xmlns:p14="http://schemas.microsoft.com/office/powerpoint/2010/main" val="433911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State-space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Special case of mixed-effects models</a:t>
            </a:r>
          </a:p>
          <a:p>
            <a:r>
              <a:rPr lang="en-US" dirty="0"/>
              <a:t>As with mixed-effects models, the aim is to partition variance.</a:t>
            </a:r>
          </a:p>
          <a:p>
            <a:r>
              <a:rPr lang="en-US" dirty="0"/>
              <a:t>Two discrete time processes running in parallel.</a:t>
            </a:r>
          </a:p>
          <a:p>
            <a:pPr lvl="1"/>
            <a:r>
              <a:rPr lang="en-US" dirty="0"/>
              <a:t>State process model</a:t>
            </a:r>
          </a:p>
          <a:p>
            <a:pPr lvl="1"/>
            <a:r>
              <a:rPr lang="en-US" dirty="0"/>
              <a:t>Observation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443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State-space modeling, hidden process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331" y="4968410"/>
            <a:ext cx="651406" cy="46035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516" y="4955020"/>
            <a:ext cx="651406" cy="46035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461" y="4726519"/>
            <a:ext cx="1181197" cy="83476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726" y="4723361"/>
            <a:ext cx="1185666" cy="837927"/>
          </a:xfrm>
          <a:prstGeom prst="rect">
            <a:avLst/>
          </a:prstGeom>
        </p:spPr>
      </p:pic>
      <p:pic>
        <p:nvPicPr>
          <p:cNvPr id="18" name="Picture 21" descr="scisample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22331" y="3274166"/>
            <a:ext cx="465166" cy="999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21" descr="scisample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62916" y="3274166"/>
            <a:ext cx="465166" cy="999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1" descr="scisample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45949" y="3274166"/>
            <a:ext cx="465166" cy="999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1" descr="scisample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91182" y="3274166"/>
            <a:ext cx="465166" cy="999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1" name="Straight Arrow Connector 40"/>
          <p:cNvCxnSpPr/>
          <p:nvPr/>
        </p:nvCxnSpPr>
        <p:spPr>
          <a:xfrm flipV="1">
            <a:off x="2546072" y="4396878"/>
            <a:ext cx="0" cy="36360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4185107" y="4409036"/>
            <a:ext cx="0" cy="36360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V="1">
            <a:off x="5774375" y="4412194"/>
            <a:ext cx="0" cy="36360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V="1">
            <a:off x="7376473" y="4396878"/>
            <a:ext cx="0" cy="36360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7916417" y="5169441"/>
            <a:ext cx="418543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V="1">
            <a:off x="4765988" y="5169268"/>
            <a:ext cx="418543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V="1">
            <a:off x="3133667" y="5167563"/>
            <a:ext cx="418543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V="1">
            <a:off x="6449826" y="5191858"/>
            <a:ext cx="418543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07900" y="3667243"/>
            <a:ext cx="1577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Observations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2009" y="4948507"/>
            <a:ext cx="1678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Fish population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2009" y="5850990"/>
            <a:ext cx="1678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39529" y="5859249"/>
            <a:ext cx="61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 = 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04516" y="5826983"/>
            <a:ext cx="61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 = 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67831" y="5826983"/>
            <a:ext cx="61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 = 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15193" y="5850990"/>
            <a:ext cx="61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 = 1</a:t>
            </a:r>
          </a:p>
        </p:txBody>
      </p:sp>
      <p:cxnSp>
        <p:nvCxnSpPr>
          <p:cNvPr id="71" name="Straight Arrow Connector 70"/>
          <p:cNvCxnSpPr/>
          <p:nvPr/>
        </p:nvCxnSpPr>
        <p:spPr>
          <a:xfrm flipV="1">
            <a:off x="3193300" y="6057219"/>
            <a:ext cx="418543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flipV="1">
            <a:off x="4761392" y="6057221"/>
            <a:ext cx="418543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V="1">
            <a:off x="6409584" y="6039276"/>
            <a:ext cx="418543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V="1">
            <a:off x="7916417" y="6057220"/>
            <a:ext cx="418543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251937" y="5789891"/>
            <a:ext cx="874132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251937" y="4576484"/>
            <a:ext cx="874132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8582581" y="4936731"/>
            <a:ext cx="440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12572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8" grpId="0"/>
      <p:bldP spid="69" grpId="0"/>
      <p:bldP spid="70" grpId="0"/>
      <p:bldP spid="8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State-space modeling, hidden process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331" y="4968410"/>
            <a:ext cx="651406" cy="46035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516" y="4955020"/>
            <a:ext cx="651406" cy="46035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461" y="4733569"/>
            <a:ext cx="1181197" cy="83476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726" y="4716454"/>
            <a:ext cx="1185666" cy="837927"/>
          </a:xfrm>
          <a:prstGeom prst="rect">
            <a:avLst/>
          </a:prstGeom>
        </p:spPr>
      </p:pic>
      <p:pic>
        <p:nvPicPr>
          <p:cNvPr id="18" name="Picture 21" descr="scisample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22331" y="3274166"/>
            <a:ext cx="465166" cy="999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22" descr="j0210682"/>
          <p:cNvPicPr preferRelativeResize="0"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58758" y="2201001"/>
            <a:ext cx="628650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21" descr="scisample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62916" y="3274166"/>
            <a:ext cx="465166" cy="999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1" descr="scisample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45949" y="3274166"/>
            <a:ext cx="465166" cy="999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1" descr="scisample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91182" y="3274166"/>
            <a:ext cx="465166" cy="999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1" name="Straight Arrow Connector 40"/>
          <p:cNvCxnSpPr/>
          <p:nvPr/>
        </p:nvCxnSpPr>
        <p:spPr>
          <a:xfrm flipV="1">
            <a:off x="2546072" y="4396878"/>
            <a:ext cx="0" cy="36360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4185107" y="4409036"/>
            <a:ext cx="0" cy="36360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V="1">
            <a:off x="5774375" y="4412194"/>
            <a:ext cx="0" cy="36360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V="1">
            <a:off x="7376473" y="4396878"/>
            <a:ext cx="0" cy="36360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7916417" y="5169441"/>
            <a:ext cx="418543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V="1">
            <a:off x="4765988" y="5169268"/>
            <a:ext cx="418543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V="1">
            <a:off x="3133667" y="5167563"/>
            <a:ext cx="418543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V="1">
            <a:off x="6449826" y="5191858"/>
            <a:ext cx="418543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3002243" y="2769305"/>
            <a:ext cx="1341167" cy="3489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V="1">
            <a:off x="4343410" y="2936480"/>
            <a:ext cx="315348" cy="20039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 flipV="1">
            <a:off x="5360944" y="2895869"/>
            <a:ext cx="170010" cy="32961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H="1" flipV="1">
            <a:off x="5742263" y="2672034"/>
            <a:ext cx="1159875" cy="43952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07900" y="3667243"/>
            <a:ext cx="1577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Observations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2009" y="4948507"/>
            <a:ext cx="1678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Fish population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2009" y="5850990"/>
            <a:ext cx="1678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39529" y="5859249"/>
            <a:ext cx="61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 = 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04516" y="5826983"/>
            <a:ext cx="61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 = 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67831" y="5826983"/>
            <a:ext cx="61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 = 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15193" y="5850990"/>
            <a:ext cx="61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 = 1</a:t>
            </a:r>
          </a:p>
        </p:txBody>
      </p:sp>
      <p:cxnSp>
        <p:nvCxnSpPr>
          <p:cNvPr id="71" name="Straight Arrow Connector 70"/>
          <p:cNvCxnSpPr/>
          <p:nvPr/>
        </p:nvCxnSpPr>
        <p:spPr>
          <a:xfrm flipV="1">
            <a:off x="3193300" y="6057219"/>
            <a:ext cx="418543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flipV="1">
            <a:off x="4761392" y="6057221"/>
            <a:ext cx="418543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V="1">
            <a:off x="6409584" y="6039276"/>
            <a:ext cx="418543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V="1">
            <a:off x="7916417" y="6057220"/>
            <a:ext cx="418543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251937" y="5789891"/>
            <a:ext cx="874132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251937" y="4576484"/>
            <a:ext cx="874132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8582581" y="4936731"/>
            <a:ext cx="440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?</a:t>
            </a:r>
          </a:p>
        </p:txBody>
      </p:sp>
      <p:sp>
        <p:nvSpPr>
          <p:cNvPr id="90" name="Bent Arrow 89"/>
          <p:cNvSpPr/>
          <p:nvPr/>
        </p:nvSpPr>
        <p:spPr>
          <a:xfrm rot="3209169">
            <a:off x="5592172" y="2451842"/>
            <a:ext cx="3460207" cy="1370071"/>
          </a:xfrm>
          <a:prstGeom prst="bentArrow">
            <a:avLst>
              <a:gd name="adj1" fmla="val 13545"/>
              <a:gd name="adj2" fmla="val 16701"/>
              <a:gd name="adj3" fmla="val 25000"/>
              <a:gd name="adj4" fmla="val 875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325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State-space modeling, hidden process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331" y="4968410"/>
            <a:ext cx="651406" cy="46035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516" y="4955020"/>
            <a:ext cx="651406" cy="46035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461" y="4733569"/>
            <a:ext cx="1181197" cy="83476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726" y="4716454"/>
            <a:ext cx="1185666" cy="837927"/>
          </a:xfrm>
          <a:prstGeom prst="rect">
            <a:avLst/>
          </a:prstGeom>
        </p:spPr>
      </p:pic>
      <p:pic>
        <p:nvPicPr>
          <p:cNvPr id="18" name="Picture 21" descr="scisample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22331" y="3274166"/>
            <a:ext cx="465166" cy="999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22" descr="j0210682"/>
          <p:cNvPicPr preferRelativeResize="0"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58758" y="2201001"/>
            <a:ext cx="628650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21" descr="scisample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62916" y="3274166"/>
            <a:ext cx="465166" cy="999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1" descr="scisample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45949" y="3274166"/>
            <a:ext cx="465166" cy="999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1" descr="scisample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91182" y="3274166"/>
            <a:ext cx="465166" cy="999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1" name="Straight Arrow Connector 40"/>
          <p:cNvCxnSpPr/>
          <p:nvPr/>
        </p:nvCxnSpPr>
        <p:spPr>
          <a:xfrm flipV="1">
            <a:off x="2546072" y="4396878"/>
            <a:ext cx="0" cy="36360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4185107" y="4409036"/>
            <a:ext cx="0" cy="36360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V="1">
            <a:off x="5774375" y="4412194"/>
            <a:ext cx="0" cy="36360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V="1">
            <a:off x="7376473" y="4396878"/>
            <a:ext cx="0" cy="36360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7916417" y="5169441"/>
            <a:ext cx="418543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V="1">
            <a:off x="4765988" y="5169268"/>
            <a:ext cx="418543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V="1">
            <a:off x="3133667" y="5167563"/>
            <a:ext cx="418543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V="1">
            <a:off x="6449826" y="5191858"/>
            <a:ext cx="418543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3002243" y="2769305"/>
            <a:ext cx="1341167" cy="3489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V="1">
            <a:off x="4343410" y="2936480"/>
            <a:ext cx="315348" cy="20039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 flipV="1">
            <a:off x="5360944" y="2895869"/>
            <a:ext cx="170010" cy="32961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H="1" flipV="1">
            <a:off x="5742263" y="2672034"/>
            <a:ext cx="1159875" cy="43952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07900" y="3667243"/>
            <a:ext cx="1577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Observations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2009" y="4948507"/>
            <a:ext cx="1678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Fish population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2009" y="5850990"/>
            <a:ext cx="1678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39529" y="5859249"/>
            <a:ext cx="61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 = 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04516" y="5826983"/>
            <a:ext cx="61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 = 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67831" y="5826983"/>
            <a:ext cx="61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 = 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15193" y="5850990"/>
            <a:ext cx="61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 = 1</a:t>
            </a:r>
          </a:p>
        </p:txBody>
      </p:sp>
      <p:cxnSp>
        <p:nvCxnSpPr>
          <p:cNvPr id="71" name="Straight Arrow Connector 70"/>
          <p:cNvCxnSpPr/>
          <p:nvPr/>
        </p:nvCxnSpPr>
        <p:spPr>
          <a:xfrm flipV="1">
            <a:off x="3193300" y="6057219"/>
            <a:ext cx="418543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flipV="1">
            <a:off x="4761392" y="6057221"/>
            <a:ext cx="418543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V="1">
            <a:off x="6409584" y="6039276"/>
            <a:ext cx="418543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V="1">
            <a:off x="7916417" y="6057220"/>
            <a:ext cx="418543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251937" y="5789891"/>
            <a:ext cx="874132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251937" y="4576484"/>
            <a:ext cx="874132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8582581" y="4936731"/>
            <a:ext cx="440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?</a:t>
            </a:r>
          </a:p>
        </p:txBody>
      </p:sp>
      <p:sp>
        <p:nvSpPr>
          <p:cNvPr id="90" name="Bent Arrow 89"/>
          <p:cNvSpPr/>
          <p:nvPr/>
        </p:nvSpPr>
        <p:spPr>
          <a:xfrm rot="3209169">
            <a:off x="5592172" y="2451842"/>
            <a:ext cx="3460207" cy="1370071"/>
          </a:xfrm>
          <a:prstGeom prst="bentArrow">
            <a:avLst>
              <a:gd name="adj1" fmla="val 13545"/>
              <a:gd name="adj2" fmla="val 16701"/>
              <a:gd name="adj3" fmla="val 25000"/>
              <a:gd name="adj4" fmla="val 875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5605" y="1046756"/>
            <a:ext cx="4838804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We are interested in separating variability associated with population process from that due to the observations.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3380918" y="1786022"/>
            <a:ext cx="230925" cy="3162485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1718430" y="2175798"/>
            <a:ext cx="716002" cy="2340022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7711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State-space model: exponential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 process model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Observation model</a:t>
            </a:r>
          </a:p>
        </p:txBody>
      </p:sp>
      <p:graphicFrame>
        <p:nvGraphicFramePr>
          <p:cNvPr id="4" name="Content Placeholder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6383166"/>
              </p:ext>
            </p:extLst>
          </p:nvPr>
        </p:nvGraphicFramePr>
        <p:xfrm>
          <a:off x="1678272" y="1853077"/>
          <a:ext cx="5283741" cy="798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84400" imgH="330200" progId="Equation.3">
                  <p:embed/>
                </p:oleObj>
              </mc:Choice>
              <mc:Fallback>
                <p:oleObj name="Equation" r:id="rId2" imgW="2184400" imgH="330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78272" y="1853077"/>
                        <a:ext cx="5283741" cy="798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868633"/>
              </p:ext>
            </p:extLst>
          </p:nvPr>
        </p:nvGraphicFramePr>
        <p:xfrm>
          <a:off x="2441845" y="3043398"/>
          <a:ext cx="3628571" cy="650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46200" imgH="241300" progId="Equation.3">
                  <p:embed/>
                </p:oleObj>
              </mc:Choice>
              <mc:Fallback>
                <p:oleObj name="Equation" r:id="rId4" imgW="1346200" imgH="2413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41845" y="3043398"/>
                        <a:ext cx="3628571" cy="6504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Content Placeholder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539024"/>
              </p:ext>
            </p:extLst>
          </p:nvPr>
        </p:nvGraphicFramePr>
        <p:xfrm>
          <a:off x="2030413" y="4768850"/>
          <a:ext cx="4884737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19300" imgH="330200" progId="Equation.3">
                  <p:embed/>
                </p:oleObj>
              </mc:Choice>
              <mc:Fallback>
                <p:oleObj name="Equation" r:id="rId6" imgW="2019300" imgH="330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30413" y="4768850"/>
                        <a:ext cx="4884737" cy="798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1459559"/>
              </p:ext>
            </p:extLst>
          </p:nvPr>
        </p:nvGraphicFramePr>
        <p:xfrm>
          <a:off x="2741087" y="5714207"/>
          <a:ext cx="316865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31900" imgH="241300" progId="Equation.3">
                  <p:embed/>
                </p:oleObj>
              </mc:Choice>
              <mc:Fallback>
                <p:oleObj name="Equation" r:id="rId8" imgW="1231900" imgH="2413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41087" y="5714207"/>
                        <a:ext cx="3168650" cy="620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3292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State-space model: exponential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 process model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Observation model</a:t>
            </a:r>
          </a:p>
        </p:txBody>
      </p:sp>
      <p:graphicFrame>
        <p:nvGraphicFramePr>
          <p:cNvPr id="4" name="Content Placeholder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6634361"/>
              </p:ext>
            </p:extLst>
          </p:nvPr>
        </p:nvGraphicFramePr>
        <p:xfrm>
          <a:off x="1678272" y="1853077"/>
          <a:ext cx="5283741" cy="798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84400" imgH="330200" progId="Equation.3">
                  <p:embed/>
                </p:oleObj>
              </mc:Choice>
              <mc:Fallback>
                <p:oleObj name="Equation" r:id="rId2" imgW="2184400" imgH="330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78272" y="1853077"/>
                        <a:ext cx="5283741" cy="798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8848752"/>
              </p:ext>
            </p:extLst>
          </p:nvPr>
        </p:nvGraphicFramePr>
        <p:xfrm>
          <a:off x="2441845" y="3043398"/>
          <a:ext cx="3628571" cy="650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46200" imgH="241300" progId="Equation.3">
                  <p:embed/>
                </p:oleObj>
              </mc:Choice>
              <mc:Fallback>
                <p:oleObj name="Equation" r:id="rId4" imgW="1346200" imgH="2413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41845" y="3043398"/>
                        <a:ext cx="3628571" cy="6504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Content Placeholder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2464287"/>
              </p:ext>
            </p:extLst>
          </p:nvPr>
        </p:nvGraphicFramePr>
        <p:xfrm>
          <a:off x="2030413" y="4768850"/>
          <a:ext cx="4884737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19300" imgH="330200" progId="Equation.3">
                  <p:embed/>
                </p:oleObj>
              </mc:Choice>
              <mc:Fallback>
                <p:oleObj name="Equation" r:id="rId6" imgW="2019300" imgH="330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30413" y="4768850"/>
                        <a:ext cx="4884737" cy="798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066366"/>
              </p:ext>
            </p:extLst>
          </p:nvPr>
        </p:nvGraphicFramePr>
        <p:xfrm>
          <a:off x="2741087" y="5714207"/>
          <a:ext cx="316865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31900" imgH="241300" progId="Equation.3">
                  <p:embed/>
                </p:oleObj>
              </mc:Choice>
              <mc:Fallback>
                <p:oleObj name="Equation" r:id="rId8" imgW="1231900" imgH="2413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41087" y="5714207"/>
                        <a:ext cx="3168650" cy="620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Straight Arrow Connector 10"/>
          <p:cNvCxnSpPr/>
          <p:nvPr/>
        </p:nvCxnSpPr>
        <p:spPr>
          <a:xfrm flipH="1">
            <a:off x="1678272" y="2428475"/>
            <a:ext cx="1210409" cy="619658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2824821"/>
            <a:ext cx="1329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Population growth rate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3473686" y="1451502"/>
            <a:ext cx="1759431" cy="647264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38816" y="1051870"/>
            <a:ext cx="1623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Population size at time </a:t>
            </a:r>
            <a:r>
              <a:rPr lang="en-US" i="1" dirty="0"/>
              <a:t>t</a:t>
            </a:r>
            <a:endParaRPr lang="en-US" dirty="0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4172539" y="2457700"/>
            <a:ext cx="2930545" cy="388164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33273" y="2493473"/>
            <a:ext cx="18107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Annual deviation in population growth, process error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 flipV="1">
            <a:off x="6628615" y="1740755"/>
            <a:ext cx="976849" cy="381402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636862" y="1451501"/>
            <a:ext cx="1507138" cy="67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 error variance</a:t>
            </a:r>
          </a:p>
        </p:txBody>
      </p:sp>
    </p:spTree>
    <p:extLst>
      <p:ext uri="{BB962C8B-B14F-4D97-AF65-F5344CB8AC3E}">
        <p14:creationId xmlns:p14="http://schemas.microsoft.com/office/powerpoint/2010/main" val="675621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State-space model: exponential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 process model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Observation model</a:t>
            </a:r>
          </a:p>
        </p:txBody>
      </p:sp>
      <p:graphicFrame>
        <p:nvGraphicFramePr>
          <p:cNvPr id="4" name="Content Placeholder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9513789"/>
              </p:ext>
            </p:extLst>
          </p:nvPr>
        </p:nvGraphicFramePr>
        <p:xfrm>
          <a:off x="1678272" y="1853077"/>
          <a:ext cx="5283741" cy="798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84400" imgH="330200" progId="Equation.3">
                  <p:embed/>
                </p:oleObj>
              </mc:Choice>
              <mc:Fallback>
                <p:oleObj name="Equation" r:id="rId2" imgW="2184400" imgH="330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78272" y="1853077"/>
                        <a:ext cx="5283741" cy="798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343581"/>
              </p:ext>
            </p:extLst>
          </p:nvPr>
        </p:nvGraphicFramePr>
        <p:xfrm>
          <a:off x="2441845" y="3043398"/>
          <a:ext cx="3628571" cy="650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46200" imgH="241300" progId="Equation.3">
                  <p:embed/>
                </p:oleObj>
              </mc:Choice>
              <mc:Fallback>
                <p:oleObj name="Equation" r:id="rId4" imgW="1346200" imgH="2413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41845" y="3043398"/>
                        <a:ext cx="3628571" cy="6504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Content Placeholder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3348198"/>
              </p:ext>
            </p:extLst>
          </p:nvPr>
        </p:nvGraphicFramePr>
        <p:xfrm>
          <a:off x="2030413" y="4768850"/>
          <a:ext cx="4884737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19300" imgH="330200" progId="Equation.3">
                  <p:embed/>
                </p:oleObj>
              </mc:Choice>
              <mc:Fallback>
                <p:oleObj name="Equation" r:id="rId6" imgW="2019300" imgH="330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30413" y="4768850"/>
                        <a:ext cx="4884737" cy="798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3822400"/>
              </p:ext>
            </p:extLst>
          </p:nvPr>
        </p:nvGraphicFramePr>
        <p:xfrm>
          <a:off x="2741087" y="5714207"/>
          <a:ext cx="316865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31900" imgH="241300" progId="Equation.3">
                  <p:embed/>
                </p:oleObj>
              </mc:Choice>
              <mc:Fallback>
                <p:oleObj name="Equation" r:id="rId8" imgW="1231900" imgH="2413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41087" y="5714207"/>
                        <a:ext cx="3168650" cy="620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Straight Arrow Connector 10"/>
          <p:cNvCxnSpPr/>
          <p:nvPr/>
        </p:nvCxnSpPr>
        <p:spPr>
          <a:xfrm flipH="1">
            <a:off x="1678272" y="2428475"/>
            <a:ext cx="1210409" cy="619658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2824821"/>
            <a:ext cx="1329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Population growth rate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3473686" y="1451502"/>
            <a:ext cx="1759431" cy="647264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38816" y="1051870"/>
            <a:ext cx="1623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Population size at time </a:t>
            </a:r>
            <a:r>
              <a:rPr lang="en-US" i="1" dirty="0"/>
              <a:t>t</a:t>
            </a:r>
            <a:endParaRPr lang="en-US" dirty="0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4172539" y="2457700"/>
            <a:ext cx="2930545" cy="388164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33273" y="2493473"/>
            <a:ext cx="18107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Annual deviation in population growth, process error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1437363" y="5339026"/>
            <a:ext cx="721070" cy="456673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29290" y="5742730"/>
            <a:ext cx="1329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Observationat</a:t>
            </a:r>
            <a:r>
              <a:rPr lang="en-US" dirty="0"/>
              <a:t> time </a:t>
            </a:r>
            <a:r>
              <a:rPr lang="en-US" i="1" dirty="0"/>
              <a:t>t</a:t>
            </a:r>
            <a:endParaRPr lang="en-US" dirty="0"/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3106267" y="4647599"/>
            <a:ext cx="1722156" cy="381401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954017" y="4220216"/>
            <a:ext cx="2860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Constant relating population size to observed values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5065657" y="5429720"/>
            <a:ext cx="1562958" cy="501900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738734" y="5782886"/>
            <a:ext cx="1810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Observation error residual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 flipV="1">
            <a:off x="6628615" y="1740755"/>
            <a:ext cx="976849" cy="381402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6501498" y="5219657"/>
            <a:ext cx="921029" cy="1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636862" y="1451501"/>
            <a:ext cx="1507138" cy="67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 error variance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05464" y="4866547"/>
            <a:ext cx="1507138" cy="67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Observation error variance</a:t>
            </a:r>
          </a:p>
        </p:txBody>
      </p:sp>
    </p:spTree>
    <p:extLst>
      <p:ext uri="{BB962C8B-B14F-4D97-AF65-F5344CB8AC3E}">
        <p14:creationId xmlns:p14="http://schemas.microsoft.com/office/powerpoint/2010/main" val="1407398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State-space models: exponential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53641"/>
            <a:ext cx="8229600" cy="1286646"/>
          </a:xfrm>
        </p:spPr>
        <p:txBody>
          <a:bodyPr/>
          <a:lstStyle/>
          <a:p>
            <a:r>
              <a:rPr lang="en-US" dirty="0" err="1"/>
              <a:t>Lamda</a:t>
            </a:r>
            <a:r>
              <a:rPr lang="en-US" dirty="0"/>
              <a:t> = 1.05, tau=2, sigma=4, n0=10</a:t>
            </a:r>
          </a:p>
          <a:p>
            <a:r>
              <a:rPr lang="en-US" dirty="0"/>
              <a:t>Deterministic dynamics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237" y="969476"/>
            <a:ext cx="6240618" cy="438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441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State-space models: exponential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53641"/>
            <a:ext cx="8229600" cy="1286646"/>
          </a:xfrm>
        </p:spPr>
        <p:txBody>
          <a:bodyPr/>
          <a:lstStyle/>
          <a:p>
            <a:r>
              <a:rPr lang="en-US" dirty="0" err="1"/>
              <a:t>Lamda</a:t>
            </a:r>
            <a:r>
              <a:rPr lang="en-US" dirty="0"/>
              <a:t> = 1.05, tau=2, sigma=4, n0=10</a:t>
            </a:r>
          </a:p>
          <a:p>
            <a:r>
              <a:rPr lang="en-US" dirty="0"/>
              <a:t>Process error, one realization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896" y="969264"/>
            <a:ext cx="6271895" cy="440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01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State-space models: exponential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53641"/>
            <a:ext cx="8229600" cy="1286646"/>
          </a:xfrm>
        </p:spPr>
        <p:txBody>
          <a:bodyPr/>
          <a:lstStyle/>
          <a:p>
            <a:r>
              <a:rPr lang="en-US" dirty="0" err="1"/>
              <a:t>Lamda</a:t>
            </a:r>
            <a:r>
              <a:rPr lang="en-US" dirty="0"/>
              <a:t> = 1.05, tau=2, sigma=4, n0=10</a:t>
            </a:r>
          </a:p>
          <a:p>
            <a:r>
              <a:rPr lang="en-US" dirty="0"/>
              <a:t>Process error, 10 realizations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896" y="969264"/>
            <a:ext cx="6271895" cy="44061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969264"/>
            <a:ext cx="6271895" cy="440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067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896" y="969264"/>
            <a:ext cx="6271895" cy="44061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969264"/>
            <a:ext cx="6271895" cy="4406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State-space models: exponential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53641"/>
            <a:ext cx="8229600" cy="1286646"/>
          </a:xfrm>
        </p:spPr>
        <p:txBody>
          <a:bodyPr/>
          <a:lstStyle/>
          <a:p>
            <a:r>
              <a:rPr lang="en-US" dirty="0" err="1"/>
              <a:t>Lamda</a:t>
            </a:r>
            <a:r>
              <a:rPr lang="en-US" dirty="0"/>
              <a:t> = 1.05, tau=2, sigma=4, n0=10</a:t>
            </a:r>
          </a:p>
          <a:p>
            <a:r>
              <a:rPr lang="en-US" dirty="0"/>
              <a:t>Observations around the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604" y="5912145"/>
            <a:ext cx="914400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r>
              <a:rPr lang="en-US" sz="2400" dirty="0"/>
              <a:t>We might be interested in estimating the values for these parameters!</a:t>
            </a:r>
          </a:p>
        </p:txBody>
      </p:sp>
      <p:sp>
        <p:nvSpPr>
          <p:cNvPr id="9" name="Up Arrow 8"/>
          <p:cNvSpPr/>
          <p:nvPr/>
        </p:nvSpPr>
        <p:spPr>
          <a:xfrm>
            <a:off x="4118429" y="6045326"/>
            <a:ext cx="655884" cy="279136"/>
          </a:xfrm>
          <a:prstGeom prst="up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461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State-space models, more generally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 and Observation modeled as conditional probability density functions.</a:t>
            </a:r>
          </a:p>
          <a:p>
            <a:r>
              <a:rPr lang="en-US" dirty="0"/>
              <a:t>State process model describes change in state vector from time </a:t>
            </a:r>
            <a:r>
              <a:rPr lang="en-US" i="1" dirty="0"/>
              <a:t>t-1</a:t>
            </a:r>
            <a:r>
              <a:rPr lang="en-US" dirty="0"/>
              <a:t> to </a:t>
            </a:r>
            <a:r>
              <a:rPr lang="en-US" i="1" dirty="0"/>
              <a:t>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Observation model relates the state to the observed data, given values for the states.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                 are the model parameters.</a:t>
            </a:r>
          </a:p>
          <a:p>
            <a:r>
              <a:rPr lang="en-US" dirty="0"/>
              <a:t>We also need the initial state, 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1844444"/>
              </p:ext>
            </p:extLst>
          </p:nvPr>
        </p:nvGraphicFramePr>
        <p:xfrm>
          <a:off x="3347555" y="3284938"/>
          <a:ext cx="2122488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87400" imgH="215900" progId="Equation.3">
                  <p:embed/>
                </p:oleObj>
              </mc:Choice>
              <mc:Fallback>
                <p:oleObj name="Equation" r:id="rId2" imgW="787400" imgH="2159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47555" y="3284938"/>
                        <a:ext cx="2122488" cy="581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6963970"/>
              </p:ext>
            </p:extLst>
          </p:nvPr>
        </p:nvGraphicFramePr>
        <p:xfrm>
          <a:off x="3398838" y="5065910"/>
          <a:ext cx="20193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49300" imgH="215900" progId="Equation.3">
                  <p:embed/>
                </p:oleObj>
              </mc:Choice>
              <mc:Fallback>
                <p:oleObj name="Equation" r:id="rId4" imgW="749300" imgH="2159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98838" y="5065910"/>
                        <a:ext cx="2019300" cy="581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2465267"/>
              </p:ext>
            </p:extLst>
          </p:nvPr>
        </p:nvGraphicFramePr>
        <p:xfrm>
          <a:off x="893442" y="5489169"/>
          <a:ext cx="1471613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46100" imgH="203200" progId="Equation.3">
                  <p:embed/>
                </p:oleObj>
              </mc:Choice>
              <mc:Fallback>
                <p:oleObj name="Equation" r:id="rId6" imgW="546100" imgH="203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93442" y="5489169"/>
                        <a:ext cx="1471613" cy="547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24348"/>
              </p:ext>
            </p:extLst>
          </p:nvPr>
        </p:nvGraphicFramePr>
        <p:xfrm>
          <a:off x="5932455" y="6073219"/>
          <a:ext cx="160972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96900" imgH="215900" progId="Equation.3">
                  <p:embed/>
                </p:oleObj>
              </mc:Choice>
              <mc:Fallback>
                <p:oleObj name="Equation" r:id="rId8" imgW="596900" imgH="2159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932455" y="6073219"/>
                        <a:ext cx="1609725" cy="581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000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Relationship between models and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Thorson &amp; </a:t>
            </a:r>
            <a:r>
              <a:rPr lang="en-US" dirty="0" err="1"/>
              <a:t>Minto</a:t>
            </a:r>
            <a:r>
              <a:rPr lang="en-US" dirty="0"/>
              <a:t> (2015)</a:t>
            </a:r>
          </a:p>
        </p:txBody>
      </p:sp>
      <p:pic>
        <p:nvPicPr>
          <p:cNvPr id="5" name="Picture 4" descr="Screen Shot 2015-10-05 at 10.28.01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100" y="2049197"/>
            <a:ext cx="6261100" cy="397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489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for state-space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Joint distribution for the observations and states:</a:t>
            </a:r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829393"/>
              </p:ext>
            </p:extLst>
          </p:nvPr>
        </p:nvGraphicFramePr>
        <p:xfrm>
          <a:off x="361950" y="1645972"/>
          <a:ext cx="862647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27500" imgH="482600" progId="Equation.3">
                  <p:embed/>
                </p:oleObj>
              </mc:Choice>
              <mc:Fallback>
                <p:oleObj name="Equation" r:id="rId2" imgW="4127500" imgH="482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61950" y="1645972"/>
                        <a:ext cx="8626475" cy="1006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Straight Arrow Connector 10"/>
          <p:cNvCxnSpPr/>
          <p:nvPr/>
        </p:nvCxnSpPr>
        <p:spPr>
          <a:xfrm flipH="1">
            <a:off x="2135112" y="2428475"/>
            <a:ext cx="2428165" cy="837405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2651446" y="2652447"/>
            <a:ext cx="2763088" cy="2148676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4898198" y="2428475"/>
            <a:ext cx="1423408" cy="1926032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7932854" y="2428475"/>
            <a:ext cx="349978" cy="167368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4019" y="3070486"/>
            <a:ext cx="1702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Probability of the initial state.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8938" y="4477957"/>
            <a:ext cx="17025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Product over time steps t=1 to t=T.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78378" y="4477957"/>
            <a:ext cx="23036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Probability of state at time </a:t>
            </a:r>
            <a:r>
              <a:rPr lang="en-US" i="1" dirty="0"/>
              <a:t>t</a:t>
            </a:r>
            <a:r>
              <a:rPr lang="en-US" dirty="0"/>
              <a:t> conditional on state at time </a:t>
            </a:r>
            <a:r>
              <a:rPr lang="en-US" i="1" dirty="0"/>
              <a:t>t-1</a:t>
            </a:r>
            <a:r>
              <a:rPr lang="en-US" dirty="0"/>
              <a:t> and the parameters of the state process model.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1015" y="4354507"/>
            <a:ext cx="2303677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Probability of the observation at time </a:t>
            </a:r>
            <a:r>
              <a:rPr lang="en-US" i="1" dirty="0"/>
              <a:t>t </a:t>
            </a:r>
            <a:r>
              <a:rPr lang="en-US" dirty="0"/>
              <a:t>conditional on the state at time </a:t>
            </a:r>
            <a:r>
              <a:rPr lang="en-US" i="1" dirty="0"/>
              <a:t>t</a:t>
            </a:r>
            <a:r>
              <a:rPr lang="en-US" dirty="0"/>
              <a:t> and the parameters of the observation model.</a:t>
            </a:r>
          </a:p>
        </p:txBody>
      </p:sp>
    </p:spTree>
    <p:extLst>
      <p:ext uri="{BB962C8B-B14F-4D97-AF65-F5344CB8AC3E}">
        <p14:creationId xmlns:p14="http://schemas.microsoft.com/office/powerpoint/2010/main" val="4212369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for state-space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Joint distribution for the observations and states:</a:t>
            </a:r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We are interested in the marginal distribution of the observations,</a:t>
            </a:r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1439685"/>
              </p:ext>
            </p:extLst>
          </p:nvPr>
        </p:nvGraphicFramePr>
        <p:xfrm>
          <a:off x="3219450" y="3775075"/>
          <a:ext cx="4430713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46500" imgH="520700" progId="Equation.3">
                  <p:embed/>
                </p:oleObj>
              </mc:Choice>
              <mc:Fallback>
                <p:oleObj name="Equation" r:id="rId2" imgW="37465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9450" y="3775075"/>
                        <a:ext cx="4430713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2724608"/>
              </p:ext>
            </p:extLst>
          </p:nvPr>
        </p:nvGraphicFramePr>
        <p:xfrm>
          <a:off x="361950" y="1645972"/>
          <a:ext cx="862647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27500" imgH="482600" progId="Equation.3">
                  <p:embed/>
                </p:oleObj>
              </mc:Choice>
              <mc:Fallback>
                <p:oleObj name="Equation" r:id="rId4" imgW="4127500" imgH="482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1950" y="1645972"/>
                        <a:ext cx="8626475" cy="1006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728915"/>
              </p:ext>
            </p:extLst>
          </p:nvPr>
        </p:nvGraphicFramePr>
        <p:xfrm>
          <a:off x="3263922" y="3183238"/>
          <a:ext cx="3853117" cy="5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74800" imgH="215900" progId="Equation.3">
                  <p:embed/>
                </p:oleObj>
              </mc:Choice>
              <mc:Fallback>
                <p:oleObj name="Equation" r:id="rId6" imgW="1574800" imgH="2159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63922" y="3183238"/>
                        <a:ext cx="3853117" cy="525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3823665" y="4389237"/>
            <a:ext cx="446558" cy="565411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2330481" y="3600843"/>
            <a:ext cx="1241995" cy="935102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074854" y="5066300"/>
            <a:ext cx="3042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Maximum likelihood estimates for the model parameters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515" y="4533779"/>
            <a:ext cx="30421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Likelihood of the parameters given the data from  time t=1 to time=T.</a:t>
            </a:r>
          </a:p>
        </p:txBody>
      </p:sp>
    </p:spTree>
    <p:extLst>
      <p:ext uri="{BB962C8B-B14F-4D97-AF65-F5344CB8AC3E}">
        <p14:creationId xmlns:p14="http://schemas.microsoft.com/office/powerpoint/2010/main" val="744201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for state-space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Joint distribution for the observations and states:</a:t>
            </a:r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We are interested in the marginal distribution of the observations,</a:t>
            </a:r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As before with mixed-effects models, we achieve this by integrating out the states in the joint distribution.</a:t>
            </a:r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3998825"/>
              </p:ext>
            </p:extLst>
          </p:nvPr>
        </p:nvGraphicFramePr>
        <p:xfrm>
          <a:off x="3263922" y="3774782"/>
          <a:ext cx="4341542" cy="614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70300" imgH="520700" progId="Equation.3">
                  <p:embed/>
                </p:oleObj>
              </mc:Choice>
              <mc:Fallback>
                <p:oleObj name="Equation" r:id="rId2" imgW="36703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922" y="3774782"/>
                        <a:ext cx="4341542" cy="6144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2724608"/>
              </p:ext>
            </p:extLst>
          </p:nvPr>
        </p:nvGraphicFramePr>
        <p:xfrm>
          <a:off x="361950" y="1645972"/>
          <a:ext cx="862647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27500" imgH="482600" progId="Equation.3">
                  <p:embed/>
                </p:oleObj>
              </mc:Choice>
              <mc:Fallback>
                <p:oleObj name="Equation" r:id="rId4" imgW="4127500" imgH="482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1950" y="1645972"/>
                        <a:ext cx="8626475" cy="1006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728915"/>
              </p:ext>
            </p:extLst>
          </p:nvPr>
        </p:nvGraphicFramePr>
        <p:xfrm>
          <a:off x="3263922" y="3183238"/>
          <a:ext cx="3853117" cy="5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74800" imgH="215900" progId="Equation.3">
                  <p:embed/>
                </p:oleObj>
              </mc:Choice>
              <mc:Fallback>
                <p:oleObj name="Equation" r:id="rId6" imgW="1574800" imgH="2159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63922" y="3183238"/>
                        <a:ext cx="3853117" cy="525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128520"/>
              </p:ext>
            </p:extLst>
          </p:nvPr>
        </p:nvGraphicFramePr>
        <p:xfrm>
          <a:off x="427305" y="5572757"/>
          <a:ext cx="8493416" cy="115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43300" imgH="482600" progId="Equation.3">
                  <p:embed/>
                </p:oleObj>
              </mc:Choice>
              <mc:Fallback>
                <p:oleObj name="Equation" r:id="rId8" imgW="3543300" imgH="482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27305" y="5572757"/>
                        <a:ext cx="8493416" cy="1156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44201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state-space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Various methods exist for obtaining the (log) likelihood, and then to maximize it.</a:t>
            </a:r>
          </a:p>
          <a:p>
            <a:pPr lvl="1"/>
            <a:r>
              <a:rPr lang="en-US" dirty="0" err="1"/>
              <a:t>Kalman</a:t>
            </a:r>
            <a:r>
              <a:rPr lang="en-US" dirty="0"/>
              <a:t> filter (</a:t>
            </a:r>
            <a:r>
              <a:rPr lang="en-US" dirty="0" err="1"/>
              <a:t>Kalman</a:t>
            </a:r>
            <a:r>
              <a:rPr lang="en-US" dirty="0"/>
              <a:t>, 1960)</a:t>
            </a:r>
          </a:p>
          <a:p>
            <a:pPr marL="914400" lvl="2" indent="0">
              <a:buNone/>
            </a:pPr>
            <a:r>
              <a:rPr lang="en-US" dirty="0"/>
              <a:t>Seminal work, for linear state and observation models when process and observation errors are Gaussian.</a:t>
            </a:r>
          </a:p>
          <a:p>
            <a:pPr lvl="1"/>
            <a:r>
              <a:rPr lang="en-US" dirty="0"/>
              <a:t>Additional filters relaxing some assumptions</a:t>
            </a:r>
          </a:p>
          <a:p>
            <a:pPr marL="914400" lvl="2" indent="0">
              <a:buNone/>
            </a:pPr>
            <a:r>
              <a:rPr lang="en-US" dirty="0"/>
              <a:t>(Extended </a:t>
            </a:r>
            <a:r>
              <a:rPr lang="en-US" dirty="0" err="1"/>
              <a:t>Kalman</a:t>
            </a:r>
            <a:r>
              <a:rPr lang="en-US" dirty="0"/>
              <a:t> filter, unscented </a:t>
            </a:r>
            <a:r>
              <a:rPr lang="en-US" dirty="0" err="1"/>
              <a:t>Kalman</a:t>
            </a:r>
            <a:r>
              <a:rPr lang="en-US" dirty="0"/>
              <a:t> filter, etc.)</a:t>
            </a:r>
          </a:p>
          <a:p>
            <a:pPr lvl="1"/>
            <a:r>
              <a:rPr lang="en-US" dirty="0"/>
              <a:t>Expectation-Maximization (EM) algorithm</a:t>
            </a:r>
          </a:p>
          <a:p>
            <a:pPr lvl="1"/>
            <a:r>
              <a:rPr lang="en-US" dirty="0"/>
              <a:t>Laplace approximation  (e.g. TMB)</a:t>
            </a:r>
          </a:p>
          <a:p>
            <a:pPr lvl="1"/>
            <a:r>
              <a:rPr lang="en-US" dirty="0"/>
              <a:t>Importance sampling</a:t>
            </a:r>
          </a:p>
          <a:p>
            <a:r>
              <a:rPr lang="en-US" dirty="0"/>
              <a:t>Estimation can also be achieved in a Bayesian framework. (</a:t>
            </a:r>
            <a:r>
              <a:rPr lang="en-US" sz="2800" dirty="0"/>
              <a:t>e.g. with Markov Chain Monte Carlo</a:t>
            </a:r>
            <a:r>
              <a:rPr lang="en-US" dirty="0"/>
              <a:t>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3415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state-space models in TMB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advantage of the conditional distribution for the states:</a:t>
            </a:r>
          </a:p>
          <a:p>
            <a:r>
              <a:rPr lang="en-US" dirty="0"/>
              <a:t>i.e. make the state variables the random effects, e.g.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For our biomass dynamics model:</a:t>
            </a:r>
          </a:p>
          <a:p>
            <a:endParaRPr lang="en-US" dirty="0"/>
          </a:p>
          <a:p>
            <a:r>
              <a:rPr lang="en-US" dirty="0"/>
              <a:t>Conditioned on the biomass at the previous time step, this model is </a:t>
            </a:r>
            <a:r>
              <a:rPr lang="en-US" b="1" dirty="0"/>
              <a:t>separable</a:t>
            </a:r>
            <a:r>
              <a:rPr lang="en-US" dirty="0"/>
              <a:t>, i.e. </a:t>
            </a:r>
            <a:r>
              <a:rPr lang="en-US" dirty="0" err="1"/>
              <a:t>ln</a:t>
            </a:r>
            <a:r>
              <a:rPr lang="en-US" dirty="0"/>
              <a:t>(</a:t>
            </a:r>
            <a:r>
              <a:rPr lang="en-US" i="1" dirty="0" err="1"/>
              <a:t>B</a:t>
            </a:r>
            <a:r>
              <a:rPr lang="en-US" i="1" baseline="-25000" dirty="0" err="1"/>
              <a:t>t</a:t>
            </a:r>
            <a:r>
              <a:rPr lang="en-US" dirty="0"/>
              <a:t>) does not depend on </a:t>
            </a:r>
            <a:r>
              <a:rPr lang="en-US" dirty="0" err="1"/>
              <a:t>ln</a:t>
            </a:r>
            <a:r>
              <a:rPr lang="en-US" dirty="0"/>
              <a:t>(</a:t>
            </a:r>
            <a:r>
              <a:rPr lang="en-US" i="1" dirty="0"/>
              <a:t>B</a:t>
            </a:r>
            <a:r>
              <a:rPr lang="en-US" i="1" baseline="-25000" dirty="0"/>
              <a:t>t-2</a:t>
            </a:r>
            <a:r>
              <a:rPr lang="en-US" dirty="0"/>
              <a:t>).</a:t>
            </a:r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8445609"/>
              </p:ext>
            </p:extLst>
          </p:nvPr>
        </p:nvGraphicFramePr>
        <p:xfrm>
          <a:off x="3347555" y="1624563"/>
          <a:ext cx="1919852" cy="525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87400" imgH="215900" progId="Equation.3">
                  <p:embed/>
                </p:oleObj>
              </mc:Choice>
              <mc:Fallback>
                <p:oleObj name="Equation" r:id="rId2" imgW="787400" imgH="2159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47555" y="1624563"/>
                        <a:ext cx="1919852" cy="5255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4571396"/>
              </p:ext>
            </p:extLst>
          </p:nvPr>
        </p:nvGraphicFramePr>
        <p:xfrm>
          <a:off x="995932" y="3210437"/>
          <a:ext cx="7027862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82900" imgH="254000" progId="Equation.3">
                  <p:embed/>
                </p:oleObj>
              </mc:Choice>
              <mc:Fallback>
                <p:oleObj name="Equation" r:id="rId4" imgW="2882900" imgH="2540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95932" y="3210437"/>
                        <a:ext cx="7027862" cy="617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2717776"/>
              </p:ext>
            </p:extLst>
          </p:nvPr>
        </p:nvGraphicFramePr>
        <p:xfrm>
          <a:off x="2061394" y="4411855"/>
          <a:ext cx="48355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68500" imgH="279400" progId="Equation.3">
                  <p:embed/>
                </p:oleObj>
              </mc:Choice>
              <mc:Fallback>
                <p:oleObj name="Equation" r:id="rId6" imgW="1968500" imgH="279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61394" y="4411855"/>
                        <a:ext cx="4835525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30909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state</a:t>
            </a:r>
            <a:r>
              <a:rPr lang="en-US"/>
              <a:t>-space </a:t>
            </a:r>
            <a:r>
              <a:rPr lang="en-US" dirty="0"/>
              <a:t>production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3400" dirty="0"/>
              <a:t>The </a:t>
            </a:r>
            <a:r>
              <a:rPr lang="en-US" sz="3400" dirty="0" err="1"/>
              <a:t>Gompertz</a:t>
            </a:r>
            <a:r>
              <a:rPr lang="en-US" sz="3400" dirty="0"/>
              <a:t> population dynamics model:</a:t>
            </a:r>
          </a:p>
          <a:p>
            <a:pPr marL="0" indent="0">
              <a:buNone/>
            </a:pPr>
            <a:endParaRPr lang="en-US" sz="3400" dirty="0"/>
          </a:p>
          <a:p>
            <a:endParaRPr lang="en-US" sz="3400" dirty="0"/>
          </a:p>
          <a:p>
            <a:r>
              <a:rPr lang="en-US" sz="3400" dirty="0"/>
              <a:t>Similar to other models, except density dependence is on </a:t>
            </a:r>
            <a:r>
              <a:rPr lang="en-US" sz="3400" dirty="0" err="1"/>
              <a:t>ln</a:t>
            </a:r>
            <a:r>
              <a:rPr lang="en-US" sz="3400" dirty="0"/>
              <a:t>(B) rather than B.</a:t>
            </a:r>
          </a:p>
          <a:p>
            <a:r>
              <a:rPr lang="en-US" sz="3400" dirty="0"/>
              <a:t>Application to </a:t>
            </a:r>
            <a:br>
              <a:rPr lang="en-US" sz="3400" dirty="0"/>
            </a:br>
            <a:r>
              <a:rPr lang="en-US" sz="3400" dirty="0"/>
              <a:t>lingcod survey data</a:t>
            </a:r>
            <a:br>
              <a:rPr lang="en-US" sz="3400" dirty="0"/>
            </a:br>
            <a:r>
              <a:rPr lang="en-US" sz="3400" dirty="0"/>
              <a:t>(</a:t>
            </a:r>
            <a:r>
              <a:rPr lang="en-US" sz="3400" dirty="0" err="1"/>
              <a:t>Schnute</a:t>
            </a:r>
            <a:r>
              <a:rPr lang="en-US" sz="3400" dirty="0"/>
              <a:t> 1994)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3400" dirty="0" err="1"/>
              <a:t>Schnute</a:t>
            </a:r>
            <a:r>
              <a:rPr lang="en-US" sz="3400" dirty="0"/>
              <a:t>, J. T. (1994). A general framework for developing sequential fisheries models. Canadian Journal of Fisheries and Aquatic Sciences, 51(8), 1676-1688.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051" y="2570641"/>
            <a:ext cx="5048536" cy="3040383"/>
          </a:xfrm>
          <a:prstGeom prst="rect">
            <a:avLst/>
          </a:prstGeom>
        </p:spPr>
      </p:pic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7222999"/>
              </p:ext>
            </p:extLst>
          </p:nvPr>
        </p:nvGraphicFramePr>
        <p:xfrm>
          <a:off x="1473333" y="1388513"/>
          <a:ext cx="6362836" cy="594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17800" imgH="254000" progId="Equation.3">
                  <p:embed/>
                </p:oleObj>
              </mc:Choice>
              <mc:Fallback>
                <p:oleObj name="Equation" r:id="rId3" imgW="2717800" imgH="2540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3333" y="1388513"/>
                        <a:ext cx="6362836" cy="5945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8915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77824-11C5-CC51-53C1-7C2DA461A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Coho Ricker model (Chaps 3 &amp;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1D651-A6E1-30E2-1E87-0053CE6D1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78" y="3502719"/>
            <a:ext cx="8229600" cy="688359"/>
          </a:xfrm>
        </p:spPr>
        <p:txBody>
          <a:bodyPr/>
          <a:lstStyle/>
          <a:p>
            <a:r>
              <a:rPr lang="en-US" dirty="0"/>
              <a:t>0 &lt; alpha &lt;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3C58DD-0C30-B9FF-3CD4-1BD00F6B8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489877" y="2606609"/>
            <a:ext cx="3546564" cy="43326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6AA37B-A424-AFF2-5423-653C823D6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773557" y="-1423193"/>
            <a:ext cx="2286000" cy="6718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D80792-3B1E-89B7-7822-5CDBEC68E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968362" y="3508087"/>
            <a:ext cx="736600" cy="372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4818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 state-space production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1870"/>
            <a:ext cx="4030918" cy="5588417"/>
          </a:xfrm>
        </p:spPr>
        <p:txBody>
          <a:bodyPr/>
          <a:lstStyle/>
          <a:p>
            <a:r>
              <a:rPr lang="en-US" sz="2800" dirty="0"/>
              <a:t>Thorson &amp; </a:t>
            </a:r>
            <a:r>
              <a:rPr lang="en-US" sz="2800" dirty="0" err="1"/>
              <a:t>Minto</a:t>
            </a:r>
            <a:r>
              <a:rPr lang="en-US" sz="2800" dirty="0"/>
              <a:t> (2015)</a:t>
            </a:r>
          </a:p>
          <a:p>
            <a:r>
              <a:rPr lang="en-US" sz="2800" dirty="0"/>
              <a:t>State-space Schaefer production model fitted to tuna data from Meyer &amp; Millar (1999).</a:t>
            </a:r>
          </a:p>
          <a:p>
            <a:endParaRPr lang="en-US" sz="2800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Screen Shot 2015-10-05 at 11.37.3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118" y="1225030"/>
            <a:ext cx="4404934" cy="528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6515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homes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State-space approach provides robust framework for simultaneously considering uncertainty associated with population processes and observations.</a:t>
            </a:r>
          </a:p>
          <a:p>
            <a:r>
              <a:rPr lang="en-US" dirty="0"/>
              <a:t>Increasingly being used for management advice.(e.g. SAM, age-structured state-space fisheries model (Nielsen &amp; Berg 2014) ).</a:t>
            </a:r>
          </a:p>
          <a:p>
            <a:r>
              <a:rPr lang="en-US" dirty="0"/>
              <a:t>Readily handles missing data.</a:t>
            </a:r>
          </a:p>
          <a:p>
            <a:r>
              <a:rPr lang="en-US" dirty="0"/>
              <a:t>Easy to extend the </a:t>
            </a:r>
            <a:r>
              <a:rPr lang="en-US" dirty="0" err="1"/>
              <a:t>univariate</a:t>
            </a:r>
            <a:r>
              <a:rPr lang="en-US" dirty="0"/>
              <a:t> models considered here:</a:t>
            </a:r>
          </a:p>
          <a:p>
            <a:pPr lvl="1"/>
            <a:r>
              <a:rPr lang="en-US" dirty="0"/>
              <a:t>Multiple state variables for population stages</a:t>
            </a:r>
          </a:p>
          <a:p>
            <a:pPr lvl="1"/>
            <a:r>
              <a:rPr lang="en-US" dirty="0"/>
              <a:t>Parameters or environmental covariates modeled as state variables, and include process model for these.</a:t>
            </a:r>
          </a:p>
          <a:p>
            <a:pPr lvl="1"/>
            <a:r>
              <a:rPr lang="en-US" dirty="0"/>
              <a:t>Hierarchical approach to share information among time series (e.g. common trends, Dynamic Factor analysis)</a:t>
            </a:r>
          </a:p>
        </p:txBody>
      </p:sp>
    </p:spTree>
    <p:extLst>
      <p:ext uri="{BB962C8B-B14F-4D97-AF65-F5344CB8AC3E}">
        <p14:creationId xmlns:p14="http://schemas.microsoft.com/office/powerpoint/2010/main" val="36213451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65290"/>
            <a:ext cx="8229600" cy="6163280"/>
          </a:xfrm>
        </p:spPr>
        <p:txBody>
          <a:bodyPr>
            <a:noAutofit/>
          </a:bodyPr>
          <a:lstStyle/>
          <a:p>
            <a:pPr marL="349250" indent="-349250">
              <a:buNone/>
              <a:tabLst>
                <a:tab pos="460375" algn="l"/>
              </a:tabLst>
            </a:pPr>
            <a:r>
              <a:rPr lang="en-US" altLang="en-US" sz="1600" dirty="0"/>
              <a:t>de </a:t>
            </a:r>
            <a:r>
              <a:rPr lang="en-US" altLang="en-US" sz="1600" dirty="0" err="1"/>
              <a:t>Valpine</a:t>
            </a:r>
            <a:r>
              <a:rPr lang="en-US" altLang="en-US" sz="1600" dirty="0"/>
              <a:t>, P., &amp; Hastings, A. (2002). Fitting population models incorporating process noise and observation error. Ecological Monographs, 72(1), 57-76.</a:t>
            </a:r>
          </a:p>
          <a:p>
            <a:pPr marL="349250" indent="-349250">
              <a:buNone/>
              <a:tabLst>
                <a:tab pos="460375" algn="l"/>
              </a:tabLst>
            </a:pPr>
            <a:r>
              <a:rPr lang="en-US" altLang="en-US" sz="1600" dirty="0"/>
              <a:t>Harvey, A. C. (1990). Forecasting, structural time series models and the </a:t>
            </a:r>
            <a:r>
              <a:rPr lang="en-US" altLang="en-US" sz="1600" dirty="0" err="1"/>
              <a:t>Kalman</a:t>
            </a:r>
            <a:r>
              <a:rPr lang="en-US" altLang="en-US" sz="1600" dirty="0"/>
              <a:t> filter. Cambridge university press.</a:t>
            </a:r>
          </a:p>
          <a:p>
            <a:pPr marL="349250" indent="-349250">
              <a:buNone/>
              <a:tabLst>
                <a:tab pos="460375" algn="l"/>
              </a:tabLst>
            </a:pPr>
            <a:r>
              <a:rPr lang="en-US" altLang="en-US" sz="1600" dirty="0"/>
              <a:t>Holmes, E. E., Ward, E. J., &amp; Wills, K. (2012). </a:t>
            </a:r>
            <a:r>
              <a:rPr lang="en-US" altLang="en-US" sz="1600" dirty="0" err="1"/>
              <a:t>Marss</a:t>
            </a:r>
            <a:r>
              <a:rPr lang="en-US" altLang="en-US" sz="1600" dirty="0"/>
              <a:t>: Multivariate autoregressive state-space models for analyzing time-series data. The R Journal, 4(1), 11-19.</a:t>
            </a:r>
          </a:p>
          <a:p>
            <a:pPr marL="349250" indent="-349250">
              <a:buNone/>
              <a:tabLst>
                <a:tab pos="460375" algn="l"/>
              </a:tabLst>
            </a:pPr>
            <a:r>
              <a:rPr lang="en-US" altLang="en-US" sz="1600" dirty="0" err="1"/>
              <a:t>Kalman</a:t>
            </a:r>
            <a:r>
              <a:rPr lang="en-US" altLang="en-US" sz="1600" dirty="0"/>
              <a:t>, R. E. 1960. A new approach to linear filtering and prediction problems. Transactions of the ASME–Journal of Basic Engineering 82(Series D): 35–45.</a:t>
            </a:r>
          </a:p>
          <a:p>
            <a:pPr marL="349250" indent="-349250">
              <a:buNone/>
              <a:tabLst>
                <a:tab pos="460375" algn="l"/>
              </a:tabLst>
            </a:pPr>
            <a:r>
              <a:rPr lang="en-US" altLang="en-US" sz="1600" dirty="0" err="1"/>
              <a:t>Meinhold</a:t>
            </a:r>
            <a:r>
              <a:rPr lang="en-US" altLang="en-US" sz="1600" dirty="0"/>
              <a:t>, R. J., &amp; </a:t>
            </a:r>
            <a:r>
              <a:rPr lang="en-US" altLang="en-US" sz="1600" dirty="0" err="1"/>
              <a:t>Singpurwalla</a:t>
            </a:r>
            <a:r>
              <a:rPr lang="en-US" altLang="en-US" sz="1600" dirty="0"/>
              <a:t>, N. D. (1983). Understanding the </a:t>
            </a:r>
            <a:r>
              <a:rPr lang="en-US" altLang="en-US" sz="1600" dirty="0" err="1"/>
              <a:t>Kalman</a:t>
            </a:r>
            <a:r>
              <a:rPr lang="en-US" altLang="en-US" sz="1600" dirty="0"/>
              <a:t> filter. The American Statistician, 37(2), 123-127.</a:t>
            </a:r>
          </a:p>
          <a:p>
            <a:pPr marL="349250" indent="-349250">
              <a:buNone/>
              <a:tabLst>
                <a:tab pos="460375" algn="l"/>
              </a:tabLst>
            </a:pPr>
            <a:r>
              <a:rPr lang="en-US" altLang="en-US" sz="1600" dirty="0"/>
              <a:t>Nielsen, A. and Berg, C. W. 2014. Estimation of time-varying selectivity in stock assessments using state–space models. Fisheries Research 158(1):96–101.</a:t>
            </a:r>
          </a:p>
          <a:p>
            <a:pPr marL="349250" indent="-349250">
              <a:buNone/>
              <a:tabLst>
                <a:tab pos="460375" algn="l"/>
              </a:tabLst>
            </a:pPr>
            <a:r>
              <a:rPr lang="en-US" altLang="en-US" sz="1600" dirty="0"/>
              <a:t>Newman, K. B., Buckland, S. T., Morgan, B. J., King, R., </a:t>
            </a:r>
            <a:r>
              <a:rPr lang="en-US" altLang="en-US" sz="1600" dirty="0" err="1"/>
              <a:t>Borchers</a:t>
            </a:r>
            <a:r>
              <a:rPr lang="en-US" altLang="en-US" sz="1600" dirty="0"/>
              <a:t>, D. L., Cole, D. J., ... &amp; Thomas, L. (2014). </a:t>
            </a:r>
            <a:r>
              <a:rPr lang="en-US" altLang="en-US" sz="1600" dirty="0" err="1"/>
              <a:t>Modelling</a:t>
            </a:r>
            <a:r>
              <a:rPr lang="en-US" altLang="en-US" sz="1600" dirty="0"/>
              <a:t> Population Dynamics. Springer.</a:t>
            </a:r>
          </a:p>
          <a:p>
            <a:pPr marL="349250" indent="-349250">
              <a:buNone/>
              <a:tabLst>
                <a:tab pos="460375" algn="l"/>
              </a:tabLst>
            </a:pPr>
            <a:r>
              <a:rPr lang="en-US" altLang="en-US" sz="1600" dirty="0"/>
              <a:t>Pedersen, M.W., Berg, C.W., </a:t>
            </a:r>
            <a:r>
              <a:rPr lang="en-US" altLang="en-US" sz="1600" dirty="0" err="1"/>
              <a:t>Thygesen,U</a:t>
            </a:r>
            <a:r>
              <a:rPr lang="en-US" altLang="en-US" sz="1600" dirty="0"/>
              <a:t>. H., Nielsen, A., and Madsen, H. 2011. Estimation methods for nonlinear state-space models in ecology. Ecological </a:t>
            </a:r>
            <a:r>
              <a:rPr lang="en-US" altLang="en-US" sz="1600" dirty="0" err="1"/>
              <a:t>Modelling</a:t>
            </a:r>
            <a:r>
              <a:rPr lang="en-US" altLang="en-US" sz="1600" dirty="0"/>
              <a:t>, 222: 1394–1400.</a:t>
            </a:r>
          </a:p>
          <a:p>
            <a:pPr marL="349250" indent="-349250">
              <a:buNone/>
              <a:tabLst>
                <a:tab pos="460375" algn="l"/>
              </a:tabLst>
            </a:pPr>
            <a:r>
              <a:rPr lang="en-US" altLang="en-US" sz="1600" dirty="0"/>
              <a:t>Punt, A. E. (2003). Extending production models to include process error in the population dynamics. Canadian Journal of Fisheries and Aquatic Sciences, 60(10), 1217-1228.</a:t>
            </a:r>
          </a:p>
          <a:p>
            <a:pPr marL="349250" indent="-349250">
              <a:buNone/>
              <a:tabLst>
                <a:tab pos="460375" algn="l"/>
              </a:tabLst>
            </a:pPr>
            <a:r>
              <a:rPr lang="en-US" altLang="en-US" sz="1600" dirty="0" err="1"/>
              <a:t>Schnute</a:t>
            </a:r>
            <a:r>
              <a:rPr lang="en-US" altLang="en-US" sz="1600" dirty="0"/>
              <a:t>, J. T. (1994). A general framework for developing sequential fisheries models. Canadian Journal of Fisheries and Aquatic Sciences, 51(8), 1676-1688.</a:t>
            </a:r>
          </a:p>
          <a:p>
            <a:pPr marL="349250" indent="-349250">
              <a:buNone/>
              <a:tabLst>
                <a:tab pos="460375" algn="l"/>
              </a:tabLst>
            </a:pPr>
            <a:r>
              <a:rPr lang="en-US" altLang="en-US" sz="1600" dirty="0"/>
              <a:t>Thorson, J. T., &amp; </a:t>
            </a:r>
            <a:r>
              <a:rPr lang="en-US" altLang="en-US" sz="1600" dirty="0" err="1"/>
              <a:t>Minto</a:t>
            </a:r>
            <a:r>
              <a:rPr lang="en-US" altLang="en-US" sz="1600" dirty="0"/>
              <a:t>, C. (2015). </a:t>
            </a:r>
            <a:r>
              <a:rPr lang="en-US" altLang="en-US" sz="1600" i="1" dirty="0"/>
              <a:t>Mixed effects: a unifying framework for statistical </a:t>
            </a:r>
            <a:r>
              <a:rPr lang="en-US" altLang="en-US" sz="1600" i="1" dirty="0" err="1"/>
              <a:t>modelling</a:t>
            </a:r>
            <a:r>
              <a:rPr lang="en-US" altLang="en-US" sz="1600" i="1" dirty="0"/>
              <a:t> in fisheries biology.</a:t>
            </a:r>
            <a:r>
              <a:rPr lang="en-US" altLang="en-US" sz="1600" dirty="0"/>
              <a:t> ICES Journal of Marine Science: Journal du </a:t>
            </a:r>
            <a:r>
              <a:rPr lang="en-US" altLang="en-US" sz="1600" dirty="0" err="1"/>
              <a:t>Conseil</a:t>
            </a:r>
            <a:r>
              <a:rPr lang="en-US" altLang="en-US" sz="1600" dirty="0"/>
              <a:t>, fsu213.</a:t>
            </a:r>
          </a:p>
        </p:txBody>
      </p:sp>
    </p:spTree>
    <p:extLst>
      <p:ext uri="{BB962C8B-B14F-4D97-AF65-F5344CB8AC3E}">
        <p14:creationId xmlns:p14="http://schemas.microsoft.com/office/powerpoint/2010/main" val="2401398424"/>
      </p:ext>
    </p:extLst>
  </p:cSld>
  <p:clrMapOvr>
    <a:masterClrMapping/>
  </p:clrMapOvr>
</p:sld>
</file>

<file path=ppt/theme/theme1.xml><?xml version="1.0" encoding="utf-8"?>
<a:theme xmlns:a="http://schemas.openxmlformats.org/drawingml/2006/main" name="NOAA Divider Slides">
  <a:themeElements>
    <a:clrScheme name="Custom 11">
      <a:dk1>
        <a:sysClr val="windowText" lastClr="000000"/>
      </a:dk1>
      <a:lt1>
        <a:sysClr val="window" lastClr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NOAA Title Options">
  <a:themeElements>
    <a:clrScheme name="Custom 11">
      <a:dk1>
        <a:sysClr val="windowText" lastClr="000000"/>
      </a:dk1>
      <a:lt1>
        <a:sysClr val="window" lastClr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GFAY_Cust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noaa_fisheries_presentation_template_final</Template>
  <TotalTime>4811</TotalTime>
  <Words>1526</Words>
  <Application>Microsoft Macintosh PowerPoint</Application>
  <PresentationFormat>On-screen Show (4:3)</PresentationFormat>
  <Paragraphs>205</Paragraphs>
  <Slides>27</Slides>
  <Notes>1</Notes>
  <HiddenSlides>8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Arial Narrow</vt:lpstr>
      <vt:lpstr>Calibri</vt:lpstr>
      <vt:lpstr>NOAA Divider Slides</vt:lpstr>
      <vt:lpstr>NOAA Title Options</vt:lpstr>
      <vt:lpstr>GFAY_Custom</vt:lpstr>
      <vt:lpstr>Equation</vt:lpstr>
      <vt:lpstr>MAR 580: Advanced Population Modeling for Management of Living Marine Resources</vt:lpstr>
      <vt:lpstr>Review</vt:lpstr>
      <vt:lpstr>Process error</vt:lpstr>
      <vt:lpstr>Process error modeling in fisheries</vt:lpstr>
      <vt:lpstr>State-space models</vt:lpstr>
      <vt:lpstr>State-space modeling, hidden process</vt:lpstr>
      <vt:lpstr>State-space modeling, hidden process</vt:lpstr>
      <vt:lpstr>State-space modeling, hidden process</vt:lpstr>
      <vt:lpstr>State-space model: exponential growth</vt:lpstr>
      <vt:lpstr>State-space model: exponential growth</vt:lpstr>
      <vt:lpstr>State-space model: exponential growth</vt:lpstr>
      <vt:lpstr>State-space models: exponential growth</vt:lpstr>
      <vt:lpstr>State-space models: exponential growth</vt:lpstr>
      <vt:lpstr>State-space models: exponential growth</vt:lpstr>
      <vt:lpstr>State-space models: exponential growth</vt:lpstr>
      <vt:lpstr>State-space models, more generally</vt:lpstr>
      <vt:lpstr>Relationship between models and parameters</vt:lpstr>
      <vt:lpstr>Inference for state-space models</vt:lpstr>
      <vt:lpstr>Inference for state-space models</vt:lpstr>
      <vt:lpstr>Inference for state-space models</vt:lpstr>
      <vt:lpstr>Estimating state-space models</vt:lpstr>
      <vt:lpstr>Estimating state-space models in TMB</vt:lpstr>
      <vt:lpstr>Linear state-space production model</vt:lpstr>
      <vt:lpstr>Coho Ricker model (Chaps 3 &amp; 4)</vt:lpstr>
      <vt:lpstr>Non-linear state-space production model</vt:lpstr>
      <vt:lpstr>Take homes</vt:lpstr>
      <vt:lpstr>Recommended Reading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mar530:EBFM Lecture 1</dc:title>
  <dc:subject>Introduction, Course Mechanics, What is EBFM?</dc:subject>
  <dc:creator>Gavin Fay</dc:creator>
  <cp:keywords/>
  <dc:description/>
  <cp:lastModifiedBy>Microsoft Office User</cp:lastModifiedBy>
  <cp:revision>479</cp:revision>
  <dcterms:created xsi:type="dcterms:W3CDTF">2014-06-04T00:44:42Z</dcterms:created>
  <dcterms:modified xsi:type="dcterms:W3CDTF">2023-10-17T20:46:31Z</dcterms:modified>
  <cp:category/>
</cp:coreProperties>
</file>