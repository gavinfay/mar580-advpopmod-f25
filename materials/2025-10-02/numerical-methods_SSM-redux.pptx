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2" r:id="rId1"/>
    <p:sldMasterId id="2147483662" r:id="rId2"/>
    <p:sldMasterId id="2147483688" r:id="rId3"/>
  </p:sldMasterIdLst>
  <p:notesMasterIdLst>
    <p:notesMasterId r:id="rId52"/>
  </p:notesMasterIdLst>
  <p:handoutMasterIdLst>
    <p:handoutMasterId r:id="rId53"/>
  </p:handoutMasterIdLst>
  <p:sldIdLst>
    <p:sldId id="326" r:id="rId4"/>
    <p:sldId id="805" r:id="rId5"/>
    <p:sldId id="759" r:id="rId6"/>
    <p:sldId id="761" r:id="rId7"/>
    <p:sldId id="556" r:id="rId8"/>
    <p:sldId id="653" r:id="rId9"/>
    <p:sldId id="557" r:id="rId10"/>
    <p:sldId id="558" r:id="rId11"/>
    <p:sldId id="633" r:id="rId12"/>
    <p:sldId id="635" r:id="rId13"/>
    <p:sldId id="641" r:id="rId14"/>
    <p:sldId id="642" r:id="rId15"/>
    <p:sldId id="643" r:id="rId16"/>
    <p:sldId id="644" r:id="rId17"/>
    <p:sldId id="645" r:id="rId18"/>
    <p:sldId id="646" r:id="rId19"/>
    <p:sldId id="650" r:id="rId20"/>
    <p:sldId id="636" r:id="rId21"/>
    <p:sldId id="637" r:id="rId22"/>
    <p:sldId id="652" r:id="rId23"/>
    <p:sldId id="651" r:id="rId24"/>
    <p:sldId id="814" r:id="rId25"/>
    <p:sldId id="788" r:id="rId26"/>
    <p:sldId id="791" r:id="rId27"/>
    <p:sldId id="815" r:id="rId28"/>
    <p:sldId id="723" r:id="rId29"/>
    <p:sldId id="756" r:id="rId30"/>
    <p:sldId id="781" r:id="rId31"/>
    <p:sldId id="782" r:id="rId32"/>
    <p:sldId id="801" r:id="rId33"/>
    <p:sldId id="787" r:id="rId34"/>
    <p:sldId id="793" r:id="rId35"/>
    <p:sldId id="800" r:id="rId36"/>
    <p:sldId id="799" r:id="rId37"/>
    <p:sldId id="798" r:id="rId38"/>
    <p:sldId id="797" r:id="rId39"/>
    <p:sldId id="796" r:id="rId40"/>
    <p:sldId id="795" r:id="rId41"/>
    <p:sldId id="794" r:id="rId42"/>
    <p:sldId id="802" r:id="rId43"/>
    <p:sldId id="562" r:id="rId44"/>
    <p:sldId id="808" r:id="rId45"/>
    <p:sldId id="809" r:id="rId46"/>
    <p:sldId id="806" r:id="rId47"/>
    <p:sldId id="812" r:id="rId48"/>
    <p:sldId id="743" r:id="rId49"/>
    <p:sldId id="813" r:id="rId50"/>
    <p:sldId id="810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5">
          <p15:clr>
            <a:srgbClr val="A4A3A4"/>
          </p15:clr>
        </p15:guide>
        <p15:guide id="2" orient="horz" pos="758">
          <p15:clr>
            <a:srgbClr val="A4A3A4"/>
          </p15:clr>
        </p15:guide>
        <p15:guide id="3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1E5C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16" autoAdjust="0"/>
    <p:restoredTop sz="86383" autoAdjust="0"/>
  </p:normalViewPr>
  <p:slideViewPr>
    <p:cSldViewPr snapToGrid="0" snapToObjects="1">
      <p:cViewPr varScale="1">
        <p:scale>
          <a:sx n="99" d="100"/>
          <a:sy n="99" d="100"/>
        </p:scale>
        <p:origin x="1960" y="168"/>
      </p:cViewPr>
      <p:guideLst>
        <p:guide orient="horz" pos="1885"/>
        <p:guide orient="horz" pos="758"/>
        <p:guide pos="286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ableStyles" Target="tableStyle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5BF4A-9CB1-5747-B319-707DA98CEC20}" type="datetime1">
              <a:rPr lang="en-US" smtClean="0"/>
              <a:pPr/>
              <a:t>10/2/25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22459-1A81-CA4B-89BB-FCE38A3AE1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304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BC7567-D5EA-874F-8815-73DC5E77631E}" type="datetime1">
              <a:rPr lang="en-US" smtClean="0"/>
              <a:pPr/>
              <a:t>10/2/25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C0E-7DBF-7C4A-B104-25FE08E3BB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234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8DCC0E-7DBF-7C4A-B104-25FE08E3BB8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16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7280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962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rgbClr val="1E5C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 flipH="1" flipV="1">
            <a:off x="-1" y="-24487"/>
            <a:ext cx="9138586" cy="2515079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  <a:gd name="connsiteX0" fmla="*/ 2887 w 9170673"/>
              <a:gd name="connsiteY0" fmla="*/ 2375696 h 2508024"/>
              <a:gd name="connsiteX1" fmla="*/ 9170673 w 9170673"/>
              <a:gd name="connsiteY1" fmla="*/ 0 h 2508024"/>
              <a:gd name="connsiteX2" fmla="*/ 9169295 w 9170673"/>
              <a:gd name="connsiteY2" fmla="*/ 2508024 h 2508024"/>
              <a:gd name="connsiteX3" fmla="*/ 0 w 9170673"/>
              <a:gd name="connsiteY3" fmla="*/ 2457785 h 2508024"/>
              <a:gd name="connsiteX4" fmla="*/ 2887 w 9170673"/>
              <a:gd name="connsiteY4" fmla="*/ 2375696 h 2508024"/>
              <a:gd name="connsiteX0" fmla="*/ 0 w 9167786"/>
              <a:gd name="connsiteY0" fmla="*/ 2375696 h 2508024"/>
              <a:gd name="connsiteX1" fmla="*/ 9167786 w 9167786"/>
              <a:gd name="connsiteY1" fmla="*/ 0 h 2508024"/>
              <a:gd name="connsiteX2" fmla="*/ 9166408 w 9167786"/>
              <a:gd name="connsiteY2" fmla="*/ 2508024 h 2508024"/>
              <a:gd name="connsiteX3" fmla="*/ 4169 w 9167786"/>
              <a:gd name="connsiteY3" fmla="*/ 2500118 h 2508024"/>
              <a:gd name="connsiteX4" fmla="*/ 0 w 9167786"/>
              <a:gd name="connsiteY4" fmla="*/ 2375696 h 2508024"/>
              <a:gd name="connsiteX0" fmla="*/ 0 w 9166452"/>
              <a:gd name="connsiteY0" fmla="*/ 2375696 h 2508024"/>
              <a:gd name="connsiteX1" fmla="*/ 9061952 w 9166452"/>
              <a:gd name="connsiteY1" fmla="*/ 0 h 2508024"/>
              <a:gd name="connsiteX2" fmla="*/ 9166408 w 9166452"/>
              <a:gd name="connsiteY2" fmla="*/ 2508024 h 2508024"/>
              <a:gd name="connsiteX3" fmla="*/ 4169 w 9166452"/>
              <a:gd name="connsiteY3" fmla="*/ 2500118 h 2508024"/>
              <a:gd name="connsiteX4" fmla="*/ 0 w 9166452"/>
              <a:gd name="connsiteY4" fmla="*/ 2375696 h 2508024"/>
              <a:gd name="connsiteX0" fmla="*/ 0 w 9166808"/>
              <a:gd name="connsiteY0" fmla="*/ 2382751 h 2515079"/>
              <a:gd name="connsiteX1" fmla="*/ 9160729 w 9166808"/>
              <a:gd name="connsiteY1" fmla="*/ 0 h 2515079"/>
              <a:gd name="connsiteX2" fmla="*/ 9166408 w 9166808"/>
              <a:gd name="connsiteY2" fmla="*/ 2515079 h 2515079"/>
              <a:gd name="connsiteX3" fmla="*/ 4169 w 9166808"/>
              <a:gd name="connsiteY3" fmla="*/ 2507173 h 2515079"/>
              <a:gd name="connsiteX4" fmla="*/ 0 w 9166808"/>
              <a:gd name="connsiteY4" fmla="*/ 2382751 h 2515079"/>
              <a:gd name="connsiteX0" fmla="*/ 9943 w 9162640"/>
              <a:gd name="connsiteY0" fmla="*/ 2382751 h 2515079"/>
              <a:gd name="connsiteX1" fmla="*/ 9156561 w 9162640"/>
              <a:gd name="connsiteY1" fmla="*/ 0 h 2515079"/>
              <a:gd name="connsiteX2" fmla="*/ 9162240 w 9162640"/>
              <a:gd name="connsiteY2" fmla="*/ 2515079 h 2515079"/>
              <a:gd name="connsiteX3" fmla="*/ 1 w 9162640"/>
              <a:gd name="connsiteY3" fmla="*/ 2507173 h 2515079"/>
              <a:gd name="connsiteX4" fmla="*/ 9943 w 9162640"/>
              <a:gd name="connsiteY4" fmla="*/ 2382751 h 2515079"/>
              <a:gd name="connsiteX0" fmla="*/ 0 w 9152697"/>
              <a:gd name="connsiteY0" fmla="*/ 2382751 h 2515079"/>
              <a:gd name="connsiteX1" fmla="*/ 9146618 w 9152697"/>
              <a:gd name="connsiteY1" fmla="*/ 0 h 2515079"/>
              <a:gd name="connsiteX2" fmla="*/ 9152297 w 9152697"/>
              <a:gd name="connsiteY2" fmla="*/ 2515079 h 2515079"/>
              <a:gd name="connsiteX3" fmla="*/ 187614 w 9152697"/>
              <a:gd name="connsiteY3" fmla="*/ 2507173 h 2515079"/>
              <a:gd name="connsiteX4" fmla="*/ 0 w 9152697"/>
              <a:gd name="connsiteY4" fmla="*/ 2382751 h 2515079"/>
              <a:gd name="connsiteX0" fmla="*/ 0 w 9068030"/>
              <a:gd name="connsiteY0" fmla="*/ 2382751 h 2515079"/>
              <a:gd name="connsiteX1" fmla="*/ 9061951 w 9068030"/>
              <a:gd name="connsiteY1" fmla="*/ 0 h 2515079"/>
              <a:gd name="connsiteX2" fmla="*/ 9067630 w 9068030"/>
              <a:gd name="connsiteY2" fmla="*/ 2515079 h 2515079"/>
              <a:gd name="connsiteX3" fmla="*/ 102947 w 9068030"/>
              <a:gd name="connsiteY3" fmla="*/ 2507173 h 2515079"/>
              <a:gd name="connsiteX4" fmla="*/ 0 w 9068030"/>
              <a:gd name="connsiteY4" fmla="*/ 2382751 h 2515079"/>
              <a:gd name="connsiteX0" fmla="*/ 0 w 9138586"/>
              <a:gd name="connsiteY0" fmla="*/ 2382751 h 2515079"/>
              <a:gd name="connsiteX1" fmla="*/ 9132507 w 9138586"/>
              <a:gd name="connsiteY1" fmla="*/ 0 h 2515079"/>
              <a:gd name="connsiteX2" fmla="*/ 9138186 w 9138586"/>
              <a:gd name="connsiteY2" fmla="*/ 2515079 h 2515079"/>
              <a:gd name="connsiteX3" fmla="*/ 173503 w 9138586"/>
              <a:gd name="connsiteY3" fmla="*/ 2507173 h 2515079"/>
              <a:gd name="connsiteX4" fmla="*/ 0 w 9138586"/>
              <a:gd name="connsiteY4" fmla="*/ 2382751 h 2515079"/>
              <a:gd name="connsiteX0" fmla="*/ 0 w 9138586"/>
              <a:gd name="connsiteY0" fmla="*/ 2382751 h 2515079"/>
              <a:gd name="connsiteX1" fmla="*/ 9132507 w 9138586"/>
              <a:gd name="connsiteY1" fmla="*/ 0 h 2515079"/>
              <a:gd name="connsiteX2" fmla="*/ 9138186 w 9138586"/>
              <a:gd name="connsiteY2" fmla="*/ 2515079 h 2515079"/>
              <a:gd name="connsiteX3" fmla="*/ 4170 w 9138586"/>
              <a:gd name="connsiteY3" fmla="*/ 2507173 h 2515079"/>
              <a:gd name="connsiteX4" fmla="*/ 0 w 9138586"/>
              <a:gd name="connsiteY4" fmla="*/ 2382751 h 25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38586" h="2515079">
                <a:moveTo>
                  <a:pt x="0" y="2382751"/>
                </a:moveTo>
                <a:cubicBezTo>
                  <a:pt x="20661" y="2379422"/>
                  <a:pt x="7306149" y="2502055"/>
                  <a:pt x="9132507" y="0"/>
                </a:cubicBezTo>
                <a:cubicBezTo>
                  <a:pt x="9129925" y="819774"/>
                  <a:pt x="9140768" y="1695305"/>
                  <a:pt x="9138186" y="2515079"/>
                </a:cubicBezTo>
                <a:lnTo>
                  <a:pt x="4170" y="2507173"/>
                </a:lnTo>
                <a:cubicBezTo>
                  <a:pt x="4169" y="2465011"/>
                  <a:pt x="1" y="2424913"/>
                  <a:pt x="0" y="238275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457169"/>
            <a:ext cx="8229600" cy="772250"/>
          </a:xfrm>
        </p:spPr>
        <p:txBody>
          <a:bodyPr anchor="t"/>
          <a:lstStyle>
            <a:lvl1pPr algn="l">
              <a:defRPr sz="4000" b="1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5622"/>
            <a:ext cx="8229600" cy="1500187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285999" y="6355080"/>
            <a:ext cx="6400801" cy="502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48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 flipH="1" flipV="1">
            <a:off x="-19068" y="-30696"/>
            <a:ext cx="9170673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457200"/>
            <a:ext cx="8229600" cy="7722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algn="l">
              <a:defRPr sz="4000" b="1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5653"/>
            <a:ext cx="8229600" cy="15001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>
            <a:lvl1pPr marL="0" indent="0" algn="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>
          <a:xfrm>
            <a:off x="2285999" y="6355080"/>
            <a:ext cx="6400801" cy="502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136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5999" y="6355080"/>
            <a:ext cx="6400801" cy="502919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No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186107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Boats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" y="3118590"/>
            <a:ext cx="1293813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415532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Tur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" y="3118590"/>
            <a:ext cx="1293813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044555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eafoo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" y="3118590"/>
            <a:ext cx="1293813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817638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Fish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" y="3118590"/>
            <a:ext cx="1293813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41051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Dar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" y="3118590"/>
            <a:ext cx="1293813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July 19, 2012</a:t>
            </a:r>
          </a:p>
        </p:txBody>
      </p:sp>
      <p:sp>
        <p:nvSpPr>
          <p:cNvPr id="7" name="Freeform 6"/>
          <p:cNvSpPr/>
          <p:nvPr userDrawn="1"/>
        </p:nvSpPr>
        <p:spPr>
          <a:xfrm>
            <a:off x="-9190" y="4417160"/>
            <a:ext cx="9170673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07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201988" y="3360605"/>
            <a:ext cx="5484812" cy="1224439"/>
          </a:xfrm>
        </p:spPr>
        <p:txBody>
          <a:bodyPr/>
          <a:lstStyle>
            <a:lvl1pPr marL="0" indent="0" algn="r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0" name="Picture 9" descr="umasslogo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285" y="5658757"/>
            <a:ext cx="4953000" cy="1270000"/>
          </a:xfrm>
          <a:prstGeom prst="rect">
            <a:avLst/>
          </a:prstGeom>
        </p:spPr>
      </p:pic>
      <p:pic>
        <p:nvPicPr>
          <p:cNvPr id="12" name="Picture 11" descr="smast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57500" cy="2857500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201682" y="1613384"/>
            <a:ext cx="5485118" cy="139847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6188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3923"/>
            <a:ext cx="8229600" cy="688359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1870"/>
            <a:ext cx="8229600" cy="558841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1924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63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714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10/2/25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9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10/2/25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20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258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899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258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02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7601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7293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358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7" r:id="rId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b="1" i="0" kern="1200">
          <a:solidFill>
            <a:srgbClr val="FFFFFF"/>
          </a:solidFill>
          <a:latin typeface="+mj-lt"/>
          <a:ea typeface="+mj-ea"/>
          <a:cs typeface="Arial Narrow Bold"/>
        </a:defRPr>
      </a:lvl1pPr>
    </p:titleStyle>
    <p:bodyStyle>
      <a:lvl1pPr marL="0" indent="0" algn="r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01682" y="1141666"/>
            <a:ext cx="5485118" cy="139847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1682" y="2631403"/>
            <a:ext cx="5485117" cy="1277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046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8" r:id="rId6"/>
  </p:sldLayoutIdLst>
  <p:hf hdr="0"/>
  <p:txStyles>
    <p:titleStyle>
      <a:lvl1pPr algn="r" defTabSz="457200" rtl="0" eaLnBrk="1" latinLnBrk="0" hangingPunct="1">
        <a:lnSpc>
          <a:spcPct val="80000"/>
        </a:lnSpc>
        <a:spcBef>
          <a:spcPct val="0"/>
        </a:spcBef>
        <a:buNone/>
        <a:defRPr sz="4400" b="1" i="0" kern="1200">
          <a:solidFill>
            <a:schemeClr val="accent1"/>
          </a:solidFill>
          <a:latin typeface="+mj-lt"/>
          <a:ea typeface="+mj-ea"/>
          <a:cs typeface="Arial Narrow Bold"/>
        </a:defRPr>
      </a:lvl1pPr>
    </p:titleStyle>
    <p:bodyStyle>
      <a:lvl1pPr marL="0" indent="0" algn="r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F1CB0-951D-8740-94E3-4A6F7DDA25E2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74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9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33.wmf"/><Relationship Id="rId7" Type="http://schemas.openxmlformats.org/officeDocument/2006/relationships/image" Target="../media/image35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34.e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36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37.e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38.e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40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7" Type="http://schemas.openxmlformats.org/officeDocument/2006/relationships/image" Target="../media/image55.e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54.emf"/><Relationship Id="rId4" Type="http://schemas.openxmlformats.org/officeDocument/2006/relationships/oleObject" Target="../embeddings/oleObject25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atsa-es.github.io/marssTMB/index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7" Type="http://schemas.openxmlformats.org/officeDocument/2006/relationships/image" Target="../media/image58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57.emf"/><Relationship Id="rId4" Type="http://schemas.openxmlformats.org/officeDocument/2006/relationships/oleObject" Target="../embeddings/oleObject28.bin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18649" y="3487606"/>
            <a:ext cx="8268151" cy="2517681"/>
          </a:xfrm>
        </p:spPr>
        <p:txBody>
          <a:bodyPr>
            <a:normAutofit/>
          </a:bodyPr>
          <a:lstStyle/>
          <a:p>
            <a:r>
              <a:rPr lang="en-US" sz="2800" b="1" dirty="0"/>
              <a:t>Numerical methods review &amp; </a:t>
            </a:r>
          </a:p>
          <a:p>
            <a:r>
              <a:rPr lang="en-US" sz="2800" b="1" dirty="0"/>
              <a:t>State-space models revisited</a:t>
            </a:r>
          </a:p>
          <a:p>
            <a:endParaRPr lang="en-US" sz="25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01988" y="1431963"/>
            <a:ext cx="5485118" cy="1398472"/>
          </a:xfrm>
        </p:spPr>
        <p:txBody>
          <a:bodyPr>
            <a:noAutofit/>
          </a:bodyPr>
          <a:lstStyle/>
          <a:p>
            <a:pPr algn="r"/>
            <a:r>
              <a:rPr lang="en-US" sz="3200" dirty="0"/>
              <a:t>MAR 580: Advanced Population Modeling for Management of Living Marine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9769" y="6295575"/>
            <a:ext cx="3627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02 October 2025</a:t>
            </a:r>
          </a:p>
        </p:txBody>
      </p:sp>
    </p:spTree>
    <p:extLst>
      <p:ext uri="{BB962C8B-B14F-4D97-AF65-F5344CB8AC3E}">
        <p14:creationId xmlns:p14="http://schemas.microsoft.com/office/powerpoint/2010/main" val="890331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state</a:t>
            </a:r>
            <a:r>
              <a:rPr lang="en-US"/>
              <a:t>-space </a:t>
            </a:r>
            <a:r>
              <a:rPr lang="en-US" dirty="0"/>
              <a:t>production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3400" dirty="0"/>
              <a:t>The </a:t>
            </a:r>
            <a:r>
              <a:rPr lang="en-US" sz="3400" dirty="0" err="1"/>
              <a:t>Gompertz</a:t>
            </a:r>
            <a:r>
              <a:rPr lang="en-US" sz="3400" dirty="0"/>
              <a:t> population dynamics model:</a:t>
            </a:r>
          </a:p>
          <a:p>
            <a:pPr marL="0" indent="0">
              <a:buNone/>
            </a:pPr>
            <a:endParaRPr lang="en-US" sz="3400" dirty="0"/>
          </a:p>
          <a:p>
            <a:endParaRPr lang="en-US" sz="3400" dirty="0"/>
          </a:p>
          <a:p>
            <a:r>
              <a:rPr lang="en-US" sz="3400" dirty="0"/>
              <a:t>Similar to other models, except density dependence is on </a:t>
            </a:r>
            <a:r>
              <a:rPr lang="en-US" sz="3400" dirty="0" err="1"/>
              <a:t>ln</a:t>
            </a:r>
            <a:r>
              <a:rPr lang="en-US" sz="3400" dirty="0"/>
              <a:t>(B) rather than B.</a:t>
            </a:r>
          </a:p>
          <a:p>
            <a:r>
              <a:rPr lang="en-US" sz="3400" dirty="0"/>
              <a:t>Application to </a:t>
            </a:r>
            <a:br>
              <a:rPr lang="en-US" sz="3400" dirty="0"/>
            </a:br>
            <a:r>
              <a:rPr lang="en-US" sz="3400" dirty="0"/>
              <a:t>lingcod survey data</a:t>
            </a:r>
            <a:br>
              <a:rPr lang="en-US" sz="3400" dirty="0"/>
            </a:br>
            <a:r>
              <a:rPr lang="en-US" sz="3400" dirty="0"/>
              <a:t>(</a:t>
            </a:r>
            <a:r>
              <a:rPr lang="en-US" sz="3400" dirty="0" err="1"/>
              <a:t>Schnute</a:t>
            </a:r>
            <a:r>
              <a:rPr lang="en-US" sz="3400" dirty="0"/>
              <a:t> 1994)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3400" dirty="0" err="1"/>
              <a:t>Schnute</a:t>
            </a:r>
            <a:r>
              <a:rPr lang="en-US" sz="3400" dirty="0"/>
              <a:t>, J. T. (1994). A general framework for developing sequential fisheries models. Canadian Journal of Fisheries and Aquatic Sciences, 51(8), 1676-1688.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051" y="2570641"/>
            <a:ext cx="5048536" cy="3040383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7222999"/>
              </p:ext>
            </p:extLst>
          </p:nvPr>
        </p:nvGraphicFramePr>
        <p:xfrm>
          <a:off x="1473333" y="1388513"/>
          <a:ext cx="6362836" cy="594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17800" imgH="254000" progId="Equation.3">
                  <p:embed/>
                </p:oleObj>
              </mc:Choice>
              <mc:Fallback>
                <p:oleObj name="Equation" r:id="rId3" imgW="2717800" imgH="2540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3333" y="1388513"/>
                        <a:ext cx="6362836" cy="5945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8915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3923"/>
            <a:ext cx="8470232" cy="688359"/>
          </a:xfrm>
        </p:spPr>
        <p:txBody>
          <a:bodyPr>
            <a:normAutofit/>
          </a:bodyPr>
          <a:lstStyle/>
          <a:p>
            <a:r>
              <a:rPr lang="en-US" dirty="0"/>
              <a:t>When are numerical methods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Main types of problems:</a:t>
            </a:r>
          </a:p>
          <a:p>
            <a:r>
              <a:rPr lang="en-US" dirty="0"/>
              <a:t>Differentiation</a:t>
            </a:r>
          </a:p>
          <a:p>
            <a:r>
              <a:rPr lang="en-US" dirty="0"/>
              <a:t>Integration</a:t>
            </a:r>
          </a:p>
          <a:p>
            <a:r>
              <a:rPr lang="en-US" dirty="0"/>
              <a:t>Interpolation / Extrapolation</a:t>
            </a:r>
          </a:p>
          <a:p>
            <a:r>
              <a:rPr lang="en-US" dirty="0"/>
              <a:t>Roots of equations</a:t>
            </a:r>
          </a:p>
          <a:p>
            <a:r>
              <a:rPr lang="en-US" dirty="0"/>
              <a:t>Solution of simultaneous equations</a:t>
            </a:r>
          </a:p>
          <a:p>
            <a:r>
              <a:rPr lang="en-US" dirty="0"/>
              <a:t>Nonlinear minimization</a:t>
            </a:r>
          </a:p>
          <a:p>
            <a:r>
              <a:rPr lang="en-US" dirty="0"/>
              <a:t>Matrix problems</a:t>
            </a:r>
          </a:p>
        </p:txBody>
      </p:sp>
    </p:spTree>
    <p:extLst>
      <p:ext uri="{BB962C8B-B14F-4D97-AF65-F5344CB8AC3E}">
        <p14:creationId xmlns:p14="http://schemas.microsoft.com/office/powerpoint/2010/main" val="2785841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Calculus</a:t>
            </a:r>
          </a:p>
        </p:txBody>
      </p:sp>
      <p:sp>
        <p:nvSpPr>
          <p:cNvPr id="819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Differentiation</a:t>
            </a:r>
          </a:p>
          <a:p>
            <a:pPr lvl="1" eaLnBrk="1" hangingPunct="1"/>
            <a:r>
              <a:rPr lang="en-US" altLang="en-US"/>
              <a:t>How steep is the curve at point x?</a:t>
            </a:r>
          </a:p>
          <a:p>
            <a:pPr eaLnBrk="1" hangingPunct="1"/>
            <a:r>
              <a:rPr lang="en-US" altLang="en-US"/>
              <a:t>Integration</a:t>
            </a:r>
          </a:p>
          <a:p>
            <a:pPr lvl="1" eaLnBrk="1" hangingPunct="1"/>
            <a:r>
              <a:rPr lang="en-US" altLang="en-US"/>
              <a:t>How much area is under the</a:t>
            </a:r>
            <a:br>
              <a:rPr lang="en-US" altLang="en-US"/>
            </a:br>
            <a:r>
              <a:rPr lang="en-US" altLang="en-US"/>
              <a:t>curve between a and b?</a:t>
            </a:r>
          </a:p>
        </p:txBody>
      </p:sp>
      <p:grpSp>
        <p:nvGrpSpPr>
          <p:cNvPr id="8196" name="Group 14"/>
          <p:cNvGrpSpPr>
            <a:grpSpLocks/>
          </p:cNvGrpSpPr>
          <p:nvPr/>
        </p:nvGrpSpPr>
        <p:grpSpPr bwMode="auto">
          <a:xfrm>
            <a:off x="2278063" y="4191000"/>
            <a:ext cx="5975350" cy="2284413"/>
            <a:chOff x="1755" y="2560"/>
            <a:chExt cx="3764" cy="1439"/>
          </a:xfrm>
        </p:grpSpPr>
        <p:sp>
          <p:nvSpPr>
            <p:cNvPr id="8197" name="Freeform 9"/>
            <p:cNvSpPr>
              <a:spLocks/>
            </p:cNvSpPr>
            <p:nvPr/>
          </p:nvSpPr>
          <p:spPr bwMode="auto">
            <a:xfrm>
              <a:off x="2658" y="3086"/>
              <a:ext cx="544" cy="627"/>
            </a:xfrm>
            <a:custGeom>
              <a:avLst/>
              <a:gdLst>
                <a:gd name="T0" fmla="*/ 0 w 544"/>
                <a:gd name="T1" fmla="*/ 246 h 627"/>
                <a:gd name="T2" fmla="*/ 167 w 544"/>
                <a:gd name="T3" fmla="*/ 157 h 627"/>
                <a:gd name="T4" fmla="*/ 320 w 544"/>
                <a:gd name="T5" fmla="*/ 82 h 627"/>
                <a:gd name="T6" fmla="*/ 455 w 544"/>
                <a:gd name="T7" fmla="*/ 28 h 627"/>
                <a:gd name="T8" fmla="*/ 544 w 544"/>
                <a:gd name="T9" fmla="*/ 0 h 627"/>
                <a:gd name="T10" fmla="*/ 544 w 544"/>
                <a:gd name="T11" fmla="*/ 627 h 627"/>
                <a:gd name="T12" fmla="*/ 1 w 544"/>
                <a:gd name="T13" fmla="*/ 627 h 627"/>
                <a:gd name="T14" fmla="*/ 1 w 544"/>
                <a:gd name="T15" fmla="*/ 250 h 6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4"/>
                <a:gd name="T25" fmla="*/ 0 h 627"/>
                <a:gd name="T26" fmla="*/ 544 w 544"/>
                <a:gd name="T27" fmla="*/ 627 h 62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4" h="627">
                  <a:moveTo>
                    <a:pt x="0" y="246"/>
                  </a:moveTo>
                  <a:lnTo>
                    <a:pt x="167" y="157"/>
                  </a:lnTo>
                  <a:lnTo>
                    <a:pt x="320" y="82"/>
                  </a:lnTo>
                  <a:lnTo>
                    <a:pt x="455" y="28"/>
                  </a:lnTo>
                  <a:lnTo>
                    <a:pt x="544" y="0"/>
                  </a:lnTo>
                  <a:lnTo>
                    <a:pt x="544" y="627"/>
                  </a:lnTo>
                  <a:lnTo>
                    <a:pt x="1" y="627"/>
                  </a:lnTo>
                  <a:lnTo>
                    <a:pt x="1" y="250"/>
                  </a:lnTo>
                </a:path>
              </a:pathLst>
            </a:custGeom>
            <a:solidFill>
              <a:srgbClr val="00CC00"/>
            </a:solidFill>
            <a:ln w="63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198" name="Freeform 6"/>
            <p:cNvSpPr>
              <a:spLocks/>
            </p:cNvSpPr>
            <p:nvPr/>
          </p:nvSpPr>
          <p:spPr bwMode="auto">
            <a:xfrm>
              <a:off x="1987" y="2560"/>
              <a:ext cx="3334" cy="1153"/>
            </a:xfrm>
            <a:custGeom>
              <a:avLst/>
              <a:gdLst>
                <a:gd name="T0" fmla="*/ 0 w 3334"/>
                <a:gd name="T1" fmla="*/ 1149 h 1153"/>
                <a:gd name="T2" fmla="*/ 1223 w 3334"/>
                <a:gd name="T3" fmla="*/ 526 h 1153"/>
                <a:gd name="T4" fmla="*/ 1563 w 3334"/>
                <a:gd name="T5" fmla="*/ 865 h 1153"/>
                <a:gd name="T6" fmla="*/ 2186 w 3334"/>
                <a:gd name="T7" fmla="*/ 581 h 1153"/>
                <a:gd name="T8" fmla="*/ 2525 w 3334"/>
                <a:gd name="T9" fmla="*/ 68 h 1153"/>
                <a:gd name="T10" fmla="*/ 2802 w 3334"/>
                <a:gd name="T11" fmla="*/ 170 h 1153"/>
                <a:gd name="T12" fmla="*/ 3107 w 3334"/>
                <a:gd name="T13" fmla="*/ 854 h 1153"/>
                <a:gd name="T14" fmla="*/ 3257 w 3334"/>
                <a:gd name="T15" fmla="*/ 1088 h 1153"/>
                <a:gd name="T16" fmla="*/ 3334 w 3334"/>
                <a:gd name="T17" fmla="*/ 1153 h 1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334"/>
                <a:gd name="T28" fmla="*/ 0 h 1153"/>
                <a:gd name="T29" fmla="*/ 3334 w 3334"/>
                <a:gd name="T30" fmla="*/ 1153 h 115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334" h="1153">
                  <a:moveTo>
                    <a:pt x="0" y="1149"/>
                  </a:moveTo>
                  <a:cubicBezTo>
                    <a:pt x="204" y="1047"/>
                    <a:pt x="963" y="573"/>
                    <a:pt x="1223" y="526"/>
                  </a:cubicBezTo>
                  <a:cubicBezTo>
                    <a:pt x="1483" y="479"/>
                    <a:pt x="1403" y="856"/>
                    <a:pt x="1563" y="865"/>
                  </a:cubicBezTo>
                  <a:cubicBezTo>
                    <a:pt x="1723" y="874"/>
                    <a:pt x="2026" y="714"/>
                    <a:pt x="2186" y="581"/>
                  </a:cubicBezTo>
                  <a:cubicBezTo>
                    <a:pt x="2346" y="448"/>
                    <a:pt x="2422" y="136"/>
                    <a:pt x="2525" y="68"/>
                  </a:cubicBezTo>
                  <a:cubicBezTo>
                    <a:pt x="2628" y="0"/>
                    <a:pt x="2705" y="39"/>
                    <a:pt x="2802" y="170"/>
                  </a:cubicBezTo>
                  <a:cubicBezTo>
                    <a:pt x="2899" y="301"/>
                    <a:pt x="3031" y="701"/>
                    <a:pt x="3107" y="854"/>
                  </a:cubicBezTo>
                  <a:cubicBezTo>
                    <a:pt x="3183" y="1007"/>
                    <a:pt x="3219" y="1038"/>
                    <a:pt x="3257" y="1088"/>
                  </a:cubicBezTo>
                  <a:cubicBezTo>
                    <a:pt x="3295" y="1138"/>
                    <a:pt x="3318" y="1140"/>
                    <a:pt x="3334" y="1153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199" name="Line 8"/>
            <p:cNvSpPr>
              <a:spLocks noChangeShapeType="1"/>
            </p:cNvSpPr>
            <p:nvPr/>
          </p:nvSpPr>
          <p:spPr bwMode="auto">
            <a:xfrm>
              <a:off x="1755" y="3715"/>
              <a:ext cx="37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200" name="Text Box 10"/>
            <p:cNvSpPr txBox="1">
              <a:spLocks noChangeArrowheads="1"/>
            </p:cNvSpPr>
            <p:nvPr/>
          </p:nvSpPr>
          <p:spPr bwMode="auto">
            <a:xfrm>
              <a:off x="2554" y="3749"/>
              <a:ext cx="2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75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5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8201" name="Text Box 11"/>
            <p:cNvSpPr txBox="1">
              <a:spLocks noChangeArrowheads="1"/>
            </p:cNvSpPr>
            <p:nvPr/>
          </p:nvSpPr>
          <p:spPr bwMode="auto">
            <a:xfrm>
              <a:off x="3098" y="3749"/>
              <a:ext cx="2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75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5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8202" name="Text Box 12"/>
            <p:cNvSpPr txBox="1">
              <a:spLocks noChangeArrowheads="1"/>
            </p:cNvSpPr>
            <p:nvPr/>
          </p:nvSpPr>
          <p:spPr bwMode="auto">
            <a:xfrm>
              <a:off x="4177" y="3749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75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5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8203" name="Line 13"/>
            <p:cNvSpPr>
              <a:spLocks noChangeShapeType="1"/>
            </p:cNvSpPr>
            <p:nvPr/>
          </p:nvSpPr>
          <p:spPr bwMode="auto">
            <a:xfrm flipV="1">
              <a:off x="4270" y="3065"/>
              <a:ext cx="0" cy="6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0734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Taylor series approximation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“single most useful, and used, application of calculus for an ecologist”  (</a:t>
            </a:r>
            <a:r>
              <a:rPr lang="en-US" dirty="0" err="1"/>
              <a:t>Bolker</a:t>
            </a:r>
            <a:r>
              <a:rPr lang="en-US" dirty="0"/>
              <a:t> 2009)</a:t>
            </a:r>
          </a:p>
          <a:p>
            <a:r>
              <a:rPr lang="en-US" dirty="0"/>
              <a:t>Approximates a complicated function near a point we care about using a simple function (e.g. 2</a:t>
            </a:r>
            <a:r>
              <a:rPr lang="en-US" baseline="30000" dirty="0"/>
              <a:t>nd</a:t>
            </a:r>
            <a:r>
              <a:rPr lang="en-US" dirty="0"/>
              <a:t> order polynomial)</a:t>
            </a:r>
          </a:p>
          <a:p>
            <a:r>
              <a:rPr lang="en-US" dirty="0"/>
              <a:t>Useful applications:</a:t>
            </a:r>
          </a:p>
          <a:p>
            <a:pPr lvl="1"/>
            <a:r>
              <a:rPr lang="en-US" dirty="0"/>
              <a:t>Shapes of goodness of fit surfaces.</a:t>
            </a:r>
          </a:p>
          <a:p>
            <a:pPr lvl="1"/>
            <a:r>
              <a:rPr lang="en-US" dirty="0"/>
              <a:t>Delta method for estimating variance.</a:t>
            </a:r>
          </a:p>
        </p:txBody>
      </p:sp>
    </p:spTree>
    <p:extLst>
      <p:ext uri="{BB962C8B-B14F-4D97-AF65-F5344CB8AC3E}">
        <p14:creationId xmlns:p14="http://schemas.microsoft.com/office/powerpoint/2010/main" val="2240911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Taylor series approximation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4034" name="Picture 2" descr="r/physicsmemes - (Taylor’s Version)">
            <a:extLst>
              <a:ext uri="{FF2B5EF4-FFF2-40B4-BE49-F238E27FC236}">
                <a16:creationId xmlns:a16="http://schemas.microsoft.com/office/drawing/2014/main" id="{CCE0A0E8-3587-FB18-6C16-F17667E9D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1536700"/>
            <a:ext cx="8128000" cy="378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141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Taylor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Mathematically: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1800" dirty="0"/>
              <a:t>where the derivatives are evaluated at the point </a:t>
            </a:r>
            <a:r>
              <a:rPr lang="en-US" sz="1800" i="1" dirty="0"/>
              <a:t>x</a:t>
            </a:r>
            <a:r>
              <a:rPr lang="en-US" sz="1800" i="1" baseline="-25000" dirty="0"/>
              <a:t>0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i="1" dirty="0"/>
              <a:t>approximation </a:t>
            </a:r>
            <a:r>
              <a:rPr lang="en-US" dirty="0"/>
              <a:t>means dropping terms past the 2</a:t>
            </a:r>
            <a:r>
              <a:rPr lang="en-US" baseline="30000" dirty="0"/>
              <a:t>nd</a:t>
            </a:r>
            <a:r>
              <a:rPr lang="en-US" dirty="0"/>
              <a:t> or 3</a:t>
            </a:r>
            <a:r>
              <a:rPr lang="en-US" baseline="30000" dirty="0"/>
              <a:t>rd</a:t>
            </a:r>
            <a:r>
              <a:rPr lang="en-US" dirty="0"/>
              <a:t>.</a:t>
            </a:r>
            <a:br>
              <a:rPr lang="en-US" dirty="0"/>
            </a:br>
            <a:r>
              <a:rPr lang="en-US" i="1" dirty="0"/>
              <a:t>(e.g. ‘second-order Taylor approximation’…)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14" y="1777999"/>
            <a:ext cx="8786146" cy="87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06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Taylor series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463" y="1058637"/>
            <a:ext cx="5105400" cy="55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418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Root-finding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Find the value for </a:t>
            </a:r>
            <a:r>
              <a:rPr lang="en-US" altLang="en-US" i="1" u="sng" dirty="0"/>
              <a:t>x</a:t>
            </a:r>
            <a:r>
              <a:rPr lang="en-US" altLang="en-US" dirty="0"/>
              <a:t> such that the following system of equations is satisfied: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General problem frequently used in stock assessment and management.</a:t>
            </a:r>
          </a:p>
          <a:p>
            <a:pPr lvl="1"/>
            <a:r>
              <a:rPr lang="en-US" altLang="en-US" sz="2400" dirty="0"/>
              <a:t>Find </a:t>
            </a:r>
            <a:r>
              <a:rPr lang="en-US" altLang="en-US" sz="2400" i="1" dirty="0"/>
              <a:t>K</a:t>
            </a:r>
            <a:r>
              <a:rPr lang="en-US" altLang="en-US" sz="2400" dirty="0"/>
              <a:t> for a Schaefer model so that if the Schaefer model is projected from </a:t>
            </a:r>
            <a:r>
              <a:rPr lang="en-US" altLang="en-US" sz="2400" i="1" dirty="0"/>
              <a:t>K</a:t>
            </a:r>
            <a:r>
              <a:rPr lang="en-US" altLang="en-US" sz="2400" dirty="0"/>
              <a:t> in year 0 to year </a:t>
            </a:r>
            <a:r>
              <a:rPr lang="en-US" altLang="en-US" sz="2400" i="1" dirty="0"/>
              <a:t>T</a:t>
            </a:r>
            <a:r>
              <a:rPr lang="en-US" altLang="en-US" sz="2400" dirty="0"/>
              <a:t>, the biomass in year </a:t>
            </a:r>
            <a:r>
              <a:rPr lang="en-US" altLang="en-US" sz="2400" i="1" dirty="0"/>
              <a:t>T</a:t>
            </a:r>
            <a:r>
              <a:rPr lang="en-US" altLang="en-US" sz="2400" dirty="0"/>
              <a:t> equals </a:t>
            </a:r>
            <a:r>
              <a:rPr lang="en-US" altLang="en-US" sz="2400" i="1" dirty="0"/>
              <a:t>Z</a:t>
            </a:r>
            <a:r>
              <a:rPr lang="en-US" altLang="en-US" sz="2400" dirty="0"/>
              <a:t>.</a:t>
            </a:r>
          </a:p>
          <a:p>
            <a:pPr lvl="1"/>
            <a:r>
              <a:rPr lang="en-US" altLang="en-US" sz="2400" dirty="0"/>
              <a:t>Find the catch limit so that the probability of recovery equals a pre-specified value.</a:t>
            </a:r>
          </a:p>
          <a:p>
            <a:pPr lvl="1"/>
            <a:r>
              <a:rPr lang="en-US" altLang="en-US" sz="2400" dirty="0"/>
              <a:t>Find </a:t>
            </a:r>
            <a:r>
              <a:rPr lang="en-US" altLang="en-US" sz="2400" i="1" dirty="0"/>
              <a:t>F</a:t>
            </a:r>
            <a:r>
              <a:rPr lang="en-US" altLang="en-US" sz="2400" baseline="-25000" dirty="0"/>
              <a:t>0.1</a:t>
            </a:r>
            <a:r>
              <a:rPr lang="en-US" altLang="en-US" sz="2400" dirty="0"/>
              <a:t> so that: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Consider case when n=1.</a:t>
            </a:r>
          </a:p>
          <a:p>
            <a:endParaRPr lang="en-US" dirty="0"/>
          </a:p>
        </p:txBody>
      </p:sp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2325689" y="1944426"/>
          <a:ext cx="3280664" cy="531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588" imgH="190417" progId="Equation.3">
                  <p:embed/>
                </p:oleObj>
              </mc:Choice>
              <mc:Fallback>
                <p:oleObj name="Equation" r:id="rId2" imgW="1180588" imgH="190417" progId="Equation.3">
                  <p:embed/>
                  <p:pic>
                    <p:nvPicPr>
                      <p:cNvPr id="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5689" y="1944426"/>
                        <a:ext cx="3280664" cy="5313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3505200" y="5225256"/>
          <a:ext cx="51816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24200" imgH="406400" progId="Equation.3">
                  <p:embed/>
                </p:oleObj>
              </mc:Choice>
              <mc:Fallback>
                <p:oleObj name="Equation" r:id="rId4" imgW="3124200" imgH="406400" progId="Equation.3">
                  <p:embed/>
                  <p:pic>
                    <p:nvPicPr>
                      <p:cNvPr id="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225256"/>
                        <a:ext cx="5181600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9823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Method (Newton-</a:t>
            </a:r>
            <a:r>
              <a:rPr lang="en-US" dirty="0" err="1"/>
              <a:t>Raphson</a:t>
            </a:r>
            <a:r>
              <a:rPr lang="en-US" dirty="0"/>
              <a:t>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Derivative-based method</a:t>
            </a:r>
          </a:p>
          <a:p>
            <a:r>
              <a:rPr lang="en-US" altLang="en-US" dirty="0"/>
              <a:t>Taylor series expansion of the function </a:t>
            </a:r>
            <a:r>
              <a:rPr lang="en-US" altLang="en-US" i="1" dirty="0"/>
              <a:t>f</a:t>
            </a:r>
            <a:r>
              <a:rPr lang="en-US" altLang="en-US" dirty="0"/>
              <a:t>: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For “small” values of </a:t>
            </a:r>
            <a:r>
              <a:rPr lang="en-US" altLang="en-US" dirty="0">
                <a:sym typeface="Symbol" panose="05050102010706020507" pitchFamily="18" charset="2"/>
              </a:rPr>
              <a:t> and for “well-behaved” functions we can ignore the 2</a:t>
            </a:r>
            <a:r>
              <a:rPr lang="en-US" altLang="en-US" baseline="30000" dirty="0">
                <a:sym typeface="Symbol" panose="05050102010706020507" pitchFamily="18" charset="2"/>
              </a:rPr>
              <a:t>nd</a:t>
            </a:r>
            <a:r>
              <a:rPr lang="en-US" altLang="en-US" dirty="0">
                <a:sym typeface="Symbol" panose="05050102010706020507" pitchFamily="18" charset="2"/>
              </a:rPr>
              <a:t> and higher order terms. We wish to find                     so:</a:t>
            </a:r>
          </a:p>
          <a:p>
            <a:endParaRPr lang="en-US" altLang="en-US" dirty="0">
              <a:sym typeface="Symbol" panose="05050102010706020507" pitchFamily="18" charset="2"/>
            </a:endParaRPr>
          </a:p>
          <a:p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Newton’s method iteratively applies the above equation.</a:t>
            </a: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1643152" y="2203368"/>
          <a:ext cx="6118501" cy="633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51100" imgH="254000" progId="Equation.DSMT4">
                  <p:embed/>
                </p:oleObj>
              </mc:Choice>
              <mc:Fallback>
                <p:oleObj name="Equation" r:id="rId2" imgW="2451100" imgH="254000" progId="Equation.DSMT4">
                  <p:embed/>
                  <p:pic>
                    <p:nvPicPr>
                      <p:cNvPr id="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152" y="2203368"/>
                        <a:ext cx="6118501" cy="6339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4469606" y="3985110"/>
          <a:ext cx="160178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87058" imgH="203112" progId="Equation.DSMT4">
                  <p:embed/>
                </p:oleObj>
              </mc:Choice>
              <mc:Fallback>
                <p:oleObj name="Equation" r:id="rId4" imgW="787058" imgH="203112" progId="Equation.DSMT4">
                  <p:embed/>
                  <p:pic>
                    <p:nvPicPr>
                      <p:cNvPr id="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9606" y="3985110"/>
                        <a:ext cx="1601788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3594099" y="4487656"/>
          <a:ext cx="2225139" cy="870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900" imgH="431800" progId="Equation.3">
                  <p:embed/>
                </p:oleObj>
              </mc:Choice>
              <mc:Fallback>
                <p:oleObj name="Equation" r:id="rId6" imgW="1104900" imgH="431800" progId="Equation.3">
                  <p:embed/>
                  <p:pic>
                    <p:nvPicPr>
                      <p:cNvPr id="1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099" y="4487656"/>
                        <a:ext cx="2225139" cy="870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7575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Multi-dimensional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vector </a:t>
            </a:r>
            <a:r>
              <a:rPr lang="en-US" i="1" u="sng" dirty="0"/>
              <a:t>x</a:t>
            </a:r>
            <a:r>
              <a:rPr lang="en-US" dirty="0"/>
              <a:t> so that: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Either: use a multiple-dimension version of the Newton-</a:t>
            </a:r>
            <a:r>
              <a:rPr lang="en-US" dirty="0" err="1"/>
              <a:t>Raphson</a:t>
            </a:r>
            <a:r>
              <a:rPr lang="en-US" dirty="0"/>
              <a:t> method;</a:t>
            </a:r>
          </a:p>
          <a:p>
            <a:r>
              <a:rPr lang="en-US" dirty="0"/>
              <a:t>Or: Treat the problem as a non-linear minimization problem.</a:t>
            </a:r>
          </a:p>
          <a:p>
            <a:endParaRPr lang="en-US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488166" y="1816440"/>
          <a:ext cx="44958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300" imgH="228600" progId="Equation.3">
                  <p:embed/>
                </p:oleObj>
              </mc:Choice>
              <mc:Fallback>
                <p:oleObj name="Equation" r:id="rId2" imgW="1511300" imgH="228600" progId="Equation.3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8166" y="1816440"/>
                        <a:ext cx="449580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7053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Multi-dimensional Newton-</a:t>
            </a:r>
            <a:r>
              <a:rPr lang="en-US" dirty="0" err="1"/>
              <a:t>Raphson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Taylor series expansion about </a:t>
            </a:r>
            <a:r>
              <a:rPr lang="en-US" i="1" u="sng" dirty="0"/>
              <a:t>x</a:t>
            </a:r>
            <a:r>
              <a:rPr lang="en-US" dirty="0"/>
              <a:t> is: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can be written as a series of linear equations:</a:t>
            </a:r>
          </a:p>
          <a:p>
            <a:endParaRPr lang="en-US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1905000" y="1718518"/>
          <a:ext cx="510540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4591" imgH="444307" progId="Equation.DSMT4">
                  <p:embed/>
                </p:oleObj>
              </mc:Choice>
              <mc:Fallback>
                <p:oleObj name="Equation" r:id="rId2" imgW="2094591" imgH="444307" progId="Equation.DSMT4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718518"/>
                        <a:ext cx="5105400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9"/>
          <p:cNvGraphicFramePr>
            <a:graphicFrameLocks noChangeAspect="1"/>
          </p:cNvGraphicFramePr>
          <p:nvPr/>
        </p:nvGraphicFramePr>
        <p:xfrm>
          <a:off x="1905000" y="4315447"/>
          <a:ext cx="4648200" cy="211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49500" imgH="1066800" progId="Equation.DSMT4">
                  <p:embed/>
                </p:oleObj>
              </mc:Choice>
              <mc:Fallback>
                <p:oleObj name="Equation" r:id="rId4" imgW="2349500" imgH="1066800" progId="Equation.DSMT4">
                  <p:embed/>
                  <p:pic>
                    <p:nvPicPr>
                      <p:cNvPr id="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315447"/>
                        <a:ext cx="4648200" cy="211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9432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Multi-dimensional Newton-</a:t>
            </a:r>
            <a:r>
              <a:rPr lang="en-US" dirty="0" err="1"/>
              <a:t>Raphson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Given a current vector </a:t>
            </a:r>
            <a:r>
              <a:rPr lang="en-US" sz="2800" i="1" dirty="0" err="1"/>
              <a:t>x</a:t>
            </a:r>
            <a:r>
              <a:rPr lang="en-US" sz="2800" i="1" baseline="30000" dirty="0" err="1"/>
              <a:t>old</a:t>
            </a:r>
            <a:r>
              <a:rPr lang="en-US" sz="2800" dirty="0"/>
              <a:t>, it can be updated according to the equation: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Rather than attempting to solve the system of equations, it is often more efficient to apply an optimization method to minimize a quantity:</a:t>
            </a:r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1396483" y="2026629"/>
          <a:ext cx="6262539" cy="2348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46400" imgH="1104900" progId="Equation.3">
                  <p:embed/>
                </p:oleObj>
              </mc:Choice>
              <mc:Fallback>
                <p:oleObj name="Equation" r:id="rId2" imgW="2946400" imgH="1104900" progId="Equation.3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6483" y="2026629"/>
                        <a:ext cx="6262539" cy="23484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3429000" y="6069012"/>
          <a:ext cx="213360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6698" imgH="342751" progId="Equation.3">
                  <p:embed/>
                </p:oleObj>
              </mc:Choice>
              <mc:Fallback>
                <p:oleObj name="Equation" r:id="rId4" imgW="926698" imgH="342751" progId="Equation.3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6069012"/>
                        <a:ext cx="2133600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808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Non-linear minimization (or optimization) is the numerical technique that is used by far most frequently in fisheries assessments.</a:t>
            </a:r>
          </a:p>
          <a:p>
            <a:pPr marL="0" indent="0">
              <a:buNone/>
            </a:pPr>
            <a:r>
              <a:rPr lang="en-US" dirty="0"/>
              <a:t>Problem:</a:t>
            </a:r>
          </a:p>
          <a:p>
            <a:r>
              <a:rPr lang="en-US" dirty="0"/>
              <a:t>Find the vector </a:t>
            </a:r>
            <a:r>
              <a:rPr lang="en-US" u="sng" dirty="0" err="1"/>
              <a:t>θ</a:t>
            </a:r>
            <a:r>
              <a:rPr lang="en-US" dirty="0"/>
              <a:t> so that the function f(</a:t>
            </a:r>
            <a:r>
              <a:rPr lang="en-US" u="sng" dirty="0" err="1"/>
              <a:t>θ</a:t>
            </a:r>
            <a:r>
              <a:rPr lang="en-US" dirty="0"/>
              <a:t>) is minimized. </a:t>
            </a:r>
          </a:p>
          <a:p>
            <a:pPr lvl="1"/>
            <a:r>
              <a:rPr lang="en-US" dirty="0"/>
              <a:t>maximizing f(</a:t>
            </a:r>
            <a:r>
              <a:rPr lang="en-US" u="sng" dirty="0" err="1"/>
              <a:t>θ</a:t>
            </a:r>
            <a:r>
              <a:rPr lang="en-US" dirty="0"/>
              <a:t>) is the same as minimizing -f(</a:t>
            </a:r>
            <a:r>
              <a:rPr lang="en-US" u="sng" dirty="0" err="1"/>
              <a:t>θ</a:t>
            </a:r>
            <a:r>
              <a:rPr lang="en-US" dirty="0"/>
              <a:t>)</a:t>
            </a:r>
          </a:p>
          <a:p>
            <a:r>
              <a:rPr lang="en-US" dirty="0"/>
              <a:t>We may place bounds on the values for some of the elements of f(</a:t>
            </a:r>
            <a:r>
              <a:rPr lang="en-US" u="sng" dirty="0" err="1"/>
              <a:t>θ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(e.g. some must be positive).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442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Minimizing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Optimization is similar to root-finding</a:t>
            </a:r>
          </a:p>
          <a:p>
            <a:r>
              <a:rPr lang="en-US" dirty="0"/>
              <a:t>By definition, for a minimum: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There is no perfect algorithm. </a:t>
            </a:r>
          </a:p>
          <a:p>
            <a:r>
              <a:rPr lang="en-US" dirty="0"/>
              <a:t>The art of non-linear minimization is to know which method to use &amp; how to determine whether the method has converged to the correct solution.</a:t>
            </a:r>
          </a:p>
          <a:p>
            <a:endParaRPr lang="en-US" dirty="0"/>
          </a:p>
        </p:txBody>
      </p:sp>
      <p:graphicFrame>
        <p:nvGraphicFramePr>
          <p:cNvPr id="4" name="Object 9"/>
          <p:cNvGraphicFramePr>
            <a:graphicFrameLocks noChangeAspect="1"/>
          </p:cNvGraphicFramePr>
          <p:nvPr/>
        </p:nvGraphicFramePr>
        <p:xfrm>
          <a:off x="3505200" y="2409688"/>
          <a:ext cx="166370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200" imgH="508000" progId="Equation.3">
                  <p:embed/>
                </p:oleObj>
              </mc:Choice>
              <mc:Fallback>
                <p:oleObj name="Equation" r:id="rId2" imgW="838200" imgH="508000" progId="Equation.3">
                  <p:embed/>
                  <p:pic>
                    <p:nvPicPr>
                      <p:cNvPr id="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409688"/>
                        <a:ext cx="1663700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6417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Minimizing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Many techniques to find the minimum (maximum) of a function. Choice among these depends on:</a:t>
            </a:r>
          </a:p>
          <a:p>
            <a:pPr lvl="1"/>
            <a:r>
              <a:rPr lang="en-US" dirty="0"/>
              <a:t>Cost of evaluating the function;</a:t>
            </a:r>
          </a:p>
          <a:p>
            <a:pPr lvl="1"/>
            <a:r>
              <a:rPr lang="en-US" dirty="0"/>
              <a:t>Cost of programming;</a:t>
            </a:r>
          </a:p>
          <a:p>
            <a:pPr lvl="1"/>
            <a:r>
              <a:rPr lang="en-US" dirty="0"/>
              <a:t>Cost of storing intermediate results;</a:t>
            </a:r>
          </a:p>
          <a:p>
            <a:pPr lvl="1"/>
            <a:r>
              <a:rPr lang="en-US" dirty="0"/>
              <a:t>Whether analytical or numerical derivatives are available;</a:t>
            </a:r>
          </a:p>
          <a:p>
            <a:pPr lvl="1"/>
            <a:r>
              <a:rPr lang="en-US" dirty="0"/>
              <a:t>Whether bounds are placed on some of the parameters.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965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Multidimensional methods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Most fisheries problems are (highly) multidimensional.</a:t>
            </a:r>
          </a:p>
          <a:p>
            <a:endParaRPr lang="en-US" dirty="0"/>
          </a:p>
          <a:p>
            <a:r>
              <a:rPr lang="en-US" dirty="0"/>
              <a:t>Derivative free:</a:t>
            </a:r>
          </a:p>
          <a:p>
            <a:pPr lvl="1"/>
            <a:r>
              <a:rPr lang="en-US" dirty="0" err="1"/>
              <a:t>Nelder</a:t>
            </a:r>
            <a:r>
              <a:rPr lang="en-US" dirty="0"/>
              <a:t>-Mead (Simplex);</a:t>
            </a:r>
          </a:p>
          <a:p>
            <a:pPr lvl="1"/>
            <a:r>
              <a:rPr lang="en-US" dirty="0"/>
              <a:t>Direction-set methods (Powell’s method).</a:t>
            </a:r>
          </a:p>
          <a:p>
            <a:r>
              <a:rPr lang="en-US" dirty="0"/>
              <a:t>Derivatives required: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Conjugate gradient methods (Fletcher’s method);</a:t>
            </a:r>
          </a:p>
          <a:p>
            <a:pPr lvl="1"/>
            <a:r>
              <a:rPr lang="en-US" dirty="0"/>
              <a:t>Quasi-Newton methods</a:t>
            </a:r>
          </a:p>
          <a:p>
            <a:pPr lvl="2"/>
            <a:r>
              <a:rPr lang="en-US" dirty="0"/>
              <a:t>The basic result that drives these methods  is  the Hessian matrix.</a:t>
            </a:r>
          </a:p>
          <a:p>
            <a:pPr lvl="2"/>
            <a:r>
              <a:rPr lang="en-US" dirty="0"/>
              <a:t>Computing the Hessian matrix can be very demanding computationally so these methods approximate it numerically</a:t>
            </a:r>
          </a:p>
          <a:p>
            <a:endParaRPr lang="en-US" dirty="0"/>
          </a:p>
          <a:p>
            <a:r>
              <a:rPr lang="en-US" dirty="0"/>
              <a:t>Usually no reason not to use derivative-based methods if you can compute derivatives (cheaply).</a:t>
            </a:r>
          </a:p>
          <a:p>
            <a:endParaRPr lang="en-US" dirty="0"/>
          </a:p>
        </p:txBody>
      </p:sp>
      <p:pic>
        <p:nvPicPr>
          <p:cNvPr id="6" name="Picture 5" descr="Screen Shot 2017-09-11 at 10.21.1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891" y="3409781"/>
            <a:ext cx="4450554" cy="45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15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variance of estimates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Optimization routine provides us with the ‘best’ estimates.</a:t>
            </a:r>
          </a:p>
          <a:p>
            <a:r>
              <a:rPr lang="en-US" dirty="0"/>
              <a:t>Would like confidence intervals for parameters &amp; derived variables (such as population size).</a:t>
            </a:r>
          </a:p>
          <a:p>
            <a:r>
              <a:rPr lang="en-US" dirty="0"/>
              <a:t>We can obtain variance estimates for parameters by inverting the Hessian.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to obtain these for derived quantities?</a:t>
            </a:r>
          </a:p>
        </p:txBody>
      </p:sp>
      <p:pic>
        <p:nvPicPr>
          <p:cNvPr id="7" name="Picture 6" descr="Screen Shot 2017-09-11 at 9.29.2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294" y="4246771"/>
            <a:ext cx="4225412" cy="11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957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Delta method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good news: RTMB will compute this for you automatically if you tell it to</a:t>
            </a:r>
            <a:br>
              <a:rPr lang="en-US" dirty="0"/>
            </a:br>
            <a:r>
              <a:rPr lang="en-US" dirty="0"/>
              <a:t>(i.e. via ADREPORT).</a:t>
            </a:r>
          </a:p>
        </p:txBody>
      </p:sp>
      <p:pic>
        <p:nvPicPr>
          <p:cNvPr id="3" name="Picture 2" descr="Screen Shot 2017-09-11 at 10.24.4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14" y="1280975"/>
            <a:ext cx="8323586" cy="83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439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High-dimensional problems</a:t>
            </a:r>
          </a:p>
          <a:p>
            <a:r>
              <a:rPr lang="en-US" dirty="0"/>
              <a:t>Slow function evaluations</a:t>
            </a:r>
          </a:p>
          <a:p>
            <a:pPr lvl="1"/>
            <a:r>
              <a:rPr lang="en-US" dirty="0"/>
              <a:t>Use more efficient optimization method</a:t>
            </a:r>
          </a:p>
          <a:p>
            <a:pPr lvl="1"/>
            <a:r>
              <a:rPr lang="en-US" dirty="0"/>
              <a:t>Derive analytical expressions for parts</a:t>
            </a:r>
          </a:p>
          <a:p>
            <a:pPr lvl="1"/>
            <a:r>
              <a:rPr lang="en-US" dirty="0"/>
              <a:t>Rewrite code to compute objective function more efficiently, or implement in faster language</a:t>
            </a:r>
          </a:p>
          <a:p>
            <a:pPr lvl="1"/>
            <a:r>
              <a:rPr lang="en-US" dirty="0"/>
              <a:t>Allow lower tolerance for fits</a:t>
            </a:r>
          </a:p>
          <a:p>
            <a:pPr lvl="1"/>
            <a:r>
              <a:rPr lang="en-US" dirty="0"/>
              <a:t>Ask your advisor to buy you a faster computer</a:t>
            </a:r>
          </a:p>
          <a:p>
            <a:r>
              <a:rPr lang="en-US" dirty="0"/>
              <a:t>Discontinuities and thresholds</a:t>
            </a:r>
          </a:p>
          <a:p>
            <a:r>
              <a:rPr lang="en-US" dirty="0"/>
              <a:t>Multiple minima</a:t>
            </a:r>
          </a:p>
          <a:p>
            <a:r>
              <a:rPr lang="en-US" dirty="0"/>
              <a:t>Constraints</a:t>
            </a:r>
          </a:p>
          <a:p>
            <a:pPr lvl="1"/>
            <a:r>
              <a:rPr lang="en-US" dirty="0"/>
              <a:t>Add bounds to parameters [boundary issues]</a:t>
            </a:r>
          </a:p>
          <a:p>
            <a:pPr lvl="1"/>
            <a:r>
              <a:rPr lang="en-US" dirty="0"/>
              <a:t>Add penalties</a:t>
            </a:r>
          </a:p>
          <a:p>
            <a:pPr lvl="1"/>
            <a:r>
              <a:rPr lang="en-US" dirty="0"/>
              <a:t>Use transformations for parameters to avoid constraints</a:t>
            </a:r>
          </a:p>
        </p:txBody>
      </p:sp>
    </p:spTree>
    <p:extLst>
      <p:ext uri="{BB962C8B-B14F-4D97-AF65-F5344CB8AC3E}">
        <p14:creationId xmlns:p14="http://schemas.microsoft.com/office/powerpoint/2010/main" val="2809548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Understand the model you’re fitting</a:t>
            </a:r>
          </a:p>
          <a:p>
            <a:pPr lvl="1"/>
            <a:r>
              <a:rPr lang="en-US" dirty="0"/>
              <a:t>check starting conditions</a:t>
            </a:r>
          </a:p>
          <a:p>
            <a:pPr lvl="1"/>
            <a:r>
              <a:rPr lang="en-US" dirty="0"/>
              <a:t>check convergence conditions</a:t>
            </a:r>
          </a:p>
          <a:p>
            <a:pPr lvl="1"/>
            <a:r>
              <a:rPr lang="en-US" dirty="0"/>
              <a:t>adjust parameter scale/restart from previous best fit</a:t>
            </a:r>
          </a:p>
          <a:p>
            <a:pPr lvl="1"/>
            <a:r>
              <a:rPr lang="en-US" dirty="0"/>
              <a:t>switch from constraints to transformed parameters</a:t>
            </a:r>
          </a:p>
          <a:p>
            <a:pPr lvl="1"/>
            <a:r>
              <a:rPr lang="en-US" dirty="0"/>
              <a:t>adjust finite-difference tolerances</a:t>
            </a:r>
          </a:p>
          <a:p>
            <a:r>
              <a:rPr lang="en-US" dirty="0"/>
              <a:t>Results depend on starting conditions?</a:t>
            </a:r>
          </a:p>
          <a:p>
            <a:pPr lvl="1"/>
            <a:r>
              <a:rPr lang="en-US" dirty="0"/>
              <a:t>check slice between answers/around answers: multiple minima or just convergence problems?</a:t>
            </a:r>
          </a:p>
          <a:p>
            <a:r>
              <a:rPr lang="en-US" dirty="0"/>
              <a:t>Convergence problems: try restarting from previous stopping point, examine profile likelihoods.</a:t>
            </a:r>
          </a:p>
        </p:txBody>
      </p:sp>
    </p:spTree>
    <p:extLst>
      <p:ext uri="{BB962C8B-B14F-4D97-AF65-F5344CB8AC3E}">
        <p14:creationId xmlns:p14="http://schemas.microsoft.com/office/powerpoint/2010/main" val="3734953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We wish to evaluate the integral:</a:t>
            </a:r>
          </a:p>
          <a:p>
            <a:endParaRPr lang="en-US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990600" y="4038600"/>
          <a:ext cx="3252788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7000" imgH="482600" progId="Equation.DSMT4">
                  <p:embed/>
                </p:oleObj>
              </mc:Choice>
              <mc:Fallback>
                <p:oleObj name="Equation" r:id="rId2" imgW="1397000" imgH="482600" progId="Equation.DSMT4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038600"/>
                        <a:ext cx="3252788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910" b="45886"/>
          <a:stretch>
            <a:fillRect/>
          </a:stretch>
        </p:blipFill>
        <p:spPr bwMode="auto">
          <a:xfrm>
            <a:off x="3429000" y="2514600"/>
            <a:ext cx="5943600" cy="420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778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Numerical integration: single step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We could approximate the integral by its height at its first point, at its last point, or at the middle.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Approximating the integral by the average of the first two approaches is the “Trapezoidal rule”.</a:t>
            </a:r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1086" y="2264646"/>
            <a:ext cx="7126081" cy="55090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14322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Trapezoidal rule: 0.68394</a:t>
            </a:r>
          </a:p>
          <a:p>
            <a:r>
              <a:rPr lang="en-US" altLang="en-US" dirty="0"/>
              <a:t>Simpson’s rule: 0.74718</a:t>
            </a:r>
          </a:p>
          <a:p>
            <a:r>
              <a:rPr lang="en-US" altLang="en-US" dirty="0"/>
              <a:t>Boole’s rule: 0.74683</a:t>
            </a:r>
          </a:p>
          <a:p>
            <a:r>
              <a:rPr lang="en-US" altLang="en-US" dirty="0"/>
              <a:t>Exact: 0.74682! </a:t>
            </a:r>
          </a:p>
          <a:p>
            <a:endParaRPr lang="en-US" altLang="en-US" dirty="0"/>
          </a:p>
          <a:p>
            <a:endParaRPr lang="en-US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1079500" y="4052888"/>
          <a:ext cx="3074988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800" imgH="469900" progId="Equation.3">
                  <p:embed/>
                </p:oleObj>
              </mc:Choice>
              <mc:Fallback>
                <p:oleObj name="Equation" r:id="rId2" imgW="1320800" imgH="469900" progId="Equation.3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4052888"/>
                        <a:ext cx="3074988" cy="109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910" b="45886"/>
          <a:stretch>
            <a:fillRect/>
          </a:stretch>
        </p:blipFill>
        <p:spPr bwMode="auto">
          <a:xfrm>
            <a:off x="3429000" y="2514600"/>
            <a:ext cx="5943600" cy="420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66625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3923"/>
            <a:ext cx="8229600" cy="1421104"/>
          </a:xfrm>
        </p:spPr>
        <p:txBody>
          <a:bodyPr>
            <a:normAutofit/>
          </a:bodyPr>
          <a:lstStyle/>
          <a:p>
            <a:r>
              <a:rPr lang="en-US" dirty="0"/>
              <a:t>The error function, or how I learned to stop worrying &amp; use someone else’s code.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6681"/>
            <a:ext cx="8229600" cy="492360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Commonly required integral in fisheries is the “error function”: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Very accurate approximations to this integral have been programmed and are available in software libraries (e.g. </a:t>
            </a:r>
            <a:r>
              <a:rPr lang="en-US" altLang="en-US" i="1" dirty="0"/>
              <a:t>NORMDIST</a:t>
            </a:r>
            <a:r>
              <a:rPr lang="en-US" altLang="en-US" dirty="0"/>
              <a:t> in EXCEL, </a:t>
            </a:r>
            <a:r>
              <a:rPr lang="en-US" altLang="en-US" i="1" dirty="0" err="1"/>
              <a:t>cumd_norm</a:t>
            </a:r>
            <a:r>
              <a:rPr lang="en-US" altLang="en-US" dirty="0"/>
              <a:t> in ADMB, </a:t>
            </a:r>
            <a:r>
              <a:rPr lang="en-US" altLang="en-US" i="1" dirty="0" err="1"/>
              <a:t>pnorm</a:t>
            </a:r>
            <a:r>
              <a:rPr lang="en-US" altLang="en-US" dirty="0"/>
              <a:t> in R).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Someone may have already solved your problem; before writing your own code check if this is the case!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657600" y="2344734"/>
          <a:ext cx="2131430" cy="1253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753" imgH="469696" progId="Equation.3">
                  <p:embed/>
                </p:oleObj>
              </mc:Choice>
              <mc:Fallback>
                <p:oleObj name="Equation" r:id="rId2" imgW="799753" imgH="469696" progId="Equation.3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344734"/>
                        <a:ext cx="2131430" cy="12532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1609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83923"/>
            <a:ext cx="8686801" cy="688359"/>
          </a:xfrm>
        </p:spPr>
        <p:txBody>
          <a:bodyPr>
            <a:normAutofit/>
          </a:bodyPr>
          <a:lstStyle/>
          <a:p>
            <a:r>
              <a:rPr lang="en-US" dirty="0"/>
              <a:t>Estimation of mixed effects models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1870"/>
            <a:ext cx="8229600" cy="580613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/>
              <a:t>Maximum Likelihood Estimation (MLE)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sz="2800" dirty="0"/>
              <a:t>	</a:t>
            </a:r>
          </a:p>
          <a:p>
            <a:pPr marL="0" indent="0">
              <a:buNone/>
            </a:pPr>
            <a:r>
              <a:rPr lang="en-US" sz="2800" dirty="0"/>
              <a:t>	is the vector of fixed effects parameters.</a:t>
            </a:r>
          </a:p>
          <a:p>
            <a:pPr marL="0" indent="0">
              <a:buNone/>
            </a:pPr>
            <a:r>
              <a:rPr lang="en-US" sz="2800" dirty="0"/>
              <a:t>	are the parameters controlling the distribution 	for 	the random effects.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We </a:t>
            </a:r>
            <a:r>
              <a:rPr lang="en-US" sz="2800" b="1" dirty="0"/>
              <a:t>integrate</a:t>
            </a:r>
            <a:r>
              <a:rPr lang="en-US" sz="2800" dirty="0"/>
              <a:t> across the random effects.</a:t>
            </a:r>
          </a:p>
          <a:p>
            <a:pPr marL="0" indent="0">
              <a:buNone/>
            </a:pPr>
            <a:r>
              <a:rPr lang="en-US" sz="2800" dirty="0"/>
              <a:t>Effectively weight the probability of the observations given values for random effects by the probability of those values.</a:t>
            </a:r>
          </a:p>
          <a:p>
            <a:pPr marL="0" indent="0">
              <a:buNone/>
            </a:pPr>
            <a:r>
              <a:rPr lang="en-US" sz="2800" dirty="0"/>
              <a:t>In the linear case, closed form solutions exist. For nonlinear models, we evaluate numerically or use approximations.</a:t>
            </a:r>
          </a:p>
          <a:p>
            <a:pPr marL="0" indent="0">
              <a:buNone/>
            </a:pPr>
            <a:endParaRPr lang="en-US" sz="28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676400" y="1698891"/>
          <a:ext cx="4369300" cy="590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79760" imgH="469800" progId="Equation.3">
                  <p:embed/>
                </p:oleObj>
              </mc:Choice>
              <mc:Fallback>
                <p:oleObj name="Equation" r:id="rId2" imgW="3479760" imgH="46980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698891"/>
                        <a:ext cx="4369300" cy="5900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347788" y="3778250"/>
          <a:ext cx="57404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41800" imgH="673100" progId="Equation.3">
                  <p:embed/>
                </p:oleObj>
              </mc:Choice>
              <mc:Fallback>
                <p:oleObj name="Equation" r:id="rId4" imgW="4241800" imgH="67310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7788" y="3778250"/>
                        <a:ext cx="57404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01557" y="2562481"/>
          <a:ext cx="221788" cy="304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200" imgH="279400" progId="Equation.3">
                  <p:embed/>
                </p:oleObj>
              </mc:Choice>
              <mc:Fallback>
                <p:oleObj name="Equation" r:id="rId6" imgW="203200" imgH="279400" progId="Equation.3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1557" y="2562481"/>
                        <a:ext cx="221788" cy="3049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573648" y="3028347"/>
          <a:ext cx="288248" cy="30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200" imgH="215900" progId="Equation.3">
                  <p:embed/>
                </p:oleObj>
              </mc:Choice>
              <mc:Fallback>
                <p:oleObj name="Equation" r:id="rId8" imgW="203200" imgH="215900" progId="Equation.3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3648" y="3028347"/>
                        <a:ext cx="288248" cy="306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92310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Fitting non-linear mixed effects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</a:pPr>
            <a:r>
              <a:rPr lang="en-US" altLang="en-US" sz="2600" dirty="0"/>
              <a:t>R can be used to fit non-linear mixed effects models (function </a:t>
            </a:r>
            <a:r>
              <a:rPr lang="en-US" altLang="en-US" sz="2600" dirty="0" err="1"/>
              <a:t>nlme</a:t>
            </a:r>
            <a:r>
              <a:rPr lang="en-US" altLang="en-US" sz="2600" dirty="0"/>
              <a:t>).</a:t>
            </a:r>
          </a:p>
          <a:p>
            <a:pPr>
              <a:lnSpc>
                <a:spcPct val="80000"/>
              </a:lnSpc>
            </a:pPr>
            <a:r>
              <a:rPr lang="en-US" altLang="en-US" sz="2600" dirty="0"/>
              <a:t>To fit non-linear mixed effects models using RTMB or EXCEL you need to evaluate the integral numerically, or apply a method such as the Laplace approximation. </a:t>
            </a:r>
          </a:p>
          <a:p>
            <a:pPr>
              <a:lnSpc>
                <a:spcPct val="80000"/>
              </a:lnSpc>
            </a:pPr>
            <a:endParaRPr lang="en-US" dirty="0"/>
          </a:p>
          <a:p>
            <a:pPr>
              <a:lnSpc>
                <a:spcPct val="80000"/>
              </a:lnSpc>
            </a:pPr>
            <a:endParaRPr lang="en-US" dirty="0"/>
          </a:p>
          <a:p>
            <a:pPr>
              <a:lnSpc>
                <a:spcPct val="80000"/>
              </a:lnSpc>
            </a:pPr>
            <a:endParaRPr lang="en-US" dirty="0"/>
          </a:p>
          <a:p>
            <a:pPr>
              <a:lnSpc>
                <a:spcPct val="80000"/>
              </a:lnSpc>
            </a:pPr>
            <a:r>
              <a:rPr lang="en-US" dirty="0"/>
              <a:t>    </a:t>
            </a:r>
            <a:r>
              <a:rPr lang="en-US" sz="2800" dirty="0"/>
              <a:t>is the value of </a:t>
            </a:r>
            <a:r>
              <a:rPr lang="en-US" sz="2800" i="1" dirty="0"/>
              <a:t>ε</a:t>
            </a:r>
            <a:r>
              <a:rPr lang="en-US" sz="2800" dirty="0"/>
              <a:t> obtained by maximizing</a:t>
            </a:r>
            <a:br>
              <a:rPr lang="en-US" sz="2800" dirty="0"/>
            </a:br>
            <a:r>
              <a:rPr lang="en-US" sz="2800" dirty="0"/>
              <a:t>given fixed values of θ and </a:t>
            </a:r>
            <a:r>
              <a:rPr lang="en-US" sz="2800" i="1" dirty="0"/>
              <a:t>τ</a:t>
            </a:r>
            <a:r>
              <a:rPr lang="en-US" sz="2800" dirty="0"/>
              <a:t>, and                       is the determinant of the matrix of second derivatives.</a:t>
            </a:r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dirty="0"/>
              <a:t>This approximation is exact when the distribution of random effects (given their hyper-prior and the available data) is exactly proportional to a multivariate normal distribution.</a:t>
            </a:r>
            <a:br>
              <a:rPr lang="en-US" sz="2800" dirty="0"/>
            </a:br>
            <a:r>
              <a:rPr lang="en-US" sz="2800" dirty="0"/>
              <a:t>(It is a convenient approximation in other cases)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44826" y="3260033"/>
            <a:ext cx="836303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157288" y="2624138"/>
          <a:ext cx="6945312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49700" imgH="533400" progId="Equation.3">
                  <p:embed/>
                </p:oleObj>
              </mc:Choice>
              <mc:Fallback>
                <p:oleObj name="Equation" r:id="rId2" imgW="3949700" imgH="53340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288" y="2624138"/>
                        <a:ext cx="6945312" cy="946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874642" y="3729749"/>
          <a:ext cx="278161" cy="35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7000" imgH="177800" progId="Equation.3">
                  <p:embed/>
                </p:oleObj>
              </mc:Choice>
              <mc:Fallback>
                <p:oleObj name="Equation" r:id="rId4" imgW="127000" imgH="177800" progId="Equation.3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642" y="3729749"/>
                        <a:ext cx="278161" cy="357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-1445522" y="324015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6669748" y="3729749"/>
          <a:ext cx="2243946" cy="3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31366" imgH="203112" progId="Equation.DSMT4">
                  <p:embed/>
                </p:oleObj>
              </mc:Choice>
              <mc:Fallback>
                <p:oleObj r:id="rId6" imgW="1231366" imgH="203112" progId="Equation.DSMT4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9748" y="3729749"/>
                        <a:ext cx="2243946" cy="3826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5383213" y="3975100"/>
          <a:ext cx="157321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9000" imgH="292100" progId="Equation.3">
                  <p:embed/>
                </p:oleObj>
              </mc:Choice>
              <mc:Fallback>
                <p:oleObj name="Equation" r:id="rId8" imgW="889000" imgH="292100" progId="Equation.3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213" y="3975100"/>
                        <a:ext cx="1573212" cy="5016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324314" y="6420678"/>
            <a:ext cx="4816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Skaug</a:t>
            </a:r>
            <a:r>
              <a:rPr lang="en-US" dirty="0"/>
              <a:t> &amp; Fournier (2006), Thorson &amp; Minto (2015)</a:t>
            </a:r>
          </a:p>
        </p:txBody>
      </p:sp>
    </p:spTree>
    <p:extLst>
      <p:ext uri="{BB962C8B-B14F-4D97-AF65-F5344CB8AC3E}">
        <p14:creationId xmlns:p14="http://schemas.microsoft.com/office/powerpoint/2010/main" val="12670804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state-space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Various methods exist for obtaining the (log) likelihood, and then to maximize it.</a:t>
            </a:r>
          </a:p>
          <a:p>
            <a:pPr lvl="1"/>
            <a:r>
              <a:rPr lang="en-US" dirty="0" err="1"/>
              <a:t>Kalman</a:t>
            </a:r>
            <a:r>
              <a:rPr lang="en-US" dirty="0"/>
              <a:t> filter (</a:t>
            </a:r>
            <a:r>
              <a:rPr lang="en-US" dirty="0" err="1"/>
              <a:t>Kalman</a:t>
            </a:r>
            <a:r>
              <a:rPr lang="en-US" dirty="0"/>
              <a:t>, 1960)</a:t>
            </a:r>
          </a:p>
          <a:p>
            <a:pPr marL="914400" lvl="2" indent="0">
              <a:buNone/>
            </a:pPr>
            <a:r>
              <a:rPr lang="en-US" dirty="0"/>
              <a:t>Seminal work, for linear state and observation models when process and observation errors are Gaussian.</a:t>
            </a:r>
          </a:p>
          <a:p>
            <a:pPr lvl="1"/>
            <a:r>
              <a:rPr lang="en-US" dirty="0"/>
              <a:t>Additional filters relaxing some assumptions</a:t>
            </a:r>
          </a:p>
          <a:p>
            <a:pPr marL="914400" lvl="2" indent="0">
              <a:buNone/>
            </a:pPr>
            <a:r>
              <a:rPr lang="en-US" dirty="0"/>
              <a:t>(Extended </a:t>
            </a:r>
            <a:r>
              <a:rPr lang="en-US" dirty="0" err="1"/>
              <a:t>Kalman</a:t>
            </a:r>
            <a:r>
              <a:rPr lang="en-US" dirty="0"/>
              <a:t> filter, unscented </a:t>
            </a:r>
            <a:r>
              <a:rPr lang="en-US" dirty="0" err="1"/>
              <a:t>Kalman</a:t>
            </a:r>
            <a:r>
              <a:rPr lang="en-US" dirty="0"/>
              <a:t> filter, etc.)</a:t>
            </a:r>
          </a:p>
          <a:p>
            <a:pPr lvl="1"/>
            <a:r>
              <a:rPr lang="en-US" dirty="0"/>
              <a:t>Expectation-Maximization (EM) algorithm</a:t>
            </a:r>
          </a:p>
          <a:p>
            <a:pPr lvl="1"/>
            <a:r>
              <a:rPr lang="en-US" dirty="0"/>
              <a:t>Laplace approximation  (e.g. ADMB)</a:t>
            </a:r>
          </a:p>
          <a:p>
            <a:pPr lvl="1"/>
            <a:r>
              <a:rPr lang="en-US" dirty="0"/>
              <a:t>Importance sampling</a:t>
            </a:r>
          </a:p>
          <a:p>
            <a:r>
              <a:rPr lang="en-US" dirty="0"/>
              <a:t>Estimation can also be achieved in a Bayesian framework. (</a:t>
            </a:r>
            <a:r>
              <a:rPr lang="en-US" sz="2800" dirty="0"/>
              <a:t>e.g. with Markov Chain Monte Carlo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3415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Kalman</a:t>
            </a:r>
            <a:r>
              <a:rPr lang="en-US" dirty="0"/>
              <a:t> filter (</a:t>
            </a:r>
            <a:r>
              <a:rPr lang="en-US" dirty="0" err="1"/>
              <a:t>Kalman</a:t>
            </a:r>
            <a:r>
              <a:rPr lang="en-US" dirty="0"/>
              <a:t>, 1960)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8259"/>
            <a:ext cx="8229600" cy="41420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Many applications in technology: guidance &amp; navigation of aircraft and spacecraft. Widely applied concept in time series analysis, used a lot in signal processing and econometrics.</a:t>
            </a:r>
          </a:p>
          <a:p>
            <a:r>
              <a:rPr lang="en-US" dirty="0"/>
              <a:t>First implementation (Schmidt) at NASA applied to trajectory estimation for the Apollo program.</a:t>
            </a:r>
          </a:p>
          <a:p>
            <a:r>
              <a:rPr lang="en-US" dirty="0"/>
              <a:t>Yes, this really is rocket science.</a:t>
            </a:r>
          </a:p>
        </p:txBody>
      </p:sp>
      <p:pic>
        <p:nvPicPr>
          <p:cNvPr id="4" name="Picture 6" descr="kalru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649" y="260239"/>
            <a:ext cx="1428750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57200" y="1060713"/>
            <a:ext cx="8229600" cy="5536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“…possibly the greatest discovery </a:t>
            </a:r>
            <a:br>
              <a:rPr lang="en-US" altLang="en-US" sz="2400" dirty="0">
                <a:latin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</a:rPr>
              <a:t>             of the twentieth century”</a:t>
            </a:r>
          </a:p>
          <a:p>
            <a:pPr>
              <a:buFontTx/>
              <a:buNone/>
            </a:pPr>
            <a:r>
              <a:rPr lang="en-US" altLang="en-US" sz="2000" dirty="0"/>
              <a:t>                             (</a:t>
            </a:r>
            <a:r>
              <a:rPr lang="en-US" altLang="en-US" sz="2000" dirty="0" err="1"/>
              <a:t>Grewal</a:t>
            </a:r>
            <a:r>
              <a:rPr lang="en-US" altLang="en-US" sz="2000" dirty="0"/>
              <a:t> &amp; Andrews, 2001)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588125" y="4149725"/>
            <a:ext cx="17287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 rot="21427572">
            <a:off x="1900025" y="897692"/>
            <a:ext cx="352742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1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statistical estimation theory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7710" y="1042476"/>
            <a:ext cx="268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^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605" y="5429146"/>
            <a:ext cx="1984195" cy="132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0049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Kalman</a:t>
            </a:r>
            <a:r>
              <a:rPr lang="en-US" dirty="0"/>
              <a:t>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Has seen wide use in fisheries literature.</a:t>
            </a:r>
          </a:p>
          <a:p>
            <a:r>
              <a:rPr lang="en-US" dirty="0"/>
              <a:t>A recursive procedure to estimate the distribution for the state vector of a state-space model when:</a:t>
            </a:r>
          </a:p>
          <a:p>
            <a:pPr lvl="1"/>
            <a:r>
              <a:rPr lang="en-US" dirty="0"/>
              <a:t>The process model is linear</a:t>
            </a:r>
          </a:p>
          <a:p>
            <a:pPr lvl="1"/>
            <a:r>
              <a:rPr lang="en-US" dirty="0"/>
              <a:t>Observations are a linear function of the state variables</a:t>
            </a:r>
          </a:p>
          <a:p>
            <a:pPr lvl="1"/>
            <a:r>
              <a:rPr lang="en-US" dirty="0"/>
              <a:t>Process and Observation errors are additive and normally distributed.</a:t>
            </a:r>
          </a:p>
          <a:p>
            <a:r>
              <a:rPr lang="en-US" dirty="0"/>
              <a:t>Generates </a:t>
            </a:r>
            <a:r>
              <a:rPr lang="en-US" i="1" dirty="0"/>
              <a:t>T</a:t>
            </a:r>
            <a:r>
              <a:rPr lang="en-US" dirty="0"/>
              <a:t> probability distributions for the states</a:t>
            </a:r>
            <a:br>
              <a:rPr lang="en-US" dirty="0"/>
            </a:br>
            <a:r>
              <a:rPr lang="en-US" i="1" dirty="0" err="1"/>
              <a:t>n</a:t>
            </a:r>
            <a:r>
              <a:rPr lang="en-US" i="1" baseline="-25000" dirty="0" err="1"/>
              <a:t>t</a:t>
            </a:r>
            <a:r>
              <a:rPr lang="en-US" dirty="0"/>
              <a:t>, </a:t>
            </a:r>
            <a:r>
              <a:rPr lang="en-US" i="1" dirty="0"/>
              <a:t>t=1,...,T ,</a:t>
            </a:r>
            <a:r>
              <a:rPr lang="en-US" dirty="0"/>
              <a:t> conditioned on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i="1" baseline="-25000" dirty="0"/>
              <a:t>t</a:t>
            </a:r>
            <a:r>
              <a:rPr lang="en-US" dirty="0"/>
              <a:t>|</a:t>
            </a:r>
            <a:r>
              <a:rPr lang="en-US" i="1" dirty="0"/>
              <a:t>y</a:t>
            </a:r>
            <a:r>
              <a:rPr lang="en-US" baseline="-25000" dirty="0"/>
              <a:t>1:t</a:t>
            </a:r>
            <a:r>
              <a:rPr lang="en-US" dirty="0"/>
              <a:t>).</a:t>
            </a:r>
          </a:p>
          <a:p>
            <a:r>
              <a:rPr lang="en-US" dirty="0"/>
              <a:t>Because of the constraints, these distributions are normal, so can be summarized by their mean and variance-covariance matrices.</a:t>
            </a:r>
          </a:p>
          <a:p>
            <a:r>
              <a:rPr lang="en-US" dirty="0"/>
              <a:t>Once applied, the </a:t>
            </a:r>
            <a:r>
              <a:rPr lang="en-US" dirty="0" err="1"/>
              <a:t>Kalman</a:t>
            </a:r>
            <a:r>
              <a:rPr lang="en-US" dirty="0"/>
              <a:t> filter opens the door to parameter estimation through maximum likelihood, smoothing,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7865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The Kalman filter cookbook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72368"/>
            <a:ext cx="8229600" cy="535225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Define the initial estimate of the state vector at </a:t>
            </a:r>
            <a:r>
              <a:rPr lang="en-US" altLang="en-US" i="1" dirty="0"/>
              <a:t>t=0</a:t>
            </a:r>
            <a:r>
              <a:rPr lang="en-US" altLang="en-US" dirty="0"/>
              <a:t>,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sz="2800" dirty="0"/>
              <a:t>i.e. with mean </a:t>
            </a:r>
            <a:r>
              <a:rPr lang="en-US" altLang="en-US" sz="2800" b="1" dirty="0"/>
              <a:t>a</a:t>
            </a:r>
            <a:r>
              <a:rPr lang="en-US" altLang="en-US" sz="2800" b="1" baseline="-25000" dirty="0"/>
              <a:t>0</a:t>
            </a:r>
            <a:r>
              <a:rPr lang="en-US" altLang="en-US" sz="2800" b="1" dirty="0"/>
              <a:t> </a:t>
            </a:r>
            <a:r>
              <a:rPr lang="en-US" altLang="en-US" sz="2800" dirty="0"/>
              <a:t>and </a:t>
            </a:r>
            <a:r>
              <a:rPr lang="en-US" altLang="en-US" sz="2800" dirty="0" err="1"/>
              <a:t>Var</a:t>
            </a:r>
            <a:r>
              <a:rPr lang="en-US" altLang="en-US" sz="2800" b="1" dirty="0"/>
              <a:t> P</a:t>
            </a:r>
            <a:r>
              <a:rPr lang="en-US" altLang="en-US" sz="2800" b="1" baseline="-25000" dirty="0"/>
              <a:t>0</a:t>
            </a:r>
            <a:endParaRPr lang="en-US" altLang="en-US" sz="2800" b="1" dirty="0"/>
          </a:p>
          <a:p>
            <a:pPr>
              <a:lnSpc>
                <a:spcPct val="90000"/>
              </a:lnSpc>
            </a:pPr>
            <a:r>
              <a:rPr lang="en-US" altLang="en-US" dirty="0"/>
              <a:t>At time </a:t>
            </a:r>
            <a:r>
              <a:rPr lang="en-US" altLang="en-US" i="1" dirty="0"/>
              <a:t>t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Predict the mean and variance of the estimate of the state vector at time t from the estimate at time </a:t>
            </a:r>
            <a:r>
              <a:rPr lang="en-US" altLang="en-US" i="1" dirty="0"/>
              <a:t>t-1</a:t>
            </a:r>
            <a:r>
              <a:rPr lang="en-US" altLang="en-US" dirty="0"/>
              <a:t> given the data until </a:t>
            </a:r>
            <a:r>
              <a:rPr lang="en-US" altLang="en-US" i="1" dirty="0"/>
              <a:t>t-1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Confront estimate with observation at time </a:t>
            </a:r>
            <a:r>
              <a:rPr lang="en-US" altLang="en-US" i="1" dirty="0"/>
              <a:t>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Update estimate at time </a:t>
            </a:r>
            <a:r>
              <a:rPr lang="en-US" altLang="en-US" i="1" dirty="0"/>
              <a:t>t</a:t>
            </a:r>
            <a:r>
              <a:rPr lang="en-US" altLang="en-US" dirty="0"/>
              <a:t> given data at time </a:t>
            </a:r>
            <a:r>
              <a:rPr lang="en-US" altLang="en-US" i="1" dirty="0"/>
              <a:t>t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And so on…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4972454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Kalman</a:t>
            </a:r>
            <a:r>
              <a:rPr lang="en-US" dirty="0"/>
              <a:t>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83300"/>
            <a:ext cx="8529806" cy="5569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Consider time series of observations, start at </a:t>
            </a:r>
            <a:r>
              <a:rPr lang="en-US" i="1" dirty="0"/>
              <a:t>t</a:t>
            </a:r>
            <a:r>
              <a:rPr lang="en-US" dirty="0"/>
              <a:t>=0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8969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Kalman</a:t>
            </a:r>
            <a:r>
              <a:rPr lang="en-US" dirty="0"/>
              <a:t>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83300"/>
            <a:ext cx="8529806" cy="5569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Apply state process model to PREDICT state at </a:t>
            </a:r>
            <a:r>
              <a:rPr lang="en-US" i="1" dirty="0"/>
              <a:t>t</a:t>
            </a:r>
            <a:r>
              <a:rPr lang="en-US" dirty="0"/>
              <a:t>=1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734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Kalman</a:t>
            </a:r>
            <a:r>
              <a:rPr lang="en-US" dirty="0"/>
              <a:t>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83300"/>
            <a:ext cx="8529806" cy="5569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Compare prediction to observation and UPDATE.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5507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Kalman</a:t>
            </a:r>
            <a:r>
              <a:rPr lang="en-US" dirty="0"/>
              <a:t>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83300"/>
            <a:ext cx="8529806" cy="5569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Compare prediction to observation and UPDATE.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6276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Kalman</a:t>
            </a:r>
            <a:r>
              <a:rPr lang="en-US" dirty="0"/>
              <a:t>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83300"/>
            <a:ext cx="8529806" cy="55698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Predict state vector at time </a:t>
            </a:r>
            <a:r>
              <a:rPr lang="en-US" i="1" dirty="0"/>
              <a:t>t=2</a:t>
            </a:r>
            <a:r>
              <a:rPr lang="en-US" dirty="0"/>
              <a:t> using process model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550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Kalman</a:t>
            </a:r>
            <a:r>
              <a:rPr lang="en-US" dirty="0"/>
              <a:t>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83300"/>
            <a:ext cx="8229600" cy="5569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Update prediction for t=2 based on data at t=2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4444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Kalman</a:t>
            </a:r>
            <a:r>
              <a:rPr lang="en-US" dirty="0"/>
              <a:t>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83300"/>
            <a:ext cx="8229600" cy="5569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Continue predict-update steps for t=3, 4, 5, …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1324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Kalman</a:t>
            </a:r>
            <a:r>
              <a:rPr lang="en-US" dirty="0"/>
              <a:t>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83300"/>
            <a:ext cx="8229600" cy="5569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Run filter through all time-steps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7400" y="774700"/>
            <a:ext cx="7556500" cy="530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766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estimation using </a:t>
            </a:r>
            <a:r>
              <a:rPr lang="en-US" dirty="0" err="1"/>
              <a:t>Kalman</a:t>
            </a:r>
            <a:r>
              <a:rPr lang="en-US" dirty="0"/>
              <a:t>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Previous example, parameter values were known.</a:t>
            </a:r>
          </a:p>
          <a:p>
            <a:r>
              <a:rPr lang="en-US" dirty="0"/>
              <a:t>The </a:t>
            </a:r>
            <a:r>
              <a:rPr lang="en-US" dirty="0" err="1"/>
              <a:t>Kalman</a:t>
            </a:r>
            <a:r>
              <a:rPr lang="en-US" dirty="0"/>
              <a:t> filter yields:</a:t>
            </a:r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339791"/>
              </p:ext>
            </p:extLst>
          </p:nvPr>
        </p:nvGraphicFramePr>
        <p:xfrm>
          <a:off x="1506538" y="2474322"/>
          <a:ext cx="6332537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41600" imgH="469900" progId="Equation.3">
                  <p:embed/>
                </p:oleObj>
              </mc:Choice>
              <mc:Fallback>
                <p:oleObj name="Equation" r:id="rId2" imgW="2641600" imgH="4699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06538" y="2474322"/>
                        <a:ext cx="6332537" cy="1127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601153"/>
              </p:ext>
            </p:extLst>
          </p:nvPr>
        </p:nvGraphicFramePr>
        <p:xfrm>
          <a:off x="775065" y="3761579"/>
          <a:ext cx="77946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51200" imgH="241300" progId="Equation.3">
                  <p:embed/>
                </p:oleObj>
              </mc:Choice>
              <mc:Fallback>
                <p:oleObj name="Equation" r:id="rId4" imgW="3251200" imgH="2413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75065" y="3761579"/>
                        <a:ext cx="7794625" cy="57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409774" y="4787167"/>
            <a:ext cx="1451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Observation equation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22880" y="4678103"/>
            <a:ext cx="1340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Residual covariance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5274982" y="4339429"/>
            <a:ext cx="334920" cy="4466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5861092" y="4214940"/>
            <a:ext cx="961788" cy="17306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8163663" y="4214940"/>
            <a:ext cx="293054" cy="17306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eft Brace 16"/>
          <p:cNvSpPr/>
          <p:nvPr/>
        </p:nvSpPr>
        <p:spPr>
          <a:xfrm rot="16200000">
            <a:off x="7244899" y="3615472"/>
            <a:ext cx="376224" cy="1824138"/>
          </a:xfrm>
          <a:prstGeom prst="leftBrace">
            <a:avLst>
              <a:gd name="adj1" fmla="val 610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7695894" y="5945577"/>
            <a:ext cx="1521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Observation error variance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40063" y="5934816"/>
            <a:ext cx="18828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Predicted (</a:t>
            </a:r>
            <a:r>
              <a:rPr lang="en-US" dirty="0" err="1"/>
              <a:t>apriori</a:t>
            </a:r>
            <a:r>
              <a:rPr lang="en-US" dirty="0"/>
              <a:t>) state estimate covariance</a:t>
            </a:r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2907923"/>
              </p:ext>
            </p:extLst>
          </p:nvPr>
        </p:nvGraphicFramePr>
        <p:xfrm>
          <a:off x="172223" y="5014328"/>
          <a:ext cx="4125912" cy="1658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35300" imgH="1219200" progId="Equation.3">
                  <p:embed/>
                </p:oleObj>
              </mc:Choice>
              <mc:Fallback>
                <p:oleObj name="Equation" r:id="rId6" imgW="3035300" imgH="1219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2223" y="5014328"/>
                        <a:ext cx="4125912" cy="1658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25110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199" y="183923"/>
            <a:ext cx="8362347" cy="68835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Estimation of linear state-space models in R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Lots of available functions that can apply KF and estimate parameters.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e.g. </a:t>
            </a:r>
            <a:r>
              <a:rPr lang="en-US" altLang="en-US" sz="2800" dirty="0" err="1"/>
              <a:t>fkf</a:t>
            </a:r>
            <a:r>
              <a:rPr lang="en-US" altLang="en-US" sz="2800" dirty="0"/>
              <a:t>() in package FKF,  </a:t>
            </a:r>
            <a:r>
              <a:rPr lang="en-US" altLang="en-US" sz="2800" dirty="0" err="1"/>
              <a:t>StructTS</a:t>
            </a:r>
            <a:r>
              <a:rPr lang="en-US" altLang="en-US" sz="2800" dirty="0"/>
              <a:t>() in base stats.</a:t>
            </a:r>
          </a:p>
          <a:p>
            <a:pPr>
              <a:lnSpc>
                <a:spcPct val="80000"/>
              </a:lnSpc>
            </a:pPr>
            <a:r>
              <a:rPr lang="en-US" altLang="en-US" sz="2800" dirty="0" err="1"/>
              <a:t>Tusell</a:t>
            </a:r>
            <a:r>
              <a:rPr lang="en-US" altLang="en-US" sz="2800" dirty="0"/>
              <a:t> (2011). J. Stat. </a:t>
            </a:r>
            <a:r>
              <a:rPr lang="en-US" altLang="en-US" sz="2800" dirty="0" err="1"/>
              <a:t>Softw</a:t>
            </a:r>
            <a:r>
              <a:rPr lang="en-US" altLang="en-US" sz="2800" dirty="0"/>
              <a:t>. 39(2) gives a good overview of options (likely now outdated)</a:t>
            </a:r>
            <a:r>
              <a:rPr lang="en-US" sz="2800" dirty="0"/>
              <a:t>.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Also the code provided by Newman et al. (2014).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  <a:p>
            <a:pPr>
              <a:lnSpc>
                <a:spcPct val="80000"/>
              </a:lnSpc>
            </a:pPr>
            <a:r>
              <a:rPr lang="en-US" altLang="en-US" sz="2800" dirty="0"/>
              <a:t>The MARSS package is a very powerful and flexible framework for fitting multivariate linear state-space models.</a:t>
            </a:r>
            <a:br>
              <a:rPr lang="en-US" altLang="en-US" sz="2800" dirty="0"/>
            </a:br>
            <a:r>
              <a:rPr lang="en-US" altLang="en-US" sz="1800" dirty="0"/>
              <a:t>(https://</a:t>
            </a:r>
            <a:r>
              <a:rPr lang="en-US" altLang="en-US" sz="1800" dirty="0" err="1"/>
              <a:t>cran.r-project.org</a:t>
            </a:r>
            <a:r>
              <a:rPr lang="en-US" altLang="en-US" sz="1800" dirty="0"/>
              <a:t>/web/packages/MARSS/vignettes/</a:t>
            </a:r>
            <a:r>
              <a:rPr lang="en-US" altLang="en-US" sz="1800" dirty="0" err="1"/>
              <a:t>UserGuide.pdf</a:t>
            </a:r>
            <a:r>
              <a:rPr lang="en-US" altLang="en-US" sz="1800" dirty="0"/>
              <a:t>)</a:t>
            </a:r>
            <a:endParaRPr lang="en-US" altLang="en-US" sz="2800" dirty="0"/>
          </a:p>
          <a:p>
            <a:pPr>
              <a:lnSpc>
                <a:spcPct val="80000"/>
              </a:lnSpc>
            </a:pPr>
            <a:r>
              <a:rPr lang="en-US" altLang="en-US" sz="2800" dirty="0"/>
              <a:t>Estimation is primarily using the EM algorithm, however recent implementation in TMB via </a:t>
            </a:r>
            <a:r>
              <a:rPr lang="en-US" altLang="en-US" sz="2800" dirty="0">
                <a:hlinkClick r:id="rId3"/>
              </a:rPr>
              <a:t>https://atsa-es.github.io/marssTMB/index.html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824957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state-space models in RTMB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advantage of the conditional distribution for the states:</a:t>
            </a:r>
          </a:p>
          <a:p>
            <a:r>
              <a:rPr lang="en-US" dirty="0"/>
              <a:t>i.e. make the state variables the random effects, e.g.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For our biomass dynamics model:</a:t>
            </a:r>
          </a:p>
          <a:p>
            <a:endParaRPr lang="en-US" dirty="0"/>
          </a:p>
          <a:p>
            <a:r>
              <a:rPr lang="en-US" dirty="0"/>
              <a:t>Conditioned on the biomass at the previous time step, this model is </a:t>
            </a:r>
            <a:r>
              <a:rPr lang="en-US" b="1" dirty="0"/>
              <a:t>separable</a:t>
            </a:r>
            <a:r>
              <a:rPr lang="en-US" dirty="0"/>
              <a:t>, i.e. </a:t>
            </a:r>
            <a:r>
              <a:rPr lang="en-US" dirty="0" err="1"/>
              <a:t>ln</a:t>
            </a:r>
            <a:r>
              <a:rPr lang="en-US" dirty="0"/>
              <a:t>(</a:t>
            </a:r>
            <a:r>
              <a:rPr lang="en-US" i="1" dirty="0" err="1"/>
              <a:t>B</a:t>
            </a:r>
            <a:r>
              <a:rPr lang="en-US" i="1" baseline="-25000" dirty="0" err="1"/>
              <a:t>t</a:t>
            </a:r>
            <a:r>
              <a:rPr lang="en-US" dirty="0"/>
              <a:t>) does not depend on </a:t>
            </a:r>
            <a:r>
              <a:rPr lang="en-US" dirty="0" err="1"/>
              <a:t>ln</a:t>
            </a:r>
            <a:r>
              <a:rPr lang="en-US" dirty="0"/>
              <a:t>(</a:t>
            </a:r>
            <a:r>
              <a:rPr lang="en-US" i="1" dirty="0"/>
              <a:t>B</a:t>
            </a:r>
            <a:r>
              <a:rPr lang="en-US" i="1" baseline="-25000" dirty="0"/>
              <a:t>t-2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445609"/>
              </p:ext>
            </p:extLst>
          </p:nvPr>
        </p:nvGraphicFramePr>
        <p:xfrm>
          <a:off x="3347555" y="1624563"/>
          <a:ext cx="1919852" cy="525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7400" imgH="215900" progId="Equation.3">
                  <p:embed/>
                </p:oleObj>
              </mc:Choice>
              <mc:Fallback>
                <p:oleObj name="Equation" r:id="rId2" imgW="787400" imgH="2159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47555" y="1624563"/>
                        <a:ext cx="1919852" cy="5255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4571396"/>
              </p:ext>
            </p:extLst>
          </p:nvPr>
        </p:nvGraphicFramePr>
        <p:xfrm>
          <a:off x="995932" y="3210437"/>
          <a:ext cx="7027862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82900" imgH="254000" progId="Equation.3">
                  <p:embed/>
                </p:oleObj>
              </mc:Choice>
              <mc:Fallback>
                <p:oleObj name="Equation" r:id="rId4" imgW="2882900" imgH="2540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5932" y="3210437"/>
                        <a:ext cx="7027862" cy="617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2717776"/>
              </p:ext>
            </p:extLst>
          </p:nvPr>
        </p:nvGraphicFramePr>
        <p:xfrm>
          <a:off x="2061394" y="4411855"/>
          <a:ext cx="48355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68500" imgH="279400" progId="Equation.3">
                  <p:embed/>
                </p:oleObj>
              </mc:Choice>
              <mc:Fallback>
                <p:oleObj name="Equation" r:id="rId6" imgW="1968500" imgH="279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61394" y="4411855"/>
                        <a:ext cx="4835525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30909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process and observation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Separably</a:t>
            </a:r>
            <a:r>
              <a:rPr lang="en-US" dirty="0"/>
              <a:t> estimating process and observation error can be problematic.</a:t>
            </a:r>
          </a:p>
          <a:p>
            <a:r>
              <a:rPr lang="en-US" dirty="0"/>
              <a:t>Often, best fit obtained when estimating either of these at zero (log of 0 is VERY small).</a:t>
            </a:r>
          </a:p>
          <a:p>
            <a:r>
              <a:rPr lang="en-US" dirty="0"/>
              <a:t>Performance of Kalman filter to estimate both process and observation error degrades with increasing missing data (hence why MARSS used the EM algorithm). </a:t>
            </a:r>
          </a:p>
          <a:p>
            <a:r>
              <a:rPr lang="en-US" dirty="0"/>
              <a:t>Early solution was to assume the ratio between these was known.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3408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state-space production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1870"/>
            <a:ext cx="4030918" cy="5588417"/>
          </a:xfrm>
        </p:spPr>
        <p:txBody>
          <a:bodyPr/>
          <a:lstStyle/>
          <a:p>
            <a:r>
              <a:rPr lang="en-US" sz="2800" dirty="0"/>
              <a:t>Thorson &amp; </a:t>
            </a:r>
            <a:r>
              <a:rPr lang="en-US" sz="2800" dirty="0" err="1"/>
              <a:t>Minto</a:t>
            </a:r>
            <a:r>
              <a:rPr lang="en-US" sz="2800" dirty="0"/>
              <a:t> (2015)</a:t>
            </a:r>
          </a:p>
          <a:p>
            <a:r>
              <a:rPr lang="en-US" sz="2800" dirty="0"/>
              <a:t>State-space Schaefer production model fitted to tuna data from Meyer &amp; Millar (1999).</a:t>
            </a:r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Screen Shot 2015-10-05 at 11.37.3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118" y="1225030"/>
            <a:ext cx="4404934" cy="528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6515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homes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State-space approach provides robust framework for simultaneously considering uncertainty associated with population processes and observations.</a:t>
            </a:r>
          </a:p>
          <a:p>
            <a:r>
              <a:rPr lang="en-US" dirty="0"/>
              <a:t>Increasingly being used for management advice.(e.g. SAM &amp; WHAM, age-structured state-space fisheries model (Nielsen &amp; Berg 2014, Stock and Miller )).</a:t>
            </a:r>
          </a:p>
          <a:p>
            <a:r>
              <a:rPr lang="en-US" dirty="0"/>
              <a:t>Readily handles missing data.</a:t>
            </a:r>
          </a:p>
          <a:p>
            <a:r>
              <a:rPr lang="en-US" dirty="0"/>
              <a:t>Easy to extend the </a:t>
            </a:r>
            <a:r>
              <a:rPr lang="en-US" dirty="0" err="1"/>
              <a:t>univariate</a:t>
            </a:r>
            <a:r>
              <a:rPr lang="en-US" dirty="0"/>
              <a:t> models considered here:</a:t>
            </a:r>
          </a:p>
          <a:p>
            <a:pPr lvl="1"/>
            <a:r>
              <a:rPr lang="en-US" dirty="0"/>
              <a:t>Multiple state variables for population stages</a:t>
            </a:r>
          </a:p>
          <a:p>
            <a:pPr lvl="1"/>
            <a:r>
              <a:rPr lang="en-US" dirty="0"/>
              <a:t>Parameters or environmental covariates modeled as state variables, and include process model for these.</a:t>
            </a:r>
          </a:p>
          <a:p>
            <a:pPr lvl="1"/>
            <a:r>
              <a:rPr lang="en-US" dirty="0"/>
              <a:t>Hierarchical approach to share information among time series (e.g. common trends, Dynamic Factor analysis)</a:t>
            </a:r>
          </a:p>
        </p:txBody>
      </p:sp>
    </p:spTree>
    <p:extLst>
      <p:ext uri="{BB962C8B-B14F-4D97-AF65-F5344CB8AC3E}">
        <p14:creationId xmlns:p14="http://schemas.microsoft.com/office/powerpoint/2010/main" val="36213451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Reading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956" y="1685574"/>
            <a:ext cx="2588100" cy="388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4095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C7E6-8114-43F3-F256-6C18664F0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22649-729C-3665-C176-4B4A08EFE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Analysis applying 1 or more methods in class to problem or data set</a:t>
            </a:r>
          </a:p>
          <a:p>
            <a:r>
              <a:rPr lang="en-US" dirty="0"/>
              <a:t>Individually or small groups</a:t>
            </a:r>
          </a:p>
          <a:p>
            <a:r>
              <a:rPr lang="en-US" dirty="0"/>
              <a:t>What are your ideas?</a:t>
            </a:r>
          </a:p>
        </p:txBody>
      </p:sp>
    </p:spTree>
    <p:extLst>
      <p:ext uri="{BB962C8B-B14F-4D97-AF65-F5344CB8AC3E}">
        <p14:creationId xmlns:p14="http://schemas.microsoft.com/office/powerpoint/2010/main" val="13480504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65290"/>
            <a:ext cx="8229600" cy="6163280"/>
          </a:xfrm>
        </p:spPr>
        <p:txBody>
          <a:bodyPr>
            <a:noAutofit/>
          </a:bodyPr>
          <a:lstStyle/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/>
              <a:t>de </a:t>
            </a:r>
            <a:r>
              <a:rPr lang="en-US" altLang="en-US" sz="1600" dirty="0" err="1"/>
              <a:t>Valpine</a:t>
            </a:r>
            <a:r>
              <a:rPr lang="en-US" altLang="en-US" sz="1600" dirty="0"/>
              <a:t>, P., &amp; Hastings, A. (2002). Fitting population models incorporating process noise and observation error. Ecological Monographs, 72(1), 57-76.</a:t>
            </a:r>
          </a:p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/>
              <a:t>Harvey, A. C. (1990). Forecasting, structural time series models and the </a:t>
            </a:r>
            <a:r>
              <a:rPr lang="en-US" altLang="en-US" sz="1600" dirty="0" err="1"/>
              <a:t>Kalman</a:t>
            </a:r>
            <a:r>
              <a:rPr lang="en-US" altLang="en-US" sz="1600" dirty="0"/>
              <a:t> filter. Cambridge university press.</a:t>
            </a:r>
          </a:p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/>
              <a:t>Holmes, E. E., Ward, E. J., &amp; Wills, K. (2012). </a:t>
            </a:r>
            <a:r>
              <a:rPr lang="en-US" altLang="en-US" sz="1600" dirty="0" err="1"/>
              <a:t>Marss</a:t>
            </a:r>
            <a:r>
              <a:rPr lang="en-US" altLang="en-US" sz="1600" dirty="0"/>
              <a:t>: Multivariate autoregressive state-space models for analyzing time-series data. The R Journal, 4(1), 11-19.</a:t>
            </a:r>
          </a:p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 err="1"/>
              <a:t>Kalman</a:t>
            </a:r>
            <a:r>
              <a:rPr lang="en-US" altLang="en-US" sz="1600" dirty="0"/>
              <a:t>, R. E. 1960. A new approach to linear filtering and prediction problems. Transactions of the ASME–Journal of Basic Engineering 82(Series D): 35–45.</a:t>
            </a:r>
          </a:p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 err="1"/>
              <a:t>Meinhold</a:t>
            </a:r>
            <a:r>
              <a:rPr lang="en-US" altLang="en-US" sz="1600" dirty="0"/>
              <a:t>, R. J., &amp; </a:t>
            </a:r>
            <a:r>
              <a:rPr lang="en-US" altLang="en-US" sz="1600" dirty="0" err="1"/>
              <a:t>Singpurwalla</a:t>
            </a:r>
            <a:r>
              <a:rPr lang="en-US" altLang="en-US" sz="1600" dirty="0"/>
              <a:t>, N. D. (1983). Understanding the </a:t>
            </a:r>
            <a:r>
              <a:rPr lang="en-US" altLang="en-US" sz="1600" dirty="0" err="1"/>
              <a:t>Kalman</a:t>
            </a:r>
            <a:r>
              <a:rPr lang="en-US" altLang="en-US" sz="1600" dirty="0"/>
              <a:t> filter. The American Statistician, 37(2), 123-127.</a:t>
            </a:r>
          </a:p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/>
              <a:t>Nielsen, A. and Berg, C. W. 2014. Estimation of time-varying selectivity in stock assessments using state–space models. Fisheries Research 158(1):96–101.</a:t>
            </a:r>
          </a:p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/>
              <a:t>Newman, K. B., Buckland, S. T., Morgan, B. J., King, R., </a:t>
            </a:r>
            <a:r>
              <a:rPr lang="en-US" altLang="en-US" sz="1600" dirty="0" err="1"/>
              <a:t>Borchers</a:t>
            </a:r>
            <a:r>
              <a:rPr lang="en-US" altLang="en-US" sz="1600" dirty="0"/>
              <a:t>, D. L., Cole, D. J., ... &amp; Thomas, L. (2014). </a:t>
            </a:r>
            <a:r>
              <a:rPr lang="en-US" altLang="en-US" sz="1600" dirty="0" err="1"/>
              <a:t>Modelling</a:t>
            </a:r>
            <a:r>
              <a:rPr lang="en-US" altLang="en-US" sz="1600" dirty="0"/>
              <a:t> Population Dynamics. Springer.</a:t>
            </a:r>
          </a:p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/>
              <a:t>Pedersen, M.W., Berg, C.W., </a:t>
            </a:r>
            <a:r>
              <a:rPr lang="en-US" altLang="en-US" sz="1600" dirty="0" err="1"/>
              <a:t>Thygesen,U</a:t>
            </a:r>
            <a:r>
              <a:rPr lang="en-US" altLang="en-US" sz="1600" dirty="0"/>
              <a:t>. H., Nielsen, A., and Madsen, H. 2011. Estimation methods for nonlinear state-space models in ecology. Ecological </a:t>
            </a:r>
            <a:r>
              <a:rPr lang="en-US" altLang="en-US" sz="1600" dirty="0" err="1"/>
              <a:t>Modelling</a:t>
            </a:r>
            <a:r>
              <a:rPr lang="en-US" altLang="en-US" sz="1600" dirty="0"/>
              <a:t>, 222: 1394–1400.</a:t>
            </a:r>
          </a:p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/>
              <a:t>Punt, A. E. (2003). Extending production models to include process error in the population dynamics. Canadian Journal of Fisheries and Aquatic Sciences, 60(10), 1217-1228.</a:t>
            </a:r>
          </a:p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 err="1"/>
              <a:t>Schnute</a:t>
            </a:r>
            <a:r>
              <a:rPr lang="en-US" altLang="en-US" sz="1600" dirty="0"/>
              <a:t>, J. T. (1994). A general framework for developing sequential fisheries models. Canadian Journal of Fisheries and Aquatic Sciences, 51(8), 1676-1688.</a:t>
            </a:r>
          </a:p>
          <a:p>
            <a:pPr marL="349250" indent="-349250">
              <a:buNone/>
              <a:tabLst>
                <a:tab pos="460375" algn="l"/>
              </a:tabLst>
            </a:pPr>
            <a:r>
              <a:rPr lang="en-US" altLang="en-US" sz="1600" dirty="0"/>
              <a:t>Thorson, J. T., &amp; </a:t>
            </a:r>
            <a:r>
              <a:rPr lang="en-US" altLang="en-US" sz="1600" dirty="0" err="1"/>
              <a:t>Minto</a:t>
            </a:r>
            <a:r>
              <a:rPr lang="en-US" altLang="en-US" sz="1600" dirty="0"/>
              <a:t>, C. (2015). </a:t>
            </a:r>
            <a:r>
              <a:rPr lang="en-US" altLang="en-US" sz="1600" i="1" dirty="0"/>
              <a:t>Mixed effects: a unifying framework for statistical </a:t>
            </a:r>
            <a:r>
              <a:rPr lang="en-US" altLang="en-US" sz="1600" i="1" dirty="0" err="1"/>
              <a:t>modelling</a:t>
            </a:r>
            <a:r>
              <a:rPr lang="en-US" altLang="en-US" sz="1600" i="1" dirty="0"/>
              <a:t> in fisheries biology.</a:t>
            </a:r>
            <a:r>
              <a:rPr lang="en-US" altLang="en-US" sz="1600" dirty="0"/>
              <a:t> ICES Journal of Marine Science: Journal du </a:t>
            </a:r>
            <a:r>
              <a:rPr lang="en-US" altLang="en-US" sz="1600" dirty="0" err="1"/>
              <a:t>Conseil</a:t>
            </a:r>
            <a:r>
              <a:rPr lang="en-US" altLang="en-US" sz="1600" dirty="0"/>
              <a:t>, fsu213.</a:t>
            </a:r>
          </a:p>
        </p:txBody>
      </p:sp>
    </p:spTree>
    <p:extLst>
      <p:ext uri="{BB962C8B-B14F-4D97-AF65-F5344CB8AC3E}">
        <p14:creationId xmlns:p14="http://schemas.microsoft.com/office/powerpoint/2010/main" val="2401398424"/>
      </p:ext>
    </p:extLst>
  </p:cSld>
  <p:clrMapOvr>
    <a:masterClrMapping/>
  </p:clrMapOvr>
</p:sld>
</file>

<file path=ppt/theme/theme1.xml><?xml version="1.0" encoding="utf-8"?>
<a:theme xmlns:a="http://schemas.openxmlformats.org/drawingml/2006/main" name="NOAA Divider Slide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NOAA Title Option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GFAY_Cust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noaa_fisheries_presentation_template_final</Template>
  <TotalTime>5029</TotalTime>
  <Words>2638</Words>
  <Application>Microsoft Macintosh PowerPoint</Application>
  <PresentationFormat>On-screen Show (4:3)</PresentationFormat>
  <Paragraphs>313</Paragraphs>
  <Slides>48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Arial</vt:lpstr>
      <vt:lpstr>Arial Narrow</vt:lpstr>
      <vt:lpstr>Calibri</vt:lpstr>
      <vt:lpstr>Comic Sans MS</vt:lpstr>
      <vt:lpstr>Symbol</vt:lpstr>
      <vt:lpstr>Times New Roman</vt:lpstr>
      <vt:lpstr>NOAA Divider Slides</vt:lpstr>
      <vt:lpstr>NOAA Title Options</vt:lpstr>
      <vt:lpstr>GFAY_Custom</vt:lpstr>
      <vt:lpstr>Equation</vt:lpstr>
      <vt:lpstr>Equation.DSMT4</vt:lpstr>
      <vt:lpstr>MAR 580: Advanced Population Modeling for Management of Living Marine Resources</vt:lpstr>
      <vt:lpstr>Linear state-space production model</vt:lpstr>
      <vt:lpstr>When are numerical methods used?</vt:lpstr>
      <vt:lpstr>Calculus</vt:lpstr>
      <vt:lpstr>Taylor series approximation</vt:lpstr>
      <vt:lpstr>Taylor series approximation</vt:lpstr>
      <vt:lpstr>Taylor series</vt:lpstr>
      <vt:lpstr>Taylor series expansion</vt:lpstr>
      <vt:lpstr>Root-finding</vt:lpstr>
      <vt:lpstr>Newton’s Method (Newton-Raphson)</vt:lpstr>
      <vt:lpstr>Multi-dimensional problems</vt:lpstr>
      <vt:lpstr>Multi-dimensional Newton-Raphson</vt:lpstr>
      <vt:lpstr>Multi-dimensional Newton-Raphson</vt:lpstr>
      <vt:lpstr>Optimization</vt:lpstr>
      <vt:lpstr>Minimizing a function</vt:lpstr>
      <vt:lpstr>Minimizing a function</vt:lpstr>
      <vt:lpstr>Multidimensional methods</vt:lpstr>
      <vt:lpstr>Calculating variance of estimates</vt:lpstr>
      <vt:lpstr>Delta method</vt:lpstr>
      <vt:lpstr>Fitting challenges</vt:lpstr>
      <vt:lpstr>Troubleshooting</vt:lpstr>
      <vt:lpstr>Numerical integration</vt:lpstr>
      <vt:lpstr>Numerical integration: single step methods</vt:lpstr>
      <vt:lpstr>Numerical integration</vt:lpstr>
      <vt:lpstr>The error function, or how I learned to stop worrying &amp; use someone else’s code. </vt:lpstr>
      <vt:lpstr>Estimation of mixed effects models </vt:lpstr>
      <vt:lpstr>Fitting non-linear mixed effects models</vt:lpstr>
      <vt:lpstr>Estimating state-space models</vt:lpstr>
      <vt:lpstr>Kalman filter (Kalman, 1960)</vt:lpstr>
      <vt:lpstr>Kalman filter</vt:lpstr>
      <vt:lpstr>The Kalman filter cookbook</vt:lpstr>
      <vt:lpstr>Kalman filter</vt:lpstr>
      <vt:lpstr>Kalman filter</vt:lpstr>
      <vt:lpstr>Kalman filter</vt:lpstr>
      <vt:lpstr>Kalman filter</vt:lpstr>
      <vt:lpstr>Kalman filter</vt:lpstr>
      <vt:lpstr>Kalman filter</vt:lpstr>
      <vt:lpstr>Kalman filter</vt:lpstr>
      <vt:lpstr>Kalman filter</vt:lpstr>
      <vt:lpstr>Parameter estimation using Kalman filter</vt:lpstr>
      <vt:lpstr>Estimation of linear state-space models in R</vt:lpstr>
      <vt:lpstr>Estimating state-space models in RTMB</vt:lpstr>
      <vt:lpstr>Estimating process and observation error</vt:lpstr>
      <vt:lpstr>Non-linear state-space production model</vt:lpstr>
      <vt:lpstr>Take homes</vt:lpstr>
      <vt:lpstr>Recommended Reading</vt:lpstr>
      <vt:lpstr>Course Projects</vt:lpstr>
      <vt:lpstr>Recommended Reading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mar530:EBFM Lecture 1</dc:title>
  <dc:subject>Introduction, Course Mechanics, What is EBFM?</dc:subject>
  <dc:creator>Gavin Fay</dc:creator>
  <cp:keywords/>
  <dc:description/>
  <cp:lastModifiedBy>Gavin Fay</cp:lastModifiedBy>
  <cp:revision>473</cp:revision>
  <dcterms:created xsi:type="dcterms:W3CDTF">2014-06-04T00:44:42Z</dcterms:created>
  <dcterms:modified xsi:type="dcterms:W3CDTF">2025-10-02T16:08:22Z</dcterms:modified>
  <cp:category/>
</cp:coreProperties>
</file>